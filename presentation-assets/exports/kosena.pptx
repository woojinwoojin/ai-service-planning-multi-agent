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기반 대학생 진로 설계 서비스 — 서비스 기획안 (KOSENA)</a:t>
            </a:r>
          </a:p>
        </p:txBody>
      </p:sp>
      <p:sp>
        <p:nvSpPr>
          <p:cNvPr id="3" name="Subtitle 2"/>
          <p:cNvSpPr>
            <a:spLocks noGrp="1"/>
          </p:cNvSpPr>
          <p:nvPr>
            <p:ph type="subTitle" idx="1"/>
          </p:nvPr>
        </p:nvSpPr>
        <p:spPr/>
        <p:txBody>
          <a:bodyPr/>
          <a:lstStyle/>
          <a:p>
            <a:r>
              <a:t>AI 서비스 기획 보조 Multi-Agent · 자동 생성 기획서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내용</a:t>
            </a:r>
          </a:p>
        </p:txBody>
      </p:sp>
      <p:sp>
        <p:nvSpPr>
          <p:cNvPr id="3" name="TextBox 2"/>
          <p:cNvSpPr txBox="1"/>
          <p:nvPr/>
        </p:nvSpPr>
        <p:spPr>
          <a:xfrm>
            <a:off x="640080" y="1417320"/>
            <a:ext cx="10908792" cy="2642615"/>
          </a:xfrm>
          <a:prstGeom prst="rect">
            <a:avLst/>
          </a:prstGeom>
          <a:noFill/>
        </p:spPr>
        <p:txBody>
          <a:bodyPr wrap="square" anchor="t">
            <a:spAutoFit/>
          </a:bodyPr>
          <a:lstStyle/>
          <a:p>
            <a:pPr>
              <a:spcAft>
                <a:spcPts val="400"/>
              </a:spcAft>
            </a:pPr>
            <a:r>
              <a:rPr sz="1500" b="0">
                <a:solidFill>
                  <a:srgbClr val="1F2A37"/>
                </a:solidFill>
              </a:rPr>
              <a:t>&gt; ⚠️ </a:t>
            </a:r>
            <a:r>
              <a:rPr sz="1500" b="1">
                <a:solidFill>
                  <a:srgbClr val="1F2A37"/>
                </a:solidFill>
              </a:rPr>
              <a:t>본 문서의 정량 주장은 웹 리서치에 기반한 가설·추정입니다.</a:t>
            </a:r>
            <a:r>
              <a:rPr sz="1500" b="0">
                <a:solidFill>
                  <a:srgbClr val="1F2A37"/>
                </a:solidFill>
              </a:rPr>
              <a:t> 인터뷰·설문 등 1차 자료로 검증되지 않았으며, 페르소나는 </a:t>
            </a:r>
            <a:r>
              <a:rPr sz="1500" b="1">
                <a:solidFill>
                  <a:srgbClr val="1F2A37"/>
                </a:solidFill>
              </a:rPr>
              <a:t>가설형 페르소나</a:t>
            </a:r>
            <a:r>
              <a:rPr sz="1500" b="0">
                <a:solidFill>
                  <a:srgbClr val="1F2A37"/>
                </a:solidFill>
              </a:rPr>
              <a:t>이고 TAM/SAM/SOM 은 명시한 가정 위의 </a:t>
            </a:r>
            <a:r>
              <a:rPr sz="1500" b="1">
                <a:solidFill>
                  <a:srgbClr val="1F2A37"/>
                </a:solidFill>
              </a:rPr>
              <a:t>추정치</a:t>
            </a:r>
            <a:r>
              <a:rPr sz="1500" b="0">
                <a:solidFill>
                  <a:srgbClr val="1F2A37"/>
                </a:solidFill>
              </a:rPr>
              <a:t>입니다. 실제 시장 점유율·고객 반응을 의미하지 않습니다.</a:t>
            </a:r>
          </a:p>
          <a:p>
            <a:pPr>
              <a:spcAft>
                <a:spcPts val="400"/>
              </a:spcAft>
            </a:pPr>
            <a:r>
              <a:rPr sz="1500" b="0">
                <a:solidFill>
                  <a:srgbClr val="1F2A37"/>
                </a:solidFill>
              </a:rPr>
              <a:t>&gt;</a:t>
            </a:r>
          </a:p>
          <a:p>
            <a:pPr>
              <a:spcAft>
                <a:spcPts val="400"/>
              </a:spcAft>
            </a:pPr>
            <a:r>
              <a:rPr sz="1500" b="0">
                <a:solidFill>
                  <a:srgbClr val="1F2A37"/>
                </a:solidFill>
              </a:rPr>
              <a:t>&gt; KOSENA 의 목표대로 *"완벽한 기획서가 아니라 의사결정 가능한 가설"* 을 만드는 것이 이 문서의 성격입니다. 각 가설은 시장·고객을 만나며 갱신되어야 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개요</a:t>
            </a:r>
          </a:p>
        </p:txBody>
      </p:sp>
      <p:graphicFrame>
        <p:nvGraphicFramePr>
          <p:cNvPr id="3" name="Table 2"/>
          <p:cNvGraphicFramePr>
            <a:graphicFrameLocks noGrp="1"/>
          </p:cNvGraphicFramePr>
          <p:nvPr/>
        </p:nvGraphicFramePr>
        <p:xfrm>
          <a:off x="640080" y="1417320"/>
          <a:ext cx="10908792" cy="1783079"/>
        </p:xfrm>
        <a:graphic>
          <a:graphicData uri="http://schemas.openxmlformats.org/drawingml/2006/table">
            <a:tbl>
              <a:tblPr firstRow="1" bandRow="1">
                <a:tableStyleId>{5C22544A-7EE6-4342-B048-85BDC9FD1C3A}</a:tableStyleId>
              </a:tblPr>
              <a:tblGrid>
                <a:gridCol w="5454396"/>
                <a:gridCol w="5454396"/>
              </a:tblGrid>
              <a:tr h="356615">
                <a:tc>
                  <a:txBody>
                    <a:bodyPr/>
                    <a:lstStyle/>
                    <a:p>
                      <a:pPr algn="ctr"/>
                      <a:r>
                        <a:rPr sz="1100" b="1">
                          <a:solidFill>
                            <a:srgbClr val="FFFFFF"/>
                          </a:solidFill>
                        </a:rPr>
                        <a:t>항목</a:t>
                      </a:r>
                    </a:p>
                  </a:txBody>
                  <a:tcPr>
                    <a:solidFill>
                      <a:srgbClr val="2B59C3"/>
                    </a:solidFill>
                  </a:tcPr>
                </a:tc>
                <a:tc>
                  <a:txBody>
                    <a:bodyPr/>
                    <a:lstStyle/>
                    <a:p>
                      <a:pPr algn="ctr"/>
                      <a:r>
                        <a:rPr sz="1100" b="1">
                          <a:solidFill>
                            <a:srgbClr val="FFFFFF"/>
                          </a:solidFill>
                        </a:rPr>
                        <a:t>내용</a:t>
                      </a:r>
                    </a:p>
                  </a:txBody>
                  <a:tcPr>
                    <a:solidFill>
                      <a:srgbClr val="2B59C3"/>
                    </a:solidFill>
                  </a:tcPr>
                </a:tc>
              </a:tr>
              <a:tr h="356615">
                <a:tc>
                  <a:txBody>
                    <a:bodyPr/>
                    <a:lstStyle/>
                    <a:p>
                      <a:r>
                        <a:rPr sz="1100" b="0">
                          <a:solidFill>
                            <a:srgbClr val="1F2A37"/>
                          </a:solidFill>
                        </a:rPr>
                        <a:t>프로젝트명</a:t>
                      </a:r>
                    </a:p>
                  </a:txBody>
                  <a:tcPr>
                    <a:solidFill>
                      <a:srgbClr val="FFFFFF"/>
                    </a:solidFill>
                  </a:tcPr>
                </a:tc>
                <a:tc>
                  <a:txBody>
                    <a:bodyPr/>
                    <a:lstStyle/>
                    <a:p>
                      <a:r>
                        <a:rPr sz="1100" b="0">
                          <a:solidFill>
                            <a:srgbClr val="1F2A37"/>
                          </a:solidFill>
                        </a:rPr>
                        <a:t>AI 기반 대학생 진로 설계 서비스</a:t>
                      </a:r>
                    </a:p>
                  </a:txBody>
                  <a:tcPr>
                    <a:solidFill>
                      <a:srgbClr val="FFFFFF"/>
                    </a:solidFill>
                  </a:tcPr>
                </a:tc>
              </a:tr>
              <a:tr h="356615">
                <a:tc>
                  <a:txBody>
                    <a:bodyPr/>
                    <a:lstStyle/>
                    <a:p>
                      <a:r>
                        <a:rPr sz="1100" b="0">
                          <a:solidFill>
                            <a:srgbClr val="1F2A37"/>
                          </a:solidFill>
                        </a:rPr>
                        <a:t>설명</a:t>
                      </a:r>
                    </a:p>
                  </a:txBody>
                  <a:tcPr>
                    <a:solidFill>
                      <a:srgbClr val="EEF2FB"/>
                    </a:solidFill>
                  </a:tcPr>
                </a:tc>
                <a:tc>
                  <a:txBody>
                    <a:bodyPr/>
                    <a:lstStyle/>
                    <a:p>
                      <a:r>
                        <a:rPr sz="1100" b="0">
                          <a:solidFill>
                            <a:srgbClr val="1F2A37"/>
                          </a:solidFill>
                        </a:rPr>
                        <a:t>대학생이 전공·관심사·역량을 입력하면 진로 경로와 필요한 학습·경험을 설계해 주는 AI 서비스</a:t>
                      </a:r>
                    </a:p>
                  </a:txBody>
                  <a:tcPr>
                    <a:solidFill>
                      <a:srgbClr val="EEF2FB"/>
                    </a:solidFill>
                  </a:tcPr>
                </a:tc>
              </a:tr>
              <a:tr h="356615">
                <a:tc>
                  <a:txBody>
                    <a:bodyPr/>
                    <a:lstStyle/>
                    <a:p>
                      <a:r>
                        <a:rPr sz="1100" b="0">
                          <a:solidFill>
                            <a:srgbClr val="1F2A37"/>
                          </a:solidFill>
                        </a:rPr>
                        <a:t>목표 사용자</a:t>
                      </a:r>
                    </a:p>
                  </a:txBody>
                  <a:tcPr>
                    <a:solidFill>
                      <a:srgbClr val="FFFFFF"/>
                    </a:solidFill>
                  </a:tcPr>
                </a:tc>
                <a:tc>
                  <a:txBody>
                    <a:bodyPr/>
                    <a:lstStyle/>
                    <a:p>
                      <a:r>
                        <a:rPr sz="1100" b="0">
                          <a:solidFill>
                            <a:srgbClr val="1F2A37"/>
                          </a:solidFill>
                        </a:rPr>
                        <a:t>진로를 구체화하지 못한 대학교 2~3학년</a:t>
                      </a:r>
                    </a:p>
                  </a:txBody>
                  <a:tcPr>
                    <a:solidFill>
                      <a:srgbClr val="FFFFFF"/>
                    </a:solidFill>
                  </a:tcPr>
                </a:tc>
              </a:tr>
              <a:tr h="356619">
                <a:tc>
                  <a:txBody>
                    <a:bodyPr/>
                    <a:lstStyle/>
                    <a:p>
                      <a:r>
                        <a:rPr sz="1100" b="0">
                          <a:solidFill>
                            <a:srgbClr val="1F2A37"/>
                          </a:solidFill>
                        </a:rPr>
                        <a:t>문제</a:t>
                      </a:r>
                    </a:p>
                  </a:txBody>
                  <a:tcPr>
                    <a:solidFill>
                      <a:srgbClr val="EEF2FB"/>
                    </a:solidFill>
                  </a:tcPr>
                </a:tc>
                <a:tc>
                  <a:txBody>
                    <a:bodyPr/>
                    <a:lstStyle/>
                    <a:p>
                      <a:r>
                        <a:rPr sz="1100" b="0">
                          <a:solidFill>
                            <a:srgbClr val="1F2A37"/>
                          </a:solidFill>
                        </a:rPr>
                        <a:t>진로 정보가 흩어져 있고, 자신에게 맞는 경로와 준비 순서를 판단하기 어렵다</a:t>
                      </a:r>
                    </a:p>
                  </a:txBody>
                  <a:tcPr>
                    <a:solidFill>
                      <a:srgbClr val="EEF2F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1. 산업·서비스 분석 보고서</a:t>
            </a:r>
          </a:p>
        </p:txBody>
      </p:sp>
      <p:sp>
        <p:nvSpPr>
          <p:cNvPr id="3" name="TextBox 2"/>
          <p:cNvSpPr txBox="1"/>
          <p:nvPr/>
        </p:nvSpPr>
        <p:spPr>
          <a:xfrm>
            <a:off x="640080" y="1417320"/>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Critical Uncertainties (영향력·가능성 상위 3)</a:t>
            </a:r>
          </a:p>
        </p:txBody>
      </p:sp>
      <p:graphicFrame>
        <p:nvGraphicFramePr>
          <p:cNvPr id="4" name="Table 3"/>
          <p:cNvGraphicFramePr>
            <a:graphicFrameLocks noGrp="1"/>
          </p:cNvGraphicFramePr>
          <p:nvPr/>
        </p:nvGraphicFramePr>
        <p:xfrm>
          <a:off x="640080" y="1883664"/>
          <a:ext cx="10908792" cy="1453895"/>
        </p:xfrm>
        <a:graphic>
          <a:graphicData uri="http://schemas.openxmlformats.org/drawingml/2006/table">
            <a:tbl>
              <a:tblPr firstRow="1" bandRow="1">
                <a:tableStyleId>{5C22544A-7EE6-4342-B048-85BDC9FD1C3A}</a:tableStyleId>
              </a:tblPr>
              <a:tblGrid>
                <a:gridCol w="3636264"/>
                <a:gridCol w="3636264"/>
                <a:gridCol w="3636264"/>
              </a:tblGrid>
              <a:tr h="363473">
                <a:tc>
                  <a:txBody>
                    <a:bodyPr/>
                    <a:lstStyle/>
                    <a:p>
                      <a:pPr algn="ctr"/>
                      <a:r>
                        <a:rPr sz="1100" b="1">
                          <a:solidFill>
                            <a:srgbClr val="FFFFFF"/>
                          </a:solidFill>
                        </a:rPr>
                        <a:t>요인</a:t>
                      </a:r>
                    </a:p>
                  </a:txBody>
                  <a:tcPr>
                    <a:solidFill>
                      <a:srgbClr val="2B59C3"/>
                    </a:solidFill>
                  </a:tcPr>
                </a:tc>
                <a:tc>
                  <a:txBody>
                    <a:bodyPr/>
                    <a:lstStyle/>
                    <a:p>
                      <a:pPr algn="ctr"/>
                      <a:r>
                        <a:rPr sz="1100" b="1">
                          <a:solidFill>
                            <a:srgbClr val="FFFFFF"/>
                          </a:solidFill>
                        </a:rPr>
                        <a:t>왜 중요한가</a:t>
                      </a:r>
                    </a:p>
                  </a:txBody>
                  <a:tcPr>
                    <a:solidFill>
                      <a:srgbClr val="2B59C3"/>
                    </a:solidFill>
                  </a:tcPr>
                </a:tc>
                <a:tc>
                  <a:txBody>
                    <a:bodyPr/>
                    <a:lstStyle/>
                    <a:p>
                      <a:pPr algn="ctr"/>
                      <a:r>
                        <a:rPr sz="1100" b="1">
                          <a:solidFill>
                            <a:srgbClr val="FFFFFF"/>
                          </a:solidFill>
                        </a:rPr>
                        <a:t>서비스 영향</a:t>
                      </a:r>
                    </a:p>
                  </a:txBody>
                  <a:tcPr>
                    <a:solidFill>
                      <a:srgbClr val="2B59C3"/>
                    </a:solidFill>
                  </a:tcPr>
                </a:tc>
              </a:tr>
              <a:tr h="363473">
                <a:tc>
                  <a:txBody>
                    <a:bodyPr/>
                    <a:lstStyle/>
                    <a:p>
                      <a:r>
                        <a:rPr sz="1100" b="0">
                          <a:solidFill>
                            <a:srgbClr val="1F2A37"/>
                          </a:solidFill>
                        </a:rPr>
                        <a:t>Political</a:t>
                      </a:r>
                    </a:p>
                  </a:txBody>
                  <a:tcPr>
                    <a:solidFill>
                      <a:srgbClr val="FFFFFF"/>
                    </a:solidFill>
                  </a:tcPr>
                </a:tc>
                <a:tc>
                  <a:txBody>
                    <a:bodyPr/>
                    <a:lstStyle/>
                    <a:p>
                      <a:r>
                        <a:rPr sz="1100" b="0">
                          <a:solidFill>
                            <a:srgbClr val="1F2A37"/>
                          </a:solidFill>
                        </a:rPr>
                        <a:t>정부의 청년 일자리 정책은 서비스의 수요에 직접적인 영향을 미치며, 정책 변화가 서비스 운영에 큰 영향을 줄 수 있습니다.</a:t>
                      </a:r>
                    </a:p>
                  </a:txBody>
                  <a:tcPr>
                    <a:solidFill>
                      <a:srgbClr val="FFFFFF"/>
                    </a:solidFill>
                  </a:tcPr>
                </a:tc>
                <a:tc>
                  <a:txBody>
                    <a:bodyPr/>
                    <a:lstStyle/>
                    <a:p>
                      <a:r>
                        <a:rPr sz="1100" b="0">
                          <a:solidFill>
                            <a:srgbClr val="1F2A37"/>
                          </a:solidFill>
                        </a:rPr>
                        <a:t>정책 변화에 민감하게 반응하고, 정부와의 협력을 통해 안정적인 운영 기반을 마련해야 합니다.</a:t>
                      </a:r>
                    </a:p>
                  </a:txBody>
                  <a:tcPr>
                    <a:solidFill>
                      <a:srgbClr val="FFFFFF"/>
                    </a:solidFill>
                  </a:tcPr>
                </a:tc>
              </a:tr>
              <a:tr h="363473">
                <a:tc>
                  <a:txBody>
                    <a:bodyPr/>
                    <a:lstStyle/>
                    <a:p>
                      <a:r>
                        <a:rPr sz="1100" b="0">
                          <a:solidFill>
                            <a:srgbClr val="1F2A37"/>
                          </a:solidFill>
                        </a:rPr>
                        <a:t>Economic</a:t>
                      </a:r>
                    </a:p>
                  </a:txBody>
                  <a:tcPr>
                    <a:solidFill>
                      <a:srgbClr val="EEF2FB"/>
                    </a:solidFill>
                  </a:tcPr>
                </a:tc>
                <a:tc>
                  <a:txBody>
                    <a:bodyPr/>
                    <a:lstStyle/>
                    <a:p>
                      <a:r>
                        <a:rPr sz="1100" b="0">
                          <a:solidFill>
                            <a:srgbClr val="1F2A37"/>
                          </a:solidFill>
                        </a:rPr>
                        <a:t>경제 성장률이 서비스 이용에 영향을 미치며, 소비 여력의 변화가 서비스 수요에 직접적인 영향을 미칠 수 있습니다.</a:t>
                      </a:r>
                    </a:p>
                  </a:txBody>
                  <a:tcPr>
                    <a:solidFill>
                      <a:srgbClr val="EEF2FB"/>
                    </a:solidFill>
                  </a:tcPr>
                </a:tc>
                <a:tc>
                  <a:txBody>
                    <a:bodyPr/>
                    <a:lstStyle/>
                    <a:p>
                      <a:r>
                        <a:rPr sz="1100" b="0">
                          <a:solidFill>
                            <a:srgbClr val="1F2A37"/>
                          </a:solidFill>
                        </a:rPr>
                        <a:t>경제 상황에 따라 가격 정책을 유연하게 조정하고, 다양한 가격대의 서비스를 제공하여 소비자 접근성을 높여야 합니다.</a:t>
                      </a:r>
                    </a:p>
                  </a:txBody>
                  <a:tcPr>
                    <a:solidFill>
                      <a:srgbClr val="EEF2FB"/>
                    </a:solidFill>
                  </a:tcPr>
                </a:tc>
              </a:tr>
              <a:tr h="363476">
                <a:tc>
                  <a:txBody>
                    <a:bodyPr/>
                    <a:lstStyle/>
                    <a:p>
                      <a:r>
                        <a:rPr sz="1100" b="0">
                          <a:solidFill>
                            <a:srgbClr val="1F2A37"/>
                          </a:solidFill>
                        </a:rPr>
                        <a:t>Technological</a:t>
                      </a:r>
                    </a:p>
                  </a:txBody>
                  <a:tcPr>
                    <a:solidFill>
                      <a:srgbClr val="FFFFFF"/>
                    </a:solidFill>
                  </a:tcPr>
                </a:tc>
                <a:tc>
                  <a:txBody>
                    <a:bodyPr/>
                    <a:lstStyle/>
                    <a:p>
                      <a:r>
                        <a:rPr sz="1100" b="0">
                          <a:solidFill>
                            <a:srgbClr val="1F2A37"/>
                          </a:solidFill>
                        </a:rPr>
                        <a:t>AI 기술의 발전은 서비스 품질을 향상시키고, 사용자 경험을 개선하는 데 중요한 요소입니다.</a:t>
                      </a:r>
                    </a:p>
                  </a:txBody>
                  <a:tcPr>
                    <a:solidFill>
                      <a:srgbClr val="FFFFFF"/>
                    </a:solidFill>
                  </a:tcPr>
                </a:tc>
                <a:tc>
                  <a:txBody>
                    <a:bodyPr/>
                    <a:lstStyle/>
                    <a:p>
                      <a:r>
                        <a:rPr sz="1100" b="0">
                          <a:solidFill>
                            <a:srgbClr val="1F2A37"/>
                          </a:solidFill>
                        </a:rPr>
                        <a:t>AI 기술의 신뢰성을 높이기 위해 지속적인 기술 개발과 사용자 교육을 통해 신뢰를 구축해야 합니다.</a:t>
                      </a:r>
                    </a:p>
                  </a:txBody>
                  <a:tcPr>
                    <a:solidFill>
                      <a:srgbClr val="FFFFFF"/>
                    </a:solidFill>
                  </a:tcPr>
                </a:tc>
              </a:tr>
            </a:tbl>
          </a:graphicData>
        </a:graphic>
      </p:graphicFrame>
      <p:sp>
        <p:nvSpPr>
          <p:cNvPr id="5" name="TextBox 4"/>
          <p:cNvSpPr txBox="1"/>
          <p:nvPr/>
        </p:nvSpPr>
        <p:spPr>
          <a:xfrm>
            <a:off x="640080" y="3474719"/>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Porter's Five Forces</a:t>
            </a:r>
          </a:p>
        </p:txBody>
      </p:sp>
      <p:graphicFrame>
        <p:nvGraphicFramePr>
          <p:cNvPr id="6" name="Table 5"/>
          <p:cNvGraphicFramePr>
            <a:graphicFrameLocks noGrp="1"/>
          </p:cNvGraphicFramePr>
          <p:nvPr/>
        </p:nvGraphicFramePr>
        <p:xfrm>
          <a:off x="640080" y="3941063"/>
          <a:ext cx="10908792" cy="2112264"/>
        </p:xfrm>
        <a:graphic>
          <a:graphicData uri="http://schemas.openxmlformats.org/drawingml/2006/table">
            <a:tbl>
              <a:tblPr firstRow="1" bandRow="1">
                <a:tableStyleId>{5C22544A-7EE6-4342-B048-85BDC9FD1C3A}</a:tableStyleId>
              </a:tblPr>
              <a:tblGrid>
                <a:gridCol w="3636264"/>
                <a:gridCol w="3636264"/>
                <a:gridCol w="3636264"/>
              </a:tblGrid>
              <a:tr h="352044">
                <a:tc>
                  <a:txBody>
                    <a:bodyPr/>
                    <a:lstStyle/>
                    <a:p>
                      <a:pPr algn="ctr"/>
                      <a:r>
                        <a:rPr sz="1100" b="1">
                          <a:solidFill>
                            <a:srgbClr val="FFFFFF"/>
                          </a:solidFill>
                        </a:rPr>
                        <a:t>Force</a:t>
                      </a:r>
                    </a:p>
                  </a:txBody>
                  <a:tcPr>
                    <a:solidFill>
                      <a:srgbClr val="2B59C3"/>
                    </a:solidFill>
                  </a:tcPr>
                </a:tc>
                <a:tc>
                  <a:txBody>
                    <a:bodyPr/>
                    <a:lstStyle/>
                    <a:p>
                      <a:pPr algn="ctr"/>
                      <a:r>
                        <a:rPr sz="1100" b="1">
                          <a:solidFill>
                            <a:srgbClr val="FFFFFF"/>
                          </a:solidFill>
                        </a:rPr>
                        <a:t>강도</a:t>
                      </a:r>
                    </a:p>
                  </a:txBody>
                  <a:tcPr>
                    <a:solidFill>
                      <a:srgbClr val="2B59C3"/>
                    </a:solidFill>
                  </a:tcPr>
                </a:tc>
                <a:tc>
                  <a:txBody>
                    <a:bodyPr/>
                    <a:lstStyle/>
                    <a:p>
                      <a:pPr algn="ctr"/>
                      <a:r>
                        <a:rPr sz="1100" b="1">
                          <a:solidFill>
                            <a:srgbClr val="FFFFFF"/>
                          </a:solidFill>
                        </a:rPr>
                        <a:t>근거</a:t>
                      </a:r>
                    </a:p>
                  </a:txBody>
                  <a:tcPr>
                    <a:solidFill>
                      <a:srgbClr val="2B59C3"/>
                    </a:solidFill>
                  </a:tcPr>
                </a:tc>
              </a:tr>
              <a:tr h="352044">
                <a:tc>
                  <a:txBody>
                    <a:bodyPr/>
                    <a:lstStyle/>
                    <a:p>
                      <a:r>
                        <a:rPr sz="1100" b="0">
                          <a:solidFill>
                            <a:srgbClr val="1F2A37"/>
                          </a:solidFill>
                        </a:rPr>
                        <a:t>rivalry</a:t>
                      </a:r>
                    </a:p>
                  </a:txBody>
                  <a:tcPr>
                    <a:solidFill>
                      <a:srgbClr val="FFFFFF"/>
                    </a:solidFill>
                  </a:tcPr>
                </a:tc>
                <a:tc>
                  <a:txBody>
                    <a:bodyPr/>
                    <a:lstStyle/>
                    <a:p>
                      <a:r>
                        <a:rPr sz="1100" b="0">
                          <a:solidFill>
                            <a:srgbClr val="1F2A37"/>
                          </a:solidFill>
                        </a:rPr>
                        <a:t>높음</a:t>
                      </a:r>
                    </a:p>
                  </a:txBody>
                  <a:tcPr>
                    <a:solidFill>
                      <a:srgbClr val="FFFFFF"/>
                    </a:solidFill>
                  </a:tcPr>
                </a:tc>
                <a:tc>
                  <a:txBody>
                    <a:bodyPr/>
                    <a:lstStyle/>
                    <a:p>
                      <a:r>
                        <a:rPr sz="1100" b="0">
                          <a:solidFill>
                            <a:srgbClr val="1F2A37"/>
                          </a:solidFill>
                        </a:rPr>
                        <a:t>경쟁 서비스의 증가로 인해 시장 포화 상태에 있으며, 차별화된 서비스 제공이 필수적입니다.</a:t>
                      </a:r>
                    </a:p>
                  </a:txBody>
                  <a:tcPr>
                    <a:solidFill>
                      <a:srgbClr val="FFFFFF"/>
                    </a:solidFill>
                  </a:tcPr>
                </a:tc>
              </a:tr>
              <a:tr h="352044">
                <a:tc>
                  <a:txBody>
                    <a:bodyPr/>
                    <a:lstStyle/>
                    <a:p>
                      <a:r>
                        <a:rPr sz="1100" b="0">
                          <a:solidFill>
                            <a:srgbClr val="1F2A37"/>
                          </a:solidFill>
                        </a:rPr>
                        <a:t>new_entrants</a:t>
                      </a:r>
                    </a:p>
                  </a:txBody>
                  <a:tcPr>
                    <a:solidFill>
                      <a:srgbClr val="EEF2FB"/>
                    </a:solidFill>
                  </a:tcPr>
                </a:tc>
                <a:tc>
                  <a:txBody>
                    <a:bodyPr/>
                    <a:lstStyle/>
                    <a:p>
                      <a:r>
                        <a:rPr sz="1100" b="0">
                          <a:solidFill>
                            <a:srgbClr val="1F2A37"/>
                          </a:solidFill>
                        </a:rPr>
                        <a:t>중간</a:t>
                      </a:r>
                    </a:p>
                  </a:txBody>
                  <a:tcPr>
                    <a:solidFill>
                      <a:srgbClr val="EEF2FB"/>
                    </a:solidFill>
                  </a:tcPr>
                </a:tc>
                <a:tc>
                  <a:txBody>
                    <a:bodyPr/>
                    <a:lstStyle/>
                    <a:p>
                      <a:r>
                        <a:rPr sz="1100" b="0">
                          <a:solidFill>
                            <a:srgbClr val="1F2A37"/>
                          </a:solidFill>
                        </a:rPr>
                        <a:t>AI 기술의 발전으로 신규 진입자가 시장에 쉽게 진입할 수 있지만, 기존 경쟁자와의 차별화가 필요합니다.</a:t>
                      </a:r>
                    </a:p>
                  </a:txBody>
                  <a:tcPr>
                    <a:solidFill>
                      <a:srgbClr val="EEF2FB"/>
                    </a:solidFill>
                  </a:tcPr>
                </a:tc>
              </a:tr>
              <a:tr h="352044">
                <a:tc>
                  <a:txBody>
                    <a:bodyPr/>
                    <a:lstStyle/>
                    <a:p>
                      <a:r>
                        <a:rPr sz="1100" b="0">
                          <a:solidFill>
                            <a:srgbClr val="1F2A37"/>
                          </a:solidFill>
                        </a:rPr>
                        <a:t>substitutes</a:t>
                      </a:r>
                    </a:p>
                  </a:txBody>
                  <a:tcPr>
                    <a:solidFill>
                      <a:srgbClr val="FFFFFF"/>
                    </a:solidFill>
                  </a:tcPr>
                </a:tc>
                <a:tc>
                  <a:txBody>
                    <a:bodyPr/>
                    <a:lstStyle/>
                    <a:p>
                      <a:r>
                        <a:rPr sz="1100" b="0">
                          <a:solidFill>
                            <a:srgbClr val="1F2A37"/>
                          </a:solidFill>
                        </a:rPr>
                        <a:t>중간</a:t>
                      </a:r>
                    </a:p>
                  </a:txBody>
                  <a:tcPr>
                    <a:solidFill>
                      <a:srgbClr val="FFFFFF"/>
                    </a:solidFill>
                  </a:tcPr>
                </a:tc>
                <a:tc>
                  <a:txBody>
                    <a:bodyPr/>
                    <a:lstStyle/>
                    <a:p>
                      <a:r>
                        <a:rPr sz="1100" b="0">
                          <a:solidFill>
                            <a:srgbClr val="1F2A37"/>
                          </a:solidFill>
                        </a:rPr>
                        <a:t>대학생들이 이용할 수 있는 다양한 진로 설계 서비스가 존재하여 대체 가능성이 있습니다.</a:t>
                      </a:r>
                    </a:p>
                  </a:txBody>
                  <a:tcPr>
                    <a:solidFill>
                      <a:srgbClr val="FFFFFF"/>
                    </a:solidFill>
                  </a:tcPr>
                </a:tc>
              </a:tr>
              <a:tr h="352044">
                <a:tc>
                  <a:txBody>
                    <a:bodyPr/>
                    <a:lstStyle/>
                    <a:p>
                      <a:r>
                        <a:rPr sz="1100" b="0">
                          <a:solidFill>
                            <a:srgbClr val="1F2A37"/>
                          </a:solidFill>
                        </a:rPr>
                        <a:t>buyer_power</a:t>
                      </a:r>
                    </a:p>
                  </a:txBody>
                  <a:tcPr>
                    <a:solidFill>
                      <a:srgbClr val="EEF2FB"/>
                    </a:solidFill>
                  </a:tcPr>
                </a:tc>
                <a:tc>
                  <a:txBody>
                    <a:bodyPr/>
                    <a:lstStyle/>
                    <a:p>
                      <a:r>
                        <a:rPr sz="1100" b="0">
                          <a:solidFill>
                            <a:srgbClr val="1F2A37"/>
                          </a:solidFill>
                        </a:rPr>
                        <a:t>높음</a:t>
                      </a:r>
                    </a:p>
                  </a:txBody>
                  <a:tcPr>
                    <a:solidFill>
                      <a:srgbClr val="EEF2FB"/>
                    </a:solidFill>
                  </a:tcPr>
                </a:tc>
                <a:tc>
                  <a:txBody>
                    <a:bodyPr/>
                    <a:lstStyle/>
                    <a:p>
                      <a:r>
                        <a:rPr sz="1100" b="0">
                          <a:solidFill>
                            <a:srgbClr val="1F2A37"/>
                          </a:solidFill>
                        </a:rPr>
                        <a:t>대학생들이 선택할 수 있는 서비스가 많아 가격 및 품질에 대한 요구가 높습니다.</a:t>
                      </a:r>
                    </a:p>
                  </a:txBody>
                  <a:tcPr>
                    <a:solidFill>
                      <a:srgbClr val="EEF2FB"/>
                    </a:solidFill>
                  </a:tcPr>
                </a:tc>
              </a:tr>
              <a:tr h="352044">
                <a:tc>
                  <a:txBody>
                    <a:bodyPr/>
                    <a:lstStyle/>
                    <a:p>
                      <a:r>
                        <a:rPr sz="1100" b="0">
                          <a:solidFill>
                            <a:srgbClr val="1F2A37"/>
                          </a:solidFill>
                        </a:rPr>
                        <a:t>supplier_power</a:t>
                      </a:r>
                    </a:p>
                  </a:txBody>
                  <a:tcPr>
                    <a:solidFill>
                      <a:srgbClr val="FFFFFF"/>
                    </a:solidFill>
                  </a:tcPr>
                </a:tc>
                <a:tc>
                  <a:txBody>
                    <a:bodyPr/>
                    <a:lstStyle/>
                    <a:p>
                      <a:r>
                        <a:rPr sz="1100" b="0">
                          <a:solidFill>
                            <a:srgbClr val="1F2A37"/>
                          </a:solidFill>
                        </a:rPr>
                        <a:t>낮음</a:t>
                      </a:r>
                    </a:p>
                  </a:txBody>
                  <a:tcPr>
                    <a:solidFill>
                      <a:srgbClr val="FFFFFF"/>
                    </a:solidFill>
                  </a:tcPr>
                </a:tc>
                <a:tc>
                  <a:txBody>
                    <a:bodyPr/>
                    <a:lstStyle/>
                    <a:p>
                      <a:r>
                        <a:rPr sz="1100" b="0">
                          <a:solidFill>
                            <a:srgbClr val="1F2A37"/>
                          </a:solidFill>
                        </a:rPr>
                        <a:t>AI 기술 및 데이터 제공업체의 수가 많아 공급자의 협상력이 상대적으로 낮습니다.</a:t>
                      </a:r>
                    </a:p>
                  </a:txBody>
                  <a:tcPr>
                    <a:solidFill>
                      <a:srgbClr val="FFFFFF"/>
                    </a:solidFill>
                  </a:tcPr>
                </a:tc>
              </a:tr>
            </a:tbl>
          </a:graphicData>
        </a:graphic>
      </p:graphicFrame>
      <p:sp>
        <p:nvSpPr>
          <p:cNvPr id="7" name="TextBox 6"/>
          <p:cNvSpPr txBox="1"/>
          <p:nvPr/>
        </p:nvSpPr>
        <p:spPr>
          <a:xfrm>
            <a:off x="640080" y="6190487"/>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Value Chain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1. 산업·서비스 분석 보고서 (계속)</a:t>
            </a:r>
          </a:p>
        </p:txBody>
      </p:sp>
      <p:graphicFrame>
        <p:nvGraphicFramePr>
          <p:cNvPr id="3" name="Table 2"/>
          <p:cNvGraphicFramePr>
            <a:graphicFrameLocks noGrp="1"/>
          </p:cNvGraphicFramePr>
          <p:nvPr/>
        </p:nvGraphicFramePr>
        <p:xfrm>
          <a:off x="640080" y="1417320"/>
          <a:ext cx="10908792" cy="3428999"/>
        </p:xfrm>
        <a:graphic>
          <a:graphicData uri="http://schemas.openxmlformats.org/drawingml/2006/table">
            <a:tbl>
              <a:tblPr firstRow="1" bandRow="1">
                <a:tableStyleId>{5C22544A-7EE6-4342-B048-85BDC9FD1C3A}</a:tableStyleId>
              </a:tblPr>
              <a:tblGrid>
                <a:gridCol w="5454396"/>
                <a:gridCol w="5454396"/>
              </a:tblGrid>
              <a:tr h="342899">
                <a:tc>
                  <a:txBody>
                    <a:bodyPr/>
                    <a:lstStyle/>
                    <a:p>
                      <a:pPr algn="ctr"/>
                      <a:r>
                        <a:rPr sz="1100" b="1">
                          <a:solidFill>
                            <a:srgbClr val="FFFFFF"/>
                          </a:solidFill>
                        </a:rPr>
                        <a:t>활동</a:t>
                      </a:r>
                    </a:p>
                  </a:txBody>
                  <a:tcPr>
                    <a:solidFill>
                      <a:srgbClr val="2B59C3"/>
                    </a:solidFill>
                  </a:tcPr>
                </a:tc>
                <a:tc>
                  <a:txBody>
                    <a:bodyPr/>
                    <a:lstStyle/>
                    <a:p>
                      <a:pPr algn="ctr"/>
                      <a:r>
                        <a:rPr sz="1100" b="1">
                          <a:solidFill>
                            <a:srgbClr val="FFFFFF"/>
                          </a:solidFill>
                        </a:rPr>
                        <a:t>내용</a:t>
                      </a:r>
                    </a:p>
                  </a:txBody>
                  <a:tcPr>
                    <a:solidFill>
                      <a:srgbClr val="2B59C3"/>
                    </a:solidFill>
                  </a:tcPr>
                </a:tc>
              </a:tr>
              <a:tr h="342899">
                <a:tc>
                  <a:txBody>
                    <a:bodyPr/>
                    <a:lstStyle/>
                    <a:p>
                      <a:r>
                        <a:rPr sz="1100" b="0">
                          <a:solidFill>
                            <a:srgbClr val="1F2A37"/>
                          </a:solidFill>
                        </a:rPr>
                        <a:t>inbound</a:t>
                      </a:r>
                    </a:p>
                  </a:txBody>
                  <a:tcPr>
                    <a:solidFill>
                      <a:srgbClr val="FFFFFF"/>
                    </a:solidFill>
                  </a:tcPr>
                </a:tc>
                <a:tc>
                  <a:txBody>
                    <a:bodyPr/>
                    <a:lstStyle/>
                    <a:p>
                      <a:r>
                        <a:rPr sz="1100" b="0">
                          <a:solidFill>
                            <a:srgbClr val="1F2A37"/>
                          </a:solidFill>
                        </a:rPr>
                        <a:t>AI 기술 및 데이터 수집을 위한 파트너십 구축이 필요합니다.</a:t>
                      </a:r>
                    </a:p>
                  </a:txBody>
                  <a:tcPr>
                    <a:solidFill>
                      <a:srgbClr val="FFFFFF"/>
                    </a:solidFill>
                  </a:tcPr>
                </a:tc>
              </a:tr>
              <a:tr h="342899">
                <a:tc>
                  <a:txBody>
                    <a:bodyPr/>
                    <a:lstStyle/>
                    <a:p>
                      <a:r>
                        <a:rPr sz="1100" b="0">
                          <a:solidFill>
                            <a:srgbClr val="1F2A37"/>
                          </a:solidFill>
                        </a:rPr>
                        <a:t>operations</a:t>
                      </a:r>
                    </a:p>
                  </a:txBody>
                  <a:tcPr>
                    <a:solidFill>
                      <a:srgbClr val="EEF2FB"/>
                    </a:solidFill>
                  </a:tcPr>
                </a:tc>
                <a:tc>
                  <a:txBody>
                    <a:bodyPr/>
                    <a:lstStyle/>
                    <a:p>
                      <a:r>
                        <a:rPr sz="1100" b="0">
                          <a:solidFill>
                            <a:srgbClr val="1F2A37"/>
                          </a:solidFill>
                        </a:rPr>
                        <a:t>효율적인 서비스 운영을 위한 AI 알고리즘 최적화가 중요합니다.</a:t>
                      </a:r>
                    </a:p>
                  </a:txBody>
                  <a:tcPr>
                    <a:solidFill>
                      <a:srgbClr val="EEF2FB"/>
                    </a:solidFill>
                  </a:tcPr>
                </a:tc>
              </a:tr>
              <a:tr h="342899">
                <a:tc>
                  <a:txBody>
                    <a:bodyPr/>
                    <a:lstStyle/>
                    <a:p>
                      <a:r>
                        <a:rPr sz="1100" b="0">
                          <a:solidFill>
                            <a:srgbClr val="1F2A37"/>
                          </a:solidFill>
                        </a:rPr>
                        <a:t>outbound</a:t>
                      </a:r>
                    </a:p>
                  </a:txBody>
                  <a:tcPr>
                    <a:solidFill>
                      <a:srgbClr val="FFFFFF"/>
                    </a:solidFill>
                  </a:tcPr>
                </a:tc>
                <a:tc>
                  <a:txBody>
                    <a:bodyPr/>
                    <a:lstStyle/>
                    <a:p>
                      <a:r>
                        <a:rPr sz="1100" b="0">
                          <a:solidFill>
                            <a:srgbClr val="1F2A37"/>
                          </a:solidFill>
                        </a:rPr>
                        <a:t>고객 맞춤형 서비스를 제공하기 위한 마케팅 전략이 필수적입니다.</a:t>
                      </a:r>
                    </a:p>
                  </a:txBody>
                  <a:tcPr>
                    <a:solidFill>
                      <a:srgbClr val="FFFFFF"/>
                    </a:solidFill>
                  </a:tcPr>
                </a:tc>
              </a:tr>
              <a:tr h="342899">
                <a:tc>
                  <a:txBody>
                    <a:bodyPr/>
                    <a:lstStyle/>
                    <a:p>
                      <a:r>
                        <a:rPr sz="1100" b="0">
                          <a:solidFill>
                            <a:srgbClr val="1F2A37"/>
                          </a:solidFill>
                        </a:rPr>
                        <a:t>marketing</a:t>
                      </a:r>
                    </a:p>
                  </a:txBody>
                  <a:tcPr>
                    <a:solidFill>
                      <a:srgbClr val="EEF2FB"/>
                    </a:solidFill>
                  </a:tcPr>
                </a:tc>
                <a:tc>
                  <a:txBody>
                    <a:bodyPr/>
                    <a:lstStyle/>
                    <a:p>
                      <a:r>
                        <a:rPr sz="1100" b="0">
                          <a:solidFill>
                            <a:srgbClr val="1F2A37"/>
                          </a:solidFill>
                        </a:rPr>
                        <a:t>디지털 채널을 통한 적극적인 홍보 및 사용자 피드백 수집이 필요합니다.</a:t>
                      </a:r>
                    </a:p>
                  </a:txBody>
                  <a:tcPr>
                    <a:solidFill>
                      <a:srgbClr val="EEF2FB"/>
                    </a:solidFill>
                  </a:tcPr>
                </a:tc>
              </a:tr>
              <a:tr h="342899">
                <a:tc>
                  <a:txBody>
                    <a:bodyPr/>
                    <a:lstStyle/>
                    <a:p>
                      <a:r>
                        <a:rPr sz="1100" b="0">
                          <a:solidFill>
                            <a:srgbClr val="1F2A37"/>
                          </a:solidFill>
                        </a:rPr>
                        <a:t>service</a:t>
                      </a:r>
                    </a:p>
                  </a:txBody>
                  <a:tcPr>
                    <a:solidFill>
                      <a:srgbClr val="FFFFFF"/>
                    </a:solidFill>
                  </a:tcPr>
                </a:tc>
                <a:tc>
                  <a:txBody>
                    <a:bodyPr/>
                    <a:lstStyle/>
                    <a:p>
                      <a:r>
                        <a:rPr sz="1100" b="0">
                          <a:solidFill>
                            <a:srgbClr val="1F2A37"/>
                          </a:solidFill>
                        </a:rPr>
                        <a:t>사용자 지원 및 상담 서비스의 품질 향상이 중요합니다.</a:t>
                      </a:r>
                    </a:p>
                  </a:txBody>
                  <a:tcPr>
                    <a:solidFill>
                      <a:srgbClr val="FFFFFF"/>
                    </a:solidFill>
                  </a:tcPr>
                </a:tc>
              </a:tr>
              <a:tr h="342899">
                <a:tc>
                  <a:txBody>
                    <a:bodyPr/>
                    <a:lstStyle/>
                    <a:p>
                      <a:r>
                        <a:rPr sz="1100" b="0">
                          <a:solidFill>
                            <a:srgbClr val="1F2A37"/>
                          </a:solidFill>
                        </a:rPr>
                        <a:t>infrastructure</a:t>
                      </a:r>
                    </a:p>
                  </a:txBody>
                  <a:tcPr>
                    <a:solidFill>
                      <a:srgbClr val="EEF2FB"/>
                    </a:solidFill>
                  </a:tcPr>
                </a:tc>
                <a:tc>
                  <a:txBody>
                    <a:bodyPr/>
                    <a:lstStyle/>
                    <a:p>
                      <a:r>
                        <a:rPr sz="1100" b="0">
                          <a:solidFill>
                            <a:srgbClr val="1F2A37"/>
                          </a:solidFill>
                        </a:rPr>
                        <a:t>기술적 인프라의 지속적인 개선이 요구됩니다.</a:t>
                      </a:r>
                    </a:p>
                  </a:txBody>
                  <a:tcPr>
                    <a:solidFill>
                      <a:srgbClr val="EEF2FB"/>
                    </a:solidFill>
                  </a:tcPr>
                </a:tc>
              </a:tr>
              <a:tr h="342899">
                <a:tc>
                  <a:txBody>
                    <a:bodyPr/>
                    <a:lstStyle/>
                    <a:p>
                      <a:r>
                        <a:rPr sz="1100" b="0">
                          <a:solidFill>
                            <a:srgbClr val="1F2A37"/>
                          </a:solidFill>
                        </a:rPr>
                        <a:t>hr</a:t>
                      </a:r>
                    </a:p>
                  </a:txBody>
                  <a:tcPr>
                    <a:solidFill>
                      <a:srgbClr val="FFFFFF"/>
                    </a:solidFill>
                  </a:tcPr>
                </a:tc>
                <a:tc>
                  <a:txBody>
                    <a:bodyPr/>
                    <a:lstStyle/>
                    <a:p>
                      <a:r>
                        <a:rPr sz="1100" b="0">
                          <a:solidFill>
                            <a:srgbClr val="1F2A37"/>
                          </a:solidFill>
                        </a:rPr>
                        <a:t>전문 인력을 확보하여 서비스 품질을 높여야 합니다.</a:t>
                      </a:r>
                    </a:p>
                  </a:txBody>
                  <a:tcPr>
                    <a:solidFill>
                      <a:srgbClr val="FFFFFF"/>
                    </a:solidFill>
                  </a:tcPr>
                </a:tc>
              </a:tr>
              <a:tr h="342899">
                <a:tc>
                  <a:txBody>
                    <a:bodyPr/>
                    <a:lstStyle/>
                    <a:p>
                      <a:r>
                        <a:rPr sz="1100" b="0">
                          <a:solidFill>
                            <a:srgbClr val="1F2A37"/>
                          </a:solidFill>
                        </a:rPr>
                        <a:t>technology</a:t>
                      </a:r>
                    </a:p>
                  </a:txBody>
                  <a:tcPr>
                    <a:solidFill>
                      <a:srgbClr val="EEF2FB"/>
                    </a:solidFill>
                  </a:tcPr>
                </a:tc>
                <a:tc>
                  <a:txBody>
                    <a:bodyPr/>
                    <a:lstStyle/>
                    <a:p>
                      <a:r>
                        <a:rPr sz="1100" b="0">
                          <a:solidFill>
                            <a:srgbClr val="1F2A37"/>
                          </a:solidFill>
                        </a:rPr>
                        <a:t>AI 기술의 지속적인 발전과 혁신이 필수적입니다.</a:t>
                      </a:r>
                    </a:p>
                  </a:txBody>
                  <a:tcPr>
                    <a:solidFill>
                      <a:srgbClr val="EEF2FB"/>
                    </a:solidFill>
                  </a:tcPr>
                </a:tc>
              </a:tr>
              <a:tr h="342908">
                <a:tc>
                  <a:txBody>
                    <a:bodyPr/>
                    <a:lstStyle/>
                    <a:p>
                      <a:r>
                        <a:rPr sz="1100" b="0">
                          <a:solidFill>
                            <a:srgbClr val="1F2A37"/>
                          </a:solidFill>
                        </a:rPr>
                        <a:t>procurement</a:t>
                      </a:r>
                    </a:p>
                  </a:txBody>
                  <a:tcPr>
                    <a:solidFill>
                      <a:srgbClr val="FFFFFF"/>
                    </a:solidFill>
                  </a:tcPr>
                </a:tc>
                <a:tc>
                  <a:txBody>
                    <a:bodyPr/>
                    <a:lstStyle/>
                    <a:p>
                      <a:r>
                        <a:rPr sz="1100" b="0">
                          <a:solidFill>
                            <a:srgbClr val="1F2A37"/>
                          </a:solidFill>
                        </a:rPr>
                        <a:t>신뢰할 수 있는 데이터 공급업체와의 관계 구축이 필요합니다.</a:t>
                      </a:r>
                    </a:p>
                  </a:txBody>
                  <a:tcPr>
                    <a:solidFill>
                      <a:srgbClr val="FFFFFF"/>
                    </a:solidFill>
                  </a:tcPr>
                </a:tc>
              </a:tr>
            </a:tbl>
          </a:graphicData>
        </a:graphic>
      </p:graphicFrame>
      <p:sp>
        <p:nvSpPr>
          <p:cNvPr id="4" name="TextBox 3"/>
          <p:cNvSpPr txBox="1"/>
          <p:nvPr/>
        </p:nvSpPr>
        <p:spPr>
          <a:xfrm>
            <a:off x="640080" y="4983479"/>
            <a:ext cx="10908792" cy="1216151"/>
          </a:xfrm>
          <a:prstGeom prst="rect">
            <a:avLst/>
          </a:prstGeom>
          <a:noFill/>
        </p:spPr>
        <p:txBody>
          <a:bodyPr wrap="square" anchor="t">
            <a:spAutoFit/>
          </a:bodyPr>
          <a:lstStyle/>
          <a:p>
            <a:pPr>
              <a:spcBef>
                <a:spcPts val="600"/>
              </a:spcBef>
              <a:spcAft>
                <a:spcPts val="400"/>
              </a:spcAft>
            </a:pPr>
            <a:r>
              <a:rPr sz="1700" b="1">
                <a:solidFill>
                  <a:srgbClr val="2B59C3"/>
                </a:solidFill>
              </a:rPr>
              <a:t>KSF (핵심 성공요인 5)</a:t>
            </a:r>
          </a:p>
          <a:p>
            <a:pPr>
              <a:spcAft>
                <a:spcPts val="400"/>
              </a:spcAft>
            </a:pPr>
            <a:r>
              <a:rPr sz="1500">
                <a:solidFill>
                  <a:srgbClr val="2B59C3"/>
                </a:solidFill>
              </a:rPr>
              <a:t>• </a:t>
            </a:r>
            <a:r>
              <a:rPr sz="1500" b="0">
                <a:solidFill>
                  <a:srgbClr val="1F2A37"/>
                </a:solidFill>
              </a:rPr>
              <a:t>AI 기술의 신뢰성 및 정확성 확보</a:t>
            </a:r>
          </a:p>
          <a:p>
            <a:pPr>
              <a:spcAft>
                <a:spcPts val="400"/>
              </a:spcAft>
            </a:pPr>
            <a:r>
              <a:rPr sz="1500">
                <a:solidFill>
                  <a:srgbClr val="2B59C3"/>
                </a:solidFill>
              </a:rPr>
              <a:t>• </a:t>
            </a:r>
            <a:r>
              <a:rPr sz="1500" b="0">
                <a:solidFill>
                  <a:srgbClr val="1F2A37"/>
                </a:solidFill>
              </a:rPr>
              <a:t>사용자 맞춤형 서비스 제공</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1. 산업·서비스 분석 보고서 (계속)</a:t>
            </a:r>
          </a:p>
        </p:txBody>
      </p:sp>
      <p:sp>
        <p:nvSpPr>
          <p:cNvPr id="3" name="TextBox 2"/>
          <p:cNvSpPr txBox="1"/>
          <p:nvPr/>
        </p:nvSpPr>
        <p:spPr>
          <a:xfrm>
            <a:off x="640080" y="1417320"/>
            <a:ext cx="10908792" cy="2715768"/>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정부 및 대학과의 협력 강화</a:t>
            </a:r>
          </a:p>
          <a:p>
            <a:pPr>
              <a:spcAft>
                <a:spcPts val="400"/>
              </a:spcAft>
            </a:pPr>
            <a:r>
              <a:rPr sz="1500">
                <a:solidFill>
                  <a:srgbClr val="2B59C3"/>
                </a:solidFill>
              </a:rPr>
              <a:t>• </a:t>
            </a:r>
            <a:r>
              <a:rPr sz="1500" b="0">
                <a:solidFill>
                  <a:srgbClr val="1F2A37"/>
                </a:solidFill>
              </a:rPr>
              <a:t>효율적인 마케팅 전략 수립</a:t>
            </a:r>
          </a:p>
          <a:p>
            <a:pPr>
              <a:spcAft>
                <a:spcPts val="400"/>
              </a:spcAft>
            </a:pPr>
            <a:r>
              <a:rPr sz="1500">
                <a:solidFill>
                  <a:srgbClr val="2B59C3"/>
                </a:solidFill>
              </a:rPr>
              <a:t>• </a:t>
            </a:r>
            <a:r>
              <a:rPr sz="1500" b="0">
                <a:solidFill>
                  <a:srgbClr val="1F2A37"/>
                </a:solidFill>
              </a:rPr>
              <a:t>지속적인 기술 개발 및 혁신</a:t>
            </a:r>
          </a:p>
          <a:p>
            <a:pPr>
              <a:spcBef>
                <a:spcPts val="600"/>
              </a:spcBef>
              <a:spcAft>
                <a:spcPts val="400"/>
              </a:spcAft>
            </a:pPr>
            <a:r>
              <a:rPr sz="1700" b="1">
                <a:solidFill>
                  <a:srgbClr val="2B59C3"/>
                </a:solidFill>
              </a:rPr>
              <a:t>서비스 설계 시사점 3</a:t>
            </a:r>
          </a:p>
          <a:p>
            <a:pPr>
              <a:spcAft>
                <a:spcPts val="400"/>
              </a:spcAft>
            </a:pPr>
            <a:r>
              <a:rPr sz="1500">
                <a:solidFill>
                  <a:srgbClr val="2B59C3"/>
                </a:solidFill>
              </a:rPr>
              <a:t>• </a:t>
            </a:r>
            <a:r>
              <a:rPr sz="1500" b="0">
                <a:solidFill>
                  <a:srgbClr val="1F2A37"/>
                </a:solidFill>
              </a:rPr>
              <a:t>정책 변화에 민감하게 반응하여 서비스 운영 전략을 조정해야 합니다.</a:t>
            </a:r>
          </a:p>
          <a:p>
            <a:pPr>
              <a:spcAft>
                <a:spcPts val="400"/>
              </a:spcAft>
            </a:pPr>
            <a:r>
              <a:rPr sz="1500">
                <a:solidFill>
                  <a:srgbClr val="2B59C3"/>
                </a:solidFill>
              </a:rPr>
              <a:t>• </a:t>
            </a:r>
            <a:r>
              <a:rPr sz="1500" b="0">
                <a:solidFill>
                  <a:srgbClr val="1F2A37"/>
                </a:solidFill>
              </a:rPr>
              <a:t>AI 기술의 신뢰성을 높이기 위한 지속적인 기술 개발과 사용자 교육이 필요합니다.</a:t>
            </a:r>
          </a:p>
          <a:p>
            <a:pPr>
              <a:spcAft>
                <a:spcPts val="400"/>
              </a:spcAft>
            </a:pPr>
            <a:r>
              <a:rPr sz="1500">
                <a:solidFill>
                  <a:srgbClr val="2B59C3"/>
                </a:solidFill>
              </a:rPr>
              <a:t>• </a:t>
            </a:r>
            <a:r>
              <a:rPr sz="1500" b="0">
                <a:solidFill>
                  <a:srgbClr val="1F2A37"/>
                </a:solidFill>
              </a:rPr>
              <a:t>다양한 가격대의 서비스를 제공하여 경제 상황에 따른 소비자 접근성을 높여야 합니다.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2. Lean Canvas</a:t>
            </a:r>
          </a:p>
        </p:txBody>
      </p:sp>
      <p:sp>
        <p:nvSpPr>
          <p:cNvPr id="3" name="TextBox 2"/>
          <p:cNvSpPr txBox="1"/>
          <p:nvPr/>
        </p:nvSpPr>
        <p:spPr>
          <a:xfrm>
            <a:off x="640080" y="1417320"/>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9개 블록 (작성 순서 1→9)</a:t>
            </a:r>
          </a:p>
        </p:txBody>
      </p:sp>
      <p:graphicFrame>
        <p:nvGraphicFramePr>
          <p:cNvPr id="4" name="Table 3"/>
          <p:cNvGraphicFramePr>
            <a:graphicFrameLocks noGrp="1"/>
          </p:cNvGraphicFramePr>
          <p:nvPr/>
        </p:nvGraphicFramePr>
        <p:xfrm>
          <a:off x="640080" y="1883664"/>
          <a:ext cx="10908792" cy="3428999"/>
        </p:xfrm>
        <a:graphic>
          <a:graphicData uri="http://schemas.openxmlformats.org/drawingml/2006/table">
            <a:tbl>
              <a:tblPr firstRow="1" bandRow="1">
                <a:tableStyleId>{5C22544A-7EE6-4342-B048-85BDC9FD1C3A}</a:tableStyleId>
              </a:tblPr>
              <a:tblGrid>
                <a:gridCol w="5454396"/>
                <a:gridCol w="5454396"/>
              </a:tblGrid>
              <a:tr h="342899">
                <a:tc>
                  <a:txBody>
                    <a:bodyPr/>
                    <a:lstStyle/>
                    <a:p>
                      <a:pPr algn="ctr"/>
                      <a:r>
                        <a:rPr sz="1100" b="1">
                          <a:solidFill>
                            <a:srgbClr val="FFFFFF"/>
                          </a:solidFill>
                        </a:rPr>
                        <a:t>항목</a:t>
                      </a:r>
                    </a:p>
                  </a:txBody>
                  <a:tcPr>
                    <a:solidFill>
                      <a:srgbClr val="2B59C3"/>
                    </a:solidFill>
                  </a:tcPr>
                </a:tc>
                <a:tc>
                  <a:txBody>
                    <a:bodyPr/>
                    <a:lstStyle/>
                    <a:p>
                      <a:pPr algn="ctr"/>
                      <a:r>
                        <a:rPr sz="1100" b="1">
                          <a:solidFill>
                            <a:srgbClr val="FFFFFF"/>
                          </a:solidFill>
                        </a:rPr>
                        <a:t>내용</a:t>
                      </a:r>
                    </a:p>
                  </a:txBody>
                  <a:tcPr>
                    <a:solidFill>
                      <a:srgbClr val="2B59C3"/>
                    </a:solidFill>
                  </a:tcPr>
                </a:tc>
              </a:tr>
              <a:tr h="342899">
                <a:tc>
                  <a:txBody>
                    <a:bodyPr/>
                    <a:lstStyle/>
                    <a:p>
                      <a:r>
                        <a:rPr sz="1100" b="0">
                          <a:solidFill>
                            <a:srgbClr val="1F2A37"/>
                          </a:solidFill>
                        </a:rPr>
                        <a:t>1. Problem</a:t>
                      </a:r>
                    </a:p>
                  </a:txBody>
                  <a:tcPr>
                    <a:solidFill>
                      <a:srgbClr val="FFFFFF"/>
                    </a:solidFill>
                  </a:tcPr>
                </a:tc>
                <a:tc>
                  <a:txBody>
                    <a:bodyPr/>
                    <a:lstStyle/>
                    <a:p>
                      <a:r>
                        <a:rPr sz="1100" b="0">
                          <a:solidFill>
                            <a:srgbClr val="1F2A37"/>
                          </a:solidFill>
                        </a:rPr>
                        <a:t>진로 정보가 흩어져 있어 경로 선택이 어려움, 맞춤형 학습 및 경험 설계 도구 부족, AI 기반 진로 상담의 부재.</a:t>
                      </a:r>
                    </a:p>
                  </a:txBody>
                  <a:tcPr>
                    <a:solidFill>
                      <a:srgbClr val="FFFFFF"/>
                    </a:solidFill>
                  </a:tcPr>
                </a:tc>
              </a:tr>
              <a:tr h="342899">
                <a:tc>
                  <a:txBody>
                    <a:bodyPr/>
                    <a:lstStyle/>
                    <a:p>
                      <a:r>
                        <a:rPr sz="1100" b="0">
                          <a:solidFill>
                            <a:srgbClr val="1F2A37"/>
                          </a:solidFill>
                        </a:rPr>
                        <a:t>2. Customer Segments</a:t>
                      </a:r>
                    </a:p>
                  </a:txBody>
                  <a:tcPr>
                    <a:solidFill>
                      <a:srgbClr val="EEF2FB"/>
                    </a:solidFill>
                  </a:tcPr>
                </a:tc>
                <a:tc>
                  <a:txBody>
                    <a:bodyPr/>
                    <a:lstStyle/>
                    <a:p>
                      <a:r>
                        <a:rPr sz="1100" b="0">
                          <a:solidFill>
                            <a:srgbClr val="1F2A37"/>
                          </a:solidFill>
                        </a:rPr>
                        <a:t>진로를 구체화하지 못한 대학교 2~3학년 학생들.</a:t>
                      </a:r>
                    </a:p>
                  </a:txBody>
                  <a:tcPr>
                    <a:solidFill>
                      <a:srgbClr val="EEF2FB"/>
                    </a:solidFill>
                  </a:tcPr>
                </a:tc>
              </a:tr>
              <a:tr h="342899">
                <a:tc>
                  <a:txBody>
                    <a:bodyPr/>
                    <a:lstStyle/>
                    <a:p>
                      <a:r>
                        <a:rPr sz="1100" b="0">
                          <a:solidFill>
                            <a:srgbClr val="1F2A37"/>
                          </a:solidFill>
                        </a:rPr>
                        <a:t>3. UVP</a:t>
                      </a:r>
                    </a:p>
                  </a:txBody>
                  <a:tcPr>
                    <a:solidFill>
                      <a:srgbClr val="FFFFFF"/>
                    </a:solidFill>
                  </a:tcPr>
                </a:tc>
                <a:tc>
                  <a:txBody>
                    <a:bodyPr/>
                    <a:lstStyle/>
                    <a:p>
                      <a:r>
                        <a:rPr sz="1100" b="0">
                          <a:solidFill>
                            <a:srgbClr val="1F2A37"/>
                          </a:solidFill>
                        </a:rPr>
                        <a:t>AI를 통해 개인 맞춤형 진로 상담과 경로 설계를 제공하여 대학생의 진로 선택을 지원합니다.</a:t>
                      </a:r>
                    </a:p>
                  </a:txBody>
                  <a:tcPr>
                    <a:solidFill>
                      <a:srgbClr val="FFFFFF"/>
                    </a:solidFill>
                  </a:tcPr>
                </a:tc>
              </a:tr>
              <a:tr h="342899">
                <a:tc>
                  <a:txBody>
                    <a:bodyPr/>
                    <a:lstStyle/>
                    <a:p>
                      <a:r>
                        <a:rPr sz="1100" b="0">
                          <a:solidFill>
                            <a:srgbClr val="1F2A37"/>
                          </a:solidFill>
                        </a:rPr>
                        <a:t>4. Solution</a:t>
                      </a:r>
                    </a:p>
                  </a:txBody>
                  <a:tcPr>
                    <a:solidFill>
                      <a:srgbClr val="EEF2FB"/>
                    </a:solidFill>
                  </a:tcPr>
                </a:tc>
                <a:tc>
                  <a:txBody>
                    <a:bodyPr/>
                    <a:lstStyle/>
                    <a:p>
                      <a:r>
                        <a:rPr sz="1100" b="0">
                          <a:solidFill>
                            <a:srgbClr val="1F2A37"/>
                          </a:solidFill>
                        </a:rPr>
                        <a:t>AI 기반 진로 상담 챗봇, 사용자 맞춤형 진로 경로 추천 알고리즘, AI 진로 검사 서비스.</a:t>
                      </a:r>
                    </a:p>
                  </a:txBody>
                  <a:tcPr>
                    <a:solidFill>
                      <a:srgbClr val="EEF2FB"/>
                    </a:solidFill>
                  </a:tcPr>
                </a:tc>
              </a:tr>
              <a:tr h="342899">
                <a:tc>
                  <a:txBody>
                    <a:bodyPr/>
                    <a:lstStyle/>
                    <a:p>
                      <a:r>
                        <a:rPr sz="1100" b="0">
                          <a:solidFill>
                            <a:srgbClr val="1F2A37"/>
                          </a:solidFill>
                        </a:rPr>
                        <a:t>5. Channels</a:t>
                      </a:r>
                    </a:p>
                  </a:txBody>
                  <a:tcPr>
                    <a:solidFill>
                      <a:srgbClr val="FFFFFF"/>
                    </a:solidFill>
                  </a:tcPr>
                </a:tc>
                <a:tc>
                  <a:txBody>
                    <a:bodyPr/>
                    <a:lstStyle/>
                    <a:p>
                      <a:r>
                        <a:rPr sz="1100" b="0">
                          <a:solidFill>
                            <a:srgbClr val="1F2A37"/>
                          </a:solidFill>
                        </a:rPr>
                        <a:t>대학 캠퍼스, 소셜 미디어, 온라인 광고, 제휴 프로그램.</a:t>
                      </a:r>
                    </a:p>
                  </a:txBody>
                  <a:tcPr>
                    <a:solidFill>
                      <a:srgbClr val="FFFFFF"/>
                    </a:solidFill>
                  </a:tcPr>
                </a:tc>
              </a:tr>
              <a:tr h="342899">
                <a:tc>
                  <a:txBody>
                    <a:bodyPr/>
                    <a:lstStyle/>
                    <a:p>
                      <a:r>
                        <a:rPr sz="1100" b="0">
                          <a:solidFill>
                            <a:srgbClr val="1F2A37"/>
                          </a:solidFill>
                        </a:rPr>
                        <a:t>6. Revenue Streams</a:t>
                      </a:r>
                    </a:p>
                  </a:txBody>
                  <a:tcPr>
                    <a:solidFill>
                      <a:srgbClr val="EEF2FB"/>
                    </a:solidFill>
                  </a:tcPr>
                </a:tc>
                <a:tc>
                  <a:txBody>
                    <a:bodyPr/>
                    <a:lstStyle/>
                    <a:p>
                      <a:r>
                        <a:rPr sz="1100" b="0">
                          <a:solidFill>
                            <a:srgbClr val="1F2A37"/>
                          </a:solidFill>
                        </a:rPr>
                        <a:t>구독 모델, 프리미엄 서비스, 제휴 프로그램, 광고 수익.</a:t>
                      </a:r>
                    </a:p>
                  </a:txBody>
                  <a:tcPr>
                    <a:solidFill>
                      <a:srgbClr val="EEF2FB"/>
                    </a:solidFill>
                  </a:tcPr>
                </a:tc>
              </a:tr>
              <a:tr h="342899">
                <a:tc>
                  <a:txBody>
                    <a:bodyPr/>
                    <a:lstStyle/>
                    <a:p>
                      <a:r>
                        <a:rPr sz="1100" b="0">
                          <a:solidFill>
                            <a:srgbClr val="1F2A37"/>
                          </a:solidFill>
                        </a:rPr>
                        <a:t>7. Cost Structure</a:t>
                      </a:r>
                    </a:p>
                  </a:txBody>
                  <a:tcPr>
                    <a:solidFill>
                      <a:srgbClr val="FFFFFF"/>
                    </a:solidFill>
                  </a:tcPr>
                </a:tc>
                <a:tc>
                  <a:txBody>
                    <a:bodyPr/>
                    <a:lstStyle/>
                    <a:p>
                      <a:r>
                        <a:rPr sz="1100" b="0">
                          <a:solidFill>
                            <a:srgbClr val="1F2A37"/>
                          </a:solidFill>
                        </a:rPr>
                        <a:t>AI 기술 개발 및 유지 비용, 서버 및 데이터 저장 비용, 마케팅 비용, 인력 비용.</a:t>
                      </a:r>
                    </a:p>
                  </a:txBody>
                  <a:tcPr>
                    <a:solidFill>
                      <a:srgbClr val="FFFFFF"/>
                    </a:solidFill>
                  </a:tcPr>
                </a:tc>
              </a:tr>
              <a:tr h="342899">
                <a:tc>
                  <a:txBody>
                    <a:bodyPr/>
                    <a:lstStyle/>
                    <a:p>
                      <a:r>
                        <a:rPr sz="1100" b="0">
                          <a:solidFill>
                            <a:srgbClr val="1F2A37"/>
                          </a:solidFill>
                        </a:rPr>
                        <a:t>8. Key Metrics</a:t>
                      </a:r>
                    </a:p>
                  </a:txBody>
                  <a:tcPr>
                    <a:solidFill>
                      <a:srgbClr val="EEF2FB"/>
                    </a:solidFill>
                  </a:tcPr>
                </a:tc>
                <a:tc>
                  <a:txBody>
                    <a:bodyPr/>
                    <a:lstStyle/>
                    <a:p>
                      <a:r>
                        <a:rPr sz="1100" b="0">
                          <a:solidFill>
                            <a:srgbClr val="1F2A37"/>
                          </a:solidFill>
                        </a:rPr>
                        <a:t>사용자 수 및 성장률, 구독 전환율, 사용자 만족도, 서비스 이용 빈도.</a:t>
                      </a:r>
                    </a:p>
                  </a:txBody>
                  <a:tcPr>
                    <a:solidFill>
                      <a:srgbClr val="EEF2FB"/>
                    </a:solidFill>
                  </a:tcPr>
                </a:tc>
              </a:tr>
              <a:tr h="342908">
                <a:tc>
                  <a:txBody>
                    <a:bodyPr/>
                    <a:lstStyle/>
                    <a:p>
                      <a:r>
                        <a:rPr sz="1100" b="0">
                          <a:solidFill>
                            <a:srgbClr val="1F2A37"/>
                          </a:solidFill>
                        </a:rPr>
                        <a:t>9. Unfair Advantage</a:t>
                      </a:r>
                    </a:p>
                  </a:txBody>
                  <a:tcPr>
                    <a:solidFill>
                      <a:srgbClr val="FFFFFF"/>
                    </a:solidFill>
                  </a:tcPr>
                </a:tc>
                <a:tc>
                  <a:txBody>
                    <a:bodyPr/>
                    <a:lstStyle/>
                    <a:p>
                      <a:r>
                        <a:rPr sz="1100" b="0">
                          <a:solidFill>
                            <a:srgbClr val="1F2A37"/>
                          </a:solidFill>
                        </a:rPr>
                        <a:t>AI 기술의 신뢰성 확보와 정부 및 대학과의 협력으로 경쟁 서비스와의 차별성을 유지.</a:t>
                      </a:r>
                    </a:p>
                  </a:txBody>
                  <a:tcPr>
                    <a:solidFill>
                      <a:srgbClr val="FFFFFF"/>
                    </a:solidFill>
                  </a:tcPr>
                </a:tc>
              </a:tr>
            </a:tbl>
          </a:graphicData>
        </a:graphic>
      </p:graphicFrame>
      <p:sp>
        <p:nvSpPr>
          <p:cNvPr id="5" name="TextBox 4"/>
          <p:cNvSpPr txBox="1"/>
          <p:nvPr/>
        </p:nvSpPr>
        <p:spPr>
          <a:xfrm>
            <a:off x="640080" y="5449823"/>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핵심 가설 3개와 검증 계획</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2. Lean Canvas (계속)</a:t>
            </a:r>
          </a:p>
        </p:txBody>
      </p:sp>
      <p:graphicFrame>
        <p:nvGraphicFramePr>
          <p:cNvPr id="3" name="Table 2"/>
          <p:cNvGraphicFramePr>
            <a:graphicFrameLocks noGrp="1"/>
          </p:cNvGraphicFramePr>
          <p:nvPr/>
        </p:nvGraphicFramePr>
        <p:xfrm>
          <a:off x="640080" y="1417320"/>
          <a:ext cx="10908792" cy="1453895"/>
        </p:xfrm>
        <a:graphic>
          <a:graphicData uri="http://schemas.openxmlformats.org/drawingml/2006/table">
            <a:tbl>
              <a:tblPr firstRow="1" bandRow="1">
                <a:tableStyleId>{5C22544A-7EE6-4342-B048-85BDC9FD1C3A}</a:tableStyleId>
              </a:tblPr>
              <a:tblGrid>
                <a:gridCol w="3636264"/>
                <a:gridCol w="3636264"/>
                <a:gridCol w="3636264"/>
              </a:tblGrid>
              <a:tr h="363473">
                <a:tc>
                  <a:txBody>
                    <a:bodyPr/>
                    <a:lstStyle/>
                    <a:p>
                      <a:pPr algn="ctr"/>
                      <a:r>
                        <a:rPr sz="1100" b="1">
                          <a:solidFill>
                            <a:srgbClr val="FFFFFF"/>
                          </a:solidFill>
                        </a:rPr>
                        <a:t>가설</a:t>
                      </a:r>
                    </a:p>
                  </a:txBody>
                  <a:tcPr>
                    <a:solidFill>
                      <a:srgbClr val="2B59C3"/>
                    </a:solidFill>
                  </a:tcPr>
                </a:tc>
                <a:tc>
                  <a:txBody>
                    <a:bodyPr/>
                    <a:lstStyle/>
                    <a:p>
                      <a:pPr algn="ctr"/>
                      <a:r>
                        <a:rPr sz="1100" b="1">
                          <a:solidFill>
                            <a:srgbClr val="FFFFFF"/>
                          </a:solidFill>
                        </a:rPr>
                        <a:t>검증 방법</a:t>
                      </a:r>
                    </a:p>
                  </a:txBody>
                  <a:tcPr>
                    <a:solidFill>
                      <a:srgbClr val="2B59C3"/>
                    </a:solidFill>
                  </a:tcPr>
                </a:tc>
                <a:tc>
                  <a:txBody>
                    <a:bodyPr/>
                    <a:lstStyle/>
                    <a:p>
                      <a:pPr algn="ctr"/>
                      <a:r>
                        <a:rPr sz="1100" b="1">
                          <a:solidFill>
                            <a:srgbClr val="FFFFFF"/>
                          </a:solidFill>
                        </a:rPr>
                        <a:t>판단 지표</a:t>
                      </a:r>
                    </a:p>
                  </a:txBody>
                  <a:tcPr>
                    <a:solidFill>
                      <a:srgbClr val="2B59C3"/>
                    </a:solidFill>
                  </a:tcPr>
                </a:tc>
              </a:tr>
              <a:tr h="363473">
                <a:tc>
                  <a:txBody>
                    <a:bodyPr/>
                    <a:lstStyle/>
                    <a:p>
                      <a:r>
                        <a:rPr sz="1100" b="0">
                          <a:solidFill>
                            <a:srgbClr val="1F2A37"/>
                          </a:solidFill>
                        </a:rPr>
                        <a:t>AI 기반 진로 상담 챗봇이 대학생들에게 유용할 것이다.</a:t>
                      </a:r>
                    </a:p>
                  </a:txBody>
                  <a:tcPr>
                    <a:solidFill>
                      <a:srgbClr val="FFFFFF"/>
                    </a:solidFill>
                  </a:tcPr>
                </a:tc>
                <a:tc>
                  <a:txBody>
                    <a:bodyPr/>
                    <a:lstStyle/>
                    <a:p>
                      <a:r>
                        <a:rPr sz="1100" b="0">
                          <a:solidFill>
                            <a:srgbClr val="1F2A37"/>
                          </a:solidFill>
                        </a:rPr>
                        <a:t>사용자 피드백 및 만족도 조사를 통해 검증.</a:t>
                      </a:r>
                    </a:p>
                  </a:txBody>
                  <a:tcPr>
                    <a:solidFill>
                      <a:srgbClr val="FFFFFF"/>
                    </a:solidFill>
                  </a:tcPr>
                </a:tc>
                <a:tc>
                  <a:txBody>
                    <a:bodyPr/>
                    <a:lstStyle/>
                    <a:p>
                      <a:r>
                        <a:rPr sz="1100" b="0">
                          <a:solidFill>
                            <a:srgbClr val="1F2A37"/>
                          </a:solidFill>
                        </a:rPr>
                        <a:t>사용자 만족도 및 피드백 점수.</a:t>
                      </a:r>
                    </a:p>
                  </a:txBody>
                  <a:tcPr>
                    <a:solidFill>
                      <a:srgbClr val="FFFFFF"/>
                    </a:solidFill>
                  </a:tcPr>
                </a:tc>
              </a:tr>
              <a:tr h="363473">
                <a:tc>
                  <a:txBody>
                    <a:bodyPr/>
                    <a:lstStyle/>
                    <a:p>
                      <a:r>
                        <a:rPr sz="1100" b="0">
                          <a:solidFill>
                            <a:srgbClr val="1F2A37"/>
                          </a:solidFill>
                        </a:rPr>
                        <a:t>사용자 맞춤형 진로 경로 추천 알고리즘이 효과적일 것이다.</a:t>
                      </a:r>
                    </a:p>
                  </a:txBody>
                  <a:tcPr>
                    <a:solidFill>
                      <a:srgbClr val="EEF2FB"/>
                    </a:solidFill>
                  </a:tcPr>
                </a:tc>
                <a:tc>
                  <a:txBody>
                    <a:bodyPr/>
                    <a:lstStyle/>
                    <a:p>
                      <a:r>
                        <a:rPr sz="1100" b="0">
                          <a:solidFill>
                            <a:srgbClr val="1F2A37"/>
                          </a:solidFill>
                        </a:rPr>
                        <a:t>알고리즘 테스트 및 사용자 피드백을 통해 검증.</a:t>
                      </a:r>
                    </a:p>
                  </a:txBody>
                  <a:tcPr>
                    <a:solidFill>
                      <a:srgbClr val="EEF2FB"/>
                    </a:solidFill>
                  </a:tcPr>
                </a:tc>
                <a:tc>
                  <a:txBody>
                    <a:bodyPr/>
                    <a:lstStyle/>
                    <a:p>
                      <a:r>
                        <a:rPr sz="1100" b="0">
                          <a:solidFill>
                            <a:srgbClr val="1F2A37"/>
                          </a:solidFill>
                        </a:rPr>
                        <a:t>추천 경로의 선택률.</a:t>
                      </a:r>
                    </a:p>
                  </a:txBody>
                  <a:tcPr>
                    <a:solidFill>
                      <a:srgbClr val="EEF2FB"/>
                    </a:solidFill>
                  </a:tcPr>
                </a:tc>
              </a:tr>
              <a:tr h="363476">
                <a:tc>
                  <a:txBody>
                    <a:bodyPr/>
                    <a:lstStyle/>
                    <a:p>
                      <a:r>
                        <a:rPr sz="1100" b="0">
                          <a:solidFill>
                            <a:srgbClr val="1F2A37"/>
                          </a:solidFill>
                        </a:rPr>
                        <a:t>AI 진로 검사 서비스가 사용자에게 높은 만족도를 줄 것이다.</a:t>
                      </a:r>
                    </a:p>
                  </a:txBody>
                  <a:tcPr>
                    <a:solidFill>
                      <a:srgbClr val="FFFFFF"/>
                    </a:solidFill>
                  </a:tcPr>
                </a:tc>
                <a:tc>
                  <a:txBody>
                    <a:bodyPr/>
                    <a:lstStyle/>
                    <a:p>
                      <a:r>
                        <a:rPr sz="1100" b="0">
                          <a:solidFill>
                            <a:srgbClr val="1F2A37"/>
                          </a:solidFill>
                        </a:rPr>
                        <a:t>서비스 이용 후 만족도 조사를 통해 검증.</a:t>
                      </a:r>
                    </a:p>
                  </a:txBody>
                  <a:tcPr>
                    <a:solidFill>
                      <a:srgbClr val="FFFFFF"/>
                    </a:solidFill>
                  </a:tcPr>
                </a:tc>
                <a:tc>
                  <a:txBody>
                    <a:bodyPr/>
                    <a:lstStyle/>
                    <a:p>
                      <a:r>
                        <a:rPr sz="1100" b="0">
                          <a:solidFill>
                            <a:srgbClr val="1F2A37"/>
                          </a:solidFill>
                        </a:rPr>
                        <a:t>사용자 만족도 점수.</a:t>
                      </a:r>
                    </a:p>
                  </a:txBody>
                  <a:tcPr>
                    <a:solidFill>
                      <a:srgbClr val="FFFFFF"/>
                    </a:solidFill>
                  </a:tcPr>
                </a:tc>
              </a:tr>
            </a:tbl>
          </a:graphicData>
        </a:graphic>
      </p:graphicFrame>
      <p:sp>
        <p:nvSpPr>
          <p:cNvPr id="4" name="TextBox 3"/>
          <p:cNvSpPr txBox="1"/>
          <p:nvPr/>
        </p:nvSpPr>
        <p:spPr>
          <a:xfrm>
            <a:off x="640080" y="3008375"/>
            <a:ext cx="10908792" cy="3182112"/>
          </a:xfrm>
          <a:prstGeom prst="rect">
            <a:avLst/>
          </a:prstGeom>
          <a:noFill/>
        </p:spPr>
        <p:txBody>
          <a:bodyPr wrap="square" anchor="t">
            <a:spAutoFit/>
          </a:bodyPr>
          <a:lstStyle/>
          <a:p>
            <a:pPr>
              <a:spcBef>
                <a:spcPts val="600"/>
              </a:spcBef>
              <a:spcAft>
                <a:spcPts val="400"/>
              </a:spcAft>
            </a:pPr>
            <a:r>
              <a:rPr sz="1700" b="1">
                <a:solidFill>
                  <a:srgbClr val="2B59C3"/>
                </a:solidFill>
              </a:rPr>
              <a:t>아이디어 발산 → 수렴 (26개 → 3개 → 1개)</a:t>
            </a:r>
          </a:p>
          <a:p>
            <a:pPr>
              <a:spcAft>
                <a:spcPts val="400"/>
              </a:spcAft>
            </a:pPr>
            <a:r>
              <a:rPr sz="1500" b="1">
                <a:solidFill>
                  <a:srgbClr val="1F2A37"/>
                </a:solidFill>
              </a:rPr>
              <a:t>HMW 질문</a:t>
            </a:r>
          </a:p>
          <a:p>
            <a:pPr>
              <a:spcAft>
                <a:spcPts val="400"/>
              </a:spcAft>
            </a:pPr>
            <a:r>
              <a:rPr sz="1500">
                <a:solidFill>
                  <a:srgbClr val="2B59C3"/>
                </a:solidFill>
              </a:rPr>
              <a:t>• </a:t>
            </a:r>
            <a:r>
              <a:rPr sz="1500" b="0">
                <a:solidFill>
                  <a:srgbClr val="1F2A37"/>
                </a:solidFill>
              </a:rPr>
              <a:t>어떻게 하면 대학생들이 진로 정보의 부족을 해결하고 맞춤형 경로를 설계할 수 있을까?</a:t>
            </a:r>
          </a:p>
          <a:p>
            <a:pPr>
              <a:spcAft>
                <a:spcPts val="400"/>
              </a:spcAft>
            </a:pPr>
            <a:r>
              <a:rPr sz="1500">
                <a:solidFill>
                  <a:srgbClr val="2B59C3"/>
                </a:solidFill>
              </a:rPr>
              <a:t>• </a:t>
            </a:r>
            <a:r>
              <a:rPr sz="1500" b="0">
                <a:solidFill>
                  <a:srgbClr val="1F2A37"/>
                </a:solidFill>
              </a:rPr>
              <a:t>어떻게 하면 AI 기술을 활용하여 대학생들에게 신뢰성 있는 진로 상담 서비스를 제공할 수 있을까?</a:t>
            </a:r>
          </a:p>
          <a:p>
            <a:pPr>
              <a:spcAft>
                <a:spcPts val="400"/>
              </a:spcAft>
            </a:pPr>
            <a:r>
              <a:rPr sz="1500">
                <a:solidFill>
                  <a:srgbClr val="2B59C3"/>
                </a:solidFill>
              </a:rPr>
              <a:t>• </a:t>
            </a:r>
            <a:r>
              <a:rPr sz="1500" b="0">
                <a:solidFill>
                  <a:srgbClr val="1F2A37"/>
                </a:solidFill>
              </a:rPr>
              <a:t>어떻게 하면 정부 및 대학과 협력하여 진로 설계 서비스를 확장할 수 있을까?</a:t>
            </a:r>
          </a:p>
          <a:p>
            <a:pPr>
              <a:spcAft>
                <a:spcPts val="400"/>
              </a:spcAft>
            </a:pPr>
            <a:r>
              <a:rPr sz="1500">
                <a:solidFill>
                  <a:srgbClr val="2B59C3"/>
                </a:solidFill>
              </a:rPr>
              <a:t>• </a:t>
            </a:r>
            <a:r>
              <a:rPr sz="1500" b="0">
                <a:solidFill>
                  <a:srgbClr val="1F2A37"/>
                </a:solidFill>
              </a:rPr>
              <a:t>어떻게 하면 사용자 맞춤형 서비스를 통해 대학생들의 진로 선택에 대한 자신감을 높일 수 있을까?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2. Lean Canvas (계속)</a:t>
            </a:r>
          </a:p>
        </p:txBody>
      </p:sp>
      <p:sp>
        <p:nvSpPr>
          <p:cNvPr id="3" name="TextBox 2"/>
          <p:cNvSpPr txBox="1"/>
          <p:nvPr/>
        </p:nvSpPr>
        <p:spPr>
          <a:xfrm>
            <a:off x="640080" y="1417320"/>
            <a:ext cx="10908792" cy="4892040"/>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어떻게 하면 다양한 가격대의 서비스를 제공하여 경제적 접근성을 높일 수 있을까?</a:t>
            </a:r>
          </a:p>
          <a:p>
            <a:pPr>
              <a:spcAft>
                <a:spcPts val="400"/>
              </a:spcAft>
            </a:pPr>
            <a:r>
              <a:rPr sz="1500" b="1">
                <a:solidFill>
                  <a:srgbClr val="1F2A37"/>
                </a:solidFill>
              </a:rPr>
              <a:t>발산한 아이디어 26개</a:t>
            </a:r>
          </a:p>
          <a:p>
            <a:pPr>
              <a:spcAft>
                <a:spcPts val="400"/>
              </a:spcAft>
            </a:pPr>
            <a:r>
              <a:rPr sz="1500">
                <a:solidFill>
                  <a:srgbClr val="2B59C3"/>
                </a:solidFill>
              </a:rPr>
              <a:t>• </a:t>
            </a:r>
            <a:r>
              <a:rPr sz="1500" b="0">
                <a:solidFill>
                  <a:srgbClr val="1F2A37"/>
                </a:solidFill>
              </a:rPr>
              <a:t>AI 기반 진로 상담 챗봇 개발</a:t>
            </a:r>
          </a:p>
          <a:p>
            <a:pPr>
              <a:spcAft>
                <a:spcPts val="400"/>
              </a:spcAft>
            </a:pPr>
            <a:r>
              <a:rPr sz="1500">
                <a:solidFill>
                  <a:srgbClr val="2B59C3"/>
                </a:solidFill>
              </a:rPr>
              <a:t>• </a:t>
            </a:r>
            <a:r>
              <a:rPr sz="1500" b="0">
                <a:solidFill>
                  <a:srgbClr val="1F2A37"/>
                </a:solidFill>
              </a:rPr>
              <a:t>사용자 맞춤형 진로 경로 추천 알고리즘</a:t>
            </a:r>
          </a:p>
          <a:p>
            <a:pPr>
              <a:spcAft>
                <a:spcPts val="400"/>
              </a:spcAft>
            </a:pPr>
            <a:r>
              <a:rPr sz="1500">
                <a:solidFill>
                  <a:srgbClr val="2B59C3"/>
                </a:solidFill>
              </a:rPr>
              <a:t>• </a:t>
            </a:r>
            <a:r>
              <a:rPr sz="1500" b="0">
                <a:solidFill>
                  <a:srgbClr val="1F2A37"/>
                </a:solidFill>
              </a:rPr>
              <a:t>진로 정보 통합 플랫폼 구축</a:t>
            </a:r>
          </a:p>
          <a:p>
            <a:pPr>
              <a:spcAft>
                <a:spcPts val="400"/>
              </a:spcAft>
            </a:pPr>
            <a:r>
              <a:rPr sz="1500">
                <a:solidFill>
                  <a:srgbClr val="2B59C3"/>
                </a:solidFill>
              </a:rPr>
              <a:t>• </a:t>
            </a:r>
            <a:r>
              <a:rPr sz="1500" b="0">
                <a:solidFill>
                  <a:srgbClr val="1F2A37"/>
                </a:solidFill>
              </a:rPr>
              <a:t>대학과의 제휴를 통한 무료 상담 제공</a:t>
            </a:r>
          </a:p>
          <a:p>
            <a:pPr>
              <a:spcAft>
                <a:spcPts val="400"/>
              </a:spcAft>
            </a:pPr>
            <a:r>
              <a:rPr sz="1500">
                <a:solidFill>
                  <a:srgbClr val="2B59C3"/>
                </a:solidFill>
              </a:rPr>
              <a:t>• </a:t>
            </a:r>
            <a:r>
              <a:rPr sz="1500" b="0">
                <a:solidFill>
                  <a:srgbClr val="1F2A37"/>
                </a:solidFill>
              </a:rPr>
              <a:t>AI 진로 검사 서비스 제공</a:t>
            </a:r>
          </a:p>
          <a:p>
            <a:pPr>
              <a:spcAft>
                <a:spcPts val="400"/>
              </a:spcAft>
            </a:pPr>
            <a:r>
              <a:rPr sz="1500">
                <a:solidFill>
                  <a:srgbClr val="2B59C3"/>
                </a:solidFill>
              </a:rPr>
              <a:t>• </a:t>
            </a:r>
            <a:r>
              <a:rPr sz="1500" b="0">
                <a:solidFill>
                  <a:srgbClr val="1F2A37"/>
                </a:solidFill>
              </a:rPr>
              <a:t>프리미엄 서비스로 심층 분석 제공</a:t>
            </a:r>
          </a:p>
          <a:p>
            <a:pPr>
              <a:spcAft>
                <a:spcPts val="400"/>
              </a:spcAft>
            </a:pPr>
            <a:r>
              <a:rPr sz="1500">
                <a:solidFill>
                  <a:srgbClr val="2B59C3"/>
                </a:solidFill>
              </a:rPr>
              <a:t>• </a:t>
            </a:r>
            <a:r>
              <a:rPr sz="1500" b="0">
                <a:solidFill>
                  <a:srgbClr val="1F2A37"/>
                </a:solidFill>
              </a:rPr>
              <a:t>사용자 피드백을 통한 서비스 개선</a:t>
            </a:r>
          </a:p>
          <a:p>
            <a:pPr>
              <a:spcAft>
                <a:spcPts val="400"/>
              </a:spcAft>
            </a:pPr>
            <a:r>
              <a:rPr sz="1500">
                <a:solidFill>
                  <a:srgbClr val="2B59C3"/>
                </a:solidFill>
              </a:rPr>
              <a:t>• </a:t>
            </a:r>
            <a:r>
              <a:rPr sz="1500" b="0">
                <a:solidFill>
                  <a:srgbClr val="1F2A37"/>
                </a:solidFill>
              </a:rPr>
              <a:t>진로 관련 온라인 커뮤니티 운영</a:t>
            </a:r>
          </a:p>
          <a:p>
            <a:pPr>
              <a:spcAft>
                <a:spcPts val="400"/>
              </a:spcAft>
            </a:pPr>
            <a:r>
              <a:rPr sz="1500">
                <a:solidFill>
                  <a:srgbClr val="2B59C3"/>
                </a:solidFill>
              </a:rPr>
              <a:t>• </a:t>
            </a:r>
            <a:r>
              <a:rPr sz="1500" b="0">
                <a:solidFill>
                  <a:srgbClr val="1F2A37"/>
                </a:solidFill>
              </a:rPr>
              <a:t>진로 설계 워크숍 개최</a:t>
            </a:r>
          </a:p>
          <a:p>
            <a:pPr>
              <a:spcAft>
                <a:spcPts val="400"/>
              </a:spcAft>
            </a:pPr>
            <a:r>
              <a:rPr sz="1500">
                <a:solidFill>
                  <a:srgbClr val="2B59C3"/>
                </a:solidFill>
              </a:rPr>
              <a:t>• </a:t>
            </a:r>
            <a:r>
              <a:rPr sz="1500" b="0">
                <a:solidFill>
                  <a:srgbClr val="1F2A37"/>
                </a:solidFill>
              </a:rPr>
              <a:t>모바일 앱으로 서비스 제공</a:t>
            </a:r>
          </a:p>
          <a:p>
            <a:pPr>
              <a:spcAft>
                <a:spcPts val="400"/>
              </a:spcAft>
            </a:pPr>
            <a:r>
              <a:rPr sz="1500">
                <a:solidFill>
                  <a:srgbClr val="2B59C3"/>
                </a:solidFill>
              </a:rPr>
              <a:t>• </a:t>
            </a:r>
            <a:r>
              <a:rPr sz="1500" b="0">
                <a:solidFill>
                  <a:srgbClr val="1F2A37"/>
                </a:solidFill>
              </a:rPr>
              <a:t>AI 기반의 진로 설계 시뮬레이션 기능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2. Lean Canvas (계속)</a:t>
            </a:r>
          </a:p>
        </p:txBody>
      </p:sp>
      <p:sp>
        <p:nvSpPr>
          <p:cNvPr id="3" name="TextBox 2"/>
          <p:cNvSpPr txBox="1"/>
          <p:nvPr/>
        </p:nvSpPr>
        <p:spPr>
          <a:xfrm>
            <a:off x="640080" y="1417320"/>
            <a:ext cx="10908792" cy="4873752"/>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사용자 맞춤형 학습 계획 제안</a:t>
            </a:r>
          </a:p>
          <a:p>
            <a:pPr>
              <a:spcAft>
                <a:spcPts val="400"/>
              </a:spcAft>
            </a:pPr>
            <a:r>
              <a:rPr sz="1500">
                <a:solidFill>
                  <a:srgbClr val="2B59C3"/>
                </a:solidFill>
              </a:rPr>
              <a:t>• </a:t>
            </a:r>
            <a:r>
              <a:rPr sz="1500" b="0">
                <a:solidFill>
                  <a:srgbClr val="1F2A37"/>
                </a:solidFill>
              </a:rPr>
              <a:t>소셜 미디어를 통한 마케팅 전략 수립</a:t>
            </a:r>
          </a:p>
          <a:p>
            <a:pPr>
              <a:spcAft>
                <a:spcPts val="400"/>
              </a:spcAft>
            </a:pPr>
            <a:r>
              <a:rPr sz="1500">
                <a:solidFill>
                  <a:srgbClr val="2B59C3"/>
                </a:solidFill>
              </a:rPr>
              <a:t>• </a:t>
            </a:r>
            <a:r>
              <a:rPr sz="1500" b="0">
                <a:solidFill>
                  <a:srgbClr val="1F2A37"/>
                </a:solidFill>
              </a:rPr>
              <a:t>정부 지원 프로그램과의 연계</a:t>
            </a:r>
          </a:p>
          <a:p>
            <a:pPr>
              <a:spcAft>
                <a:spcPts val="400"/>
              </a:spcAft>
            </a:pPr>
            <a:r>
              <a:rPr sz="1500">
                <a:solidFill>
                  <a:srgbClr val="2B59C3"/>
                </a:solidFill>
              </a:rPr>
              <a:t>• </a:t>
            </a:r>
            <a:r>
              <a:rPr sz="1500" b="0">
                <a:solidFill>
                  <a:srgbClr val="1F2A37"/>
                </a:solidFill>
              </a:rPr>
              <a:t>AI 기술의 신뢰성 향상을 위한 사용자 교육</a:t>
            </a:r>
          </a:p>
          <a:p>
            <a:pPr>
              <a:spcAft>
                <a:spcPts val="400"/>
              </a:spcAft>
            </a:pPr>
            <a:r>
              <a:rPr sz="1500">
                <a:solidFill>
                  <a:srgbClr val="2B59C3"/>
                </a:solidFill>
              </a:rPr>
              <a:t>• </a:t>
            </a:r>
            <a:r>
              <a:rPr sz="1500" b="0">
                <a:solidFill>
                  <a:srgbClr val="1F2A37"/>
                </a:solidFill>
              </a:rPr>
              <a:t>대학생 진로 설계 관련 콘텐츠 제작</a:t>
            </a:r>
          </a:p>
          <a:p>
            <a:pPr>
              <a:spcAft>
                <a:spcPts val="400"/>
              </a:spcAft>
            </a:pPr>
            <a:r>
              <a:rPr sz="1500">
                <a:solidFill>
                  <a:srgbClr val="2B59C3"/>
                </a:solidFill>
              </a:rPr>
              <a:t>• </a:t>
            </a:r>
            <a:r>
              <a:rPr sz="1500" b="0">
                <a:solidFill>
                  <a:srgbClr val="1F2A37"/>
                </a:solidFill>
              </a:rPr>
              <a:t>사용자 경험을 개선하기 위한 UI/UX 디자인 개선</a:t>
            </a:r>
          </a:p>
          <a:p>
            <a:pPr>
              <a:spcAft>
                <a:spcPts val="400"/>
              </a:spcAft>
            </a:pPr>
            <a:r>
              <a:rPr sz="1500">
                <a:solidFill>
                  <a:srgbClr val="2B59C3"/>
                </a:solidFill>
              </a:rPr>
              <a:t>• </a:t>
            </a:r>
            <a:r>
              <a:rPr sz="1500" b="0">
                <a:solidFill>
                  <a:srgbClr val="1F2A37"/>
                </a:solidFill>
              </a:rPr>
              <a:t>진로 관련 데이터 분석 서비스 제공</a:t>
            </a:r>
          </a:p>
          <a:p>
            <a:pPr>
              <a:spcAft>
                <a:spcPts val="400"/>
              </a:spcAft>
            </a:pPr>
            <a:r>
              <a:rPr sz="1500">
                <a:solidFill>
                  <a:srgbClr val="2B59C3"/>
                </a:solidFill>
              </a:rPr>
              <a:t>• </a:t>
            </a:r>
            <a:r>
              <a:rPr sz="1500" b="0">
                <a:solidFill>
                  <a:srgbClr val="1F2A37"/>
                </a:solidFill>
              </a:rPr>
              <a:t>사용자 맞춤형 멘토링 프로그램 운영</a:t>
            </a:r>
          </a:p>
          <a:p>
            <a:pPr>
              <a:spcAft>
                <a:spcPts val="400"/>
              </a:spcAft>
            </a:pPr>
            <a:r>
              <a:rPr sz="1500">
                <a:solidFill>
                  <a:srgbClr val="2B59C3"/>
                </a:solidFill>
              </a:rPr>
              <a:t>• </a:t>
            </a:r>
            <a:r>
              <a:rPr sz="1500" b="0">
                <a:solidFill>
                  <a:srgbClr val="1F2A37"/>
                </a:solidFill>
              </a:rPr>
              <a:t>진로 설계에 대한 성공 사례 공유</a:t>
            </a:r>
          </a:p>
          <a:p>
            <a:pPr>
              <a:spcAft>
                <a:spcPts val="400"/>
              </a:spcAft>
            </a:pPr>
            <a:r>
              <a:rPr sz="1500">
                <a:solidFill>
                  <a:srgbClr val="2B59C3"/>
                </a:solidFill>
              </a:rPr>
              <a:t>• </a:t>
            </a:r>
            <a:r>
              <a:rPr sz="1500" b="0">
                <a:solidFill>
                  <a:srgbClr val="1F2A37"/>
                </a:solidFill>
              </a:rPr>
              <a:t>AI 기술을 활용한 진로 탐색 게임 개발</a:t>
            </a:r>
          </a:p>
          <a:p>
            <a:pPr>
              <a:spcAft>
                <a:spcPts val="400"/>
              </a:spcAft>
            </a:pPr>
            <a:r>
              <a:rPr sz="1500">
                <a:solidFill>
                  <a:srgbClr val="2B59C3"/>
                </a:solidFill>
              </a:rPr>
              <a:t>• </a:t>
            </a:r>
            <a:r>
              <a:rPr sz="1500" b="0">
                <a:solidFill>
                  <a:srgbClr val="1F2A37"/>
                </a:solidFill>
              </a:rPr>
              <a:t>대학생 대상 설문조사를 통한 니즈 파악</a:t>
            </a:r>
          </a:p>
          <a:p>
            <a:pPr>
              <a:spcAft>
                <a:spcPts val="400"/>
              </a:spcAft>
            </a:pPr>
            <a:r>
              <a:rPr sz="1500">
                <a:solidFill>
                  <a:srgbClr val="2B59C3"/>
                </a:solidFill>
              </a:rPr>
              <a:t>• </a:t>
            </a:r>
            <a:r>
              <a:rPr sz="1500" b="0">
                <a:solidFill>
                  <a:srgbClr val="1F2A37"/>
                </a:solidFill>
              </a:rPr>
              <a:t>진로 관련 세미나 및 컨퍼런스 개최</a:t>
            </a:r>
          </a:p>
          <a:p>
            <a:pPr>
              <a:spcAft>
                <a:spcPts val="400"/>
              </a:spcAft>
            </a:pPr>
            <a:r>
              <a:rPr sz="1500">
                <a:solidFill>
                  <a:srgbClr val="2B59C3"/>
                </a:solidFill>
              </a:rPr>
              <a:t>• </a:t>
            </a:r>
            <a:r>
              <a:rPr sz="1500" b="0">
                <a:solidFill>
                  <a:srgbClr val="1F2A37"/>
                </a:solidFill>
              </a:rPr>
              <a:t>AI 기반의 진로 설계 피드백 시스템 구축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2. Lean Canvas (계속)</a:t>
            </a:r>
          </a:p>
        </p:txBody>
      </p:sp>
      <p:sp>
        <p:nvSpPr>
          <p:cNvPr id="3" name="TextBox 2"/>
          <p:cNvSpPr txBox="1"/>
          <p:nvPr/>
        </p:nvSpPr>
        <p:spPr>
          <a:xfrm>
            <a:off x="640080" y="1417320"/>
            <a:ext cx="10908792" cy="768096"/>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비교과 프로그램 추천 기능 추가</a:t>
            </a:r>
          </a:p>
          <a:p>
            <a:pPr>
              <a:spcAft>
                <a:spcPts val="400"/>
              </a:spcAft>
            </a:pPr>
            <a:r>
              <a:rPr sz="1500" b="1">
                <a:solidFill>
                  <a:srgbClr val="1F2A37"/>
                </a:solidFill>
              </a:rPr>
              <a:t>압축 후보 3개 (실현가능성·시장성·차별성 평가)</a:t>
            </a:r>
          </a:p>
        </p:txBody>
      </p:sp>
      <p:graphicFrame>
        <p:nvGraphicFramePr>
          <p:cNvPr id="4" name="Table 3"/>
          <p:cNvGraphicFramePr>
            <a:graphicFrameLocks noGrp="1"/>
          </p:cNvGraphicFramePr>
          <p:nvPr/>
        </p:nvGraphicFramePr>
        <p:xfrm>
          <a:off x="640080" y="2185416"/>
          <a:ext cx="10908792" cy="1453895"/>
        </p:xfrm>
        <a:graphic>
          <a:graphicData uri="http://schemas.openxmlformats.org/drawingml/2006/table">
            <a:tbl>
              <a:tblPr firstRow="1" bandRow="1">
                <a:tableStyleId>{5C22544A-7EE6-4342-B048-85BDC9FD1C3A}</a:tableStyleId>
              </a:tblPr>
              <a:tblGrid>
                <a:gridCol w="2181758"/>
                <a:gridCol w="2181758"/>
                <a:gridCol w="2181758"/>
                <a:gridCol w="2181758"/>
                <a:gridCol w="2181760"/>
              </a:tblGrid>
              <a:tr h="363473">
                <a:tc>
                  <a:txBody>
                    <a:bodyPr/>
                    <a:lstStyle/>
                    <a:p>
                      <a:pPr algn="ctr"/>
                      <a:r>
                        <a:rPr sz="1100" b="1">
                          <a:solidFill>
                            <a:srgbClr val="FFFFFF"/>
                          </a:solidFill>
                        </a:rPr>
                        <a:t>후보 컨셉</a:t>
                      </a:r>
                    </a:p>
                  </a:txBody>
                  <a:tcPr>
                    <a:solidFill>
                      <a:srgbClr val="2B59C3"/>
                    </a:solidFill>
                  </a:tcPr>
                </a:tc>
                <a:tc>
                  <a:txBody>
                    <a:bodyPr/>
                    <a:lstStyle/>
                    <a:p>
                      <a:pPr algn="ctr"/>
                      <a:r>
                        <a:rPr sz="1100" b="1">
                          <a:solidFill>
                            <a:srgbClr val="FFFFFF"/>
                          </a:solidFill>
                        </a:rPr>
                        <a:t>실현가능성</a:t>
                      </a:r>
                    </a:p>
                  </a:txBody>
                  <a:tcPr>
                    <a:solidFill>
                      <a:srgbClr val="2B59C3"/>
                    </a:solidFill>
                  </a:tcPr>
                </a:tc>
                <a:tc>
                  <a:txBody>
                    <a:bodyPr/>
                    <a:lstStyle/>
                    <a:p>
                      <a:pPr algn="ctr"/>
                      <a:r>
                        <a:rPr sz="1100" b="1">
                          <a:solidFill>
                            <a:srgbClr val="FFFFFF"/>
                          </a:solidFill>
                        </a:rPr>
                        <a:t>시장성</a:t>
                      </a:r>
                    </a:p>
                  </a:txBody>
                  <a:tcPr>
                    <a:solidFill>
                      <a:srgbClr val="2B59C3"/>
                    </a:solidFill>
                  </a:tcPr>
                </a:tc>
                <a:tc>
                  <a:txBody>
                    <a:bodyPr/>
                    <a:lstStyle/>
                    <a:p>
                      <a:pPr algn="ctr"/>
                      <a:r>
                        <a:rPr sz="1100" b="1">
                          <a:solidFill>
                            <a:srgbClr val="FFFFFF"/>
                          </a:solidFill>
                        </a:rPr>
                        <a:t>차별성</a:t>
                      </a:r>
                    </a:p>
                  </a:txBody>
                  <a:tcPr>
                    <a:solidFill>
                      <a:srgbClr val="2B59C3"/>
                    </a:solidFill>
                  </a:tcPr>
                </a:tc>
                <a:tc>
                  <a:txBody>
                    <a:bodyPr/>
                    <a:lstStyle/>
                    <a:p>
                      <a:pPr algn="ctr"/>
                      <a:r>
                        <a:rPr sz="1100" b="1">
                          <a:solidFill>
                            <a:srgbClr val="FFFFFF"/>
                          </a:solidFill>
                        </a:rPr>
                        <a:t>남긴 이유</a:t>
                      </a:r>
                    </a:p>
                  </a:txBody>
                  <a:tcPr>
                    <a:solidFill>
                      <a:srgbClr val="2B59C3"/>
                    </a:solidFill>
                  </a:tcPr>
                </a:tc>
              </a:tr>
              <a:tr h="363473">
                <a:tc>
                  <a:txBody>
                    <a:bodyPr/>
                    <a:lstStyle/>
                    <a:p>
                      <a:r>
                        <a:rPr sz="1100" b="0">
                          <a:solidFill>
                            <a:srgbClr val="1F2A37"/>
                          </a:solidFill>
                        </a:rPr>
                        <a:t>AI 기반 진로 상담 챗봇 개발</a:t>
                      </a:r>
                    </a:p>
                  </a:txBody>
                  <a:tcPr>
                    <a:solidFill>
                      <a:srgbClr val="FFFFFF"/>
                    </a:solidFill>
                  </a:tcPr>
                </a:tc>
                <a:tc>
                  <a:txBody>
                    <a:bodyPr/>
                    <a:lstStyle/>
                    <a:p>
                      <a:r>
                        <a:rPr sz="1100" b="0">
                          <a:solidFill>
                            <a:srgbClr val="1F2A37"/>
                          </a:solidFill>
                        </a:rPr>
                        <a:t>AI 기술 발전으로 구현 가능성이 높음.</a:t>
                      </a:r>
                    </a:p>
                  </a:txBody>
                  <a:tcPr>
                    <a:solidFill>
                      <a:srgbClr val="FFFFFF"/>
                    </a:solidFill>
                  </a:tcPr>
                </a:tc>
                <a:tc>
                  <a:txBody>
                    <a:bodyPr/>
                    <a:lstStyle/>
                    <a:p>
                      <a:r>
                        <a:rPr sz="1100" b="0">
                          <a:solidFill>
                            <a:srgbClr val="1F2A37"/>
                          </a:solidFill>
                        </a:rPr>
                        <a:t>대학생들의 진로 상담 수요 증가로 시장성 높음.</a:t>
                      </a:r>
                    </a:p>
                  </a:txBody>
                  <a:tcPr>
                    <a:solidFill>
                      <a:srgbClr val="FFFFFF"/>
                    </a:solidFill>
                  </a:tcPr>
                </a:tc>
                <a:tc>
                  <a:txBody>
                    <a:bodyPr/>
                    <a:lstStyle/>
                    <a:p>
                      <a:r>
                        <a:rPr sz="1100" b="0">
                          <a:solidFill>
                            <a:srgbClr val="1F2A37"/>
                          </a:solidFill>
                        </a:rPr>
                        <a:t>실시간 상담 제공으로 경쟁 서비스와 차별화.</a:t>
                      </a:r>
                    </a:p>
                  </a:txBody>
                  <a:tcPr>
                    <a:solidFill>
                      <a:srgbClr val="FFFFFF"/>
                    </a:solidFill>
                  </a:tcPr>
                </a:tc>
                <a:tc>
                  <a:txBody>
                    <a:bodyPr/>
                    <a:lstStyle/>
                    <a:p>
                      <a:r>
                        <a:rPr sz="1100" b="0">
                          <a:solidFill>
                            <a:srgbClr val="1F2A37"/>
                          </a:solidFill>
                        </a:rPr>
                        <a:t>사용자 맞춤형 서비스 제공 가능성이 높아 선택됨.</a:t>
                      </a:r>
                    </a:p>
                  </a:txBody>
                  <a:tcPr>
                    <a:solidFill>
                      <a:srgbClr val="FFFFFF"/>
                    </a:solidFill>
                  </a:tcPr>
                </a:tc>
              </a:tr>
              <a:tr h="363473">
                <a:tc>
                  <a:txBody>
                    <a:bodyPr/>
                    <a:lstStyle/>
                    <a:p>
                      <a:r>
                        <a:rPr sz="1100" b="0">
                          <a:solidFill>
                            <a:srgbClr val="1F2A37"/>
                          </a:solidFill>
                        </a:rPr>
                        <a:t>사용자 맞춤형 진로 경로 추천 알고리즘</a:t>
                      </a:r>
                    </a:p>
                  </a:txBody>
                  <a:tcPr>
                    <a:solidFill>
                      <a:srgbClr val="EEF2FB"/>
                    </a:solidFill>
                  </a:tcPr>
                </a:tc>
                <a:tc>
                  <a:txBody>
                    <a:bodyPr/>
                    <a:lstStyle/>
                    <a:p>
                      <a:r>
                        <a:rPr sz="1100" b="0">
                          <a:solidFill>
                            <a:srgbClr val="1F2A37"/>
                          </a:solidFill>
                        </a:rPr>
                        <a:t>데이터 기반 알고리즘 개발이 가능함.</a:t>
                      </a:r>
                    </a:p>
                  </a:txBody>
                  <a:tcPr>
                    <a:solidFill>
                      <a:srgbClr val="EEF2FB"/>
                    </a:solidFill>
                  </a:tcPr>
                </a:tc>
                <a:tc>
                  <a:txBody>
                    <a:bodyPr/>
                    <a:lstStyle/>
                    <a:p>
                      <a:r>
                        <a:rPr sz="1100" b="0">
                          <a:solidFill>
                            <a:srgbClr val="1F2A37"/>
                          </a:solidFill>
                        </a:rPr>
                        <a:t>맞춤형 서비스에 대한 수요가 증가하고 있음.</a:t>
                      </a:r>
                    </a:p>
                  </a:txBody>
                  <a:tcPr>
                    <a:solidFill>
                      <a:srgbClr val="EEF2FB"/>
                    </a:solidFill>
                  </a:tcPr>
                </a:tc>
                <a:tc>
                  <a:txBody>
                    <a:bodyPr/>
                    <a:lstStyle/>
                    <a:p>
                      <a:r>
                        <a:rPr sz="1100" b="0">
                          <a:solidFill>
                            <a:srgbClr val="1F2A37"/>
                          </a:solidFill>
                        </a:rPr>
                        <a:t>개인화된 경로 추천으로 경쟁 우위 확보.</a:t>
                      </a:r>
                    </a:p>
                  </a:txBody>
                  <a:tcPr>
                    <a:solidFill>
                      <a:srgbClr val="EEF2FB"/>
                    </a:solidFill>
                  </a:tcPr>
                </a:tc>
                <a:tc>
                  <a:txBody>
                    <a:bodyPr/>
                    <a:lstStyle/>
                    <a:p>
                      <a:r>
                        <a:rPr sz="1100" b="0">
                          <a:solidFill>
                            <a:srgbClr val="1F2A37"/>
                          </a:solidFill>
                        </a:rPr>
                        <a:t>대학생의 진로 선택에 직접적인 도움을 줄 수 있어 선택됨.</a:t>
                      </a:r>
                    </a:p>
                  </a:txBody>
                  <a:tcPr>
                    <a:solidFill>
                      <a:srgbClr val="EEF2FB"/>
                    </a:solidFill>
                  </a:tcPr>
                </a:tc>
              </a:tr>
              <a:tr h="363476">
                <a:tc>
                  <a:txBody>
                    <a:bodyPr/>
                    <a:lstStyle/>
                    <a:p>
                      <a:r>
                        <a:rPr sz="1100" b="0">
                          <a:solidFill>
                            <a:srgbClr val="1F2A37"/>
                          </a:solidFill>
                        </a:rPr>
                        <a:t>AI 진로 검사 서비스 제공</a:t>
                      </a:r>
                    </a:p>
                  </a:txBody>
                  <a:tcPr>
                    <a:solidFill>
                      <a:srgbClr val="FFFFFF"/>
                    </a:solidFill>
                  </a:tcPr>
                </a:tc>
                <a:tc>
                  <a:txBody>
                    <a:bodyPr/>
                    <a:lstStyle/>
                    <a:p>
                      <a:r>
                        <a:rPr sz="1100" b="0">
                          <a:solidFill>
                            <a:srgbClr val="1F2A37"/>
                          </a:solidFill>
                        </a:rPr>
                        <a:t>기존 AI 검사 모델을 활용할 수 있음.</a:t>
                      </a:r>
                    </a:p>
                  </a:txBody>
                  <a:tcPr>
                    <a:solidFill>
                      <a:srgbClr val="FFFFFF"/>
                    </a:solidFill>
                  </a:tcPr>
                </a:tc>
                <a:tc>
                  <a:txBody>
                    <a:bodyPr/>
                    <a:lstStyle/>
                    <a:p>
                      <a:r>
                        <a:rPr sz="1100" b="0">
                          <a:solidFill>
                            <a:srgbClr val="1F2A37"/>
                          </a:solidFill>
                        </a:rPr>
                        <a:t>높은 사용자 만족도로 시장성이 있음.</a:t>
                      </a:r>
                    </a:p>
                  </a:txBody>
                  <a:tcPr>
                    <a:solidFill>
                      <a:srgbClr val="FFFFFF"/>
                    </a:solidFill>
                  </a:tcPr>
                </a:tc>
                <a:tc>
                  <a:txBody>
                    <a:bodyPr/>
                    <a:lstStyle/>
                    <a:p>
                      <a:r>
                        <a:rPr sz="1100" b="0">
                          <a:solidFill>
                            <a:srgbClr val="1F2A37"/>
                          </a:solidFill>
                        </a:rPr>
                        <a:t>정확한 진로 검사 결과 제공으로 차별화.</a:t>
                      </a:r>
                    </a:p>
                  </a:txBody>
                  <a:tcPr>
                    <a:solidFill>
                      <a:srgbClr val="FFFFFF"/>
                    </a:solidFill>
                  </a:tcPr>
                </a:tc>
                <a:tc>
                  <a:txBody>
                    <a:bodyPr/>
                    <a:lstStyle/>
                    <a:p>
                      <a:r>
                        <a:rPr sz="1100" b="0">
                          <a:solidFill>
                            <a:srgbClr val="1F2A37"/>
                          </a:solidFill>
                        </a:rPr>
                        <a:t>사용자 경험을 개선하고 서비스 신뢰성을 높일 수 있어 선택됨.</a:t>
                      </a:r>
                    </a:p>
                  </a:txBody>
                  <a:tcPr>
                    <a:solidFill>
                      <a:srgbClr val="FFFFFF"/>
                    </a:solidFill>
                  </a:tcPr>
                </a:tc>
              </a:tr>
            </a:tbl>
          </a:graphicData>
        </a:graphic>
      </p:graphicFrame>
      <p:sp>
        <p:nvSpPr>
          <p:cNvPr id="5" name="TextBox 4"/>
          <p:cNvSpPr txBox="1"/>
          <p:nvPr/>
        </p:nvSpPr>
        <p:spPr>
          <a:xfrm>
            <a:off x="640080" y="3776471"/>
            <a:ext cx="10908792" cy="1371600"/>
          </a:xfrm>
          <a:prstGeom prst="rect">
            <a:avLst/>
          </a:prstGeom>
          <a:noFill/>
        </p:spPr>
        <p:txBody>
          <a:bodyPr wrap="square" anchor="t">
            <a:spAutoFit/>
          </a:bodyPr>
          <a:lstStyle/>
          <a:p>
            <a:pPr>
              <a:spcAft>
                <a:spcPts val="400"/>
              </a:spcAft>
            </a:pPr>
            <a:r>
              <a:rPr sz="1500" b="1">
                <a:solidFill>
                  <a:srgbClr val="1F2A37"/>
                </a:solidFill>
              </a:rPr>
              <a:t>최종 컨셉</a:t>
            </a:r>
          </a:p>
          <a:p>
            <a:pPr>
              <a:spcAft>
                <a:spcPts val="400"/>
              </a:spcAft>
            </a:pPr>
            <a:r>
              <a:rPr sz="1500" b="0">
                <a:solidFill>
                  <a:srgbClr val="1F2A37"/>
                </a:solidFill>
              </a:rPr>
              <a:t>AI 기반 진로 상담 챗봇 개발은 실시간으로 대학생들에게 맞춤형 진로 상담을 제공하여, 경쟁 서비스와의 차별성을 확보하고 사용자 만족도를 높일 수 있는 가능성이 크기 때문에 최종 서비스 컨셉으로 선택되었습니다.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3. 고객 리서치 패키지</a:t>
            </a:r>
          </a:p>
        </p:txBody>
      </p:sp>
      <p:sp>
        <p:nvSpPr>
          <p:cNvPr id="3" name="TextBox 2"/>
          <p:cNvSpPr txBox="1"/>
          <p:nvPr/>
        </p:nvSpPr>
        <p:spPr>
          <a:xfrm>
            <a:off x="640080" y="1417320"/>
            <a:ext cx="10908792" cy="932688"/>
          </a:xfrm>
          <a:prstGeom prst="rect">
            <a:avLst/>
          </a:prstGeom>
          <a:noFill/>
        </p:spPr>
        <p:txBody>
          <a:bodyPr wrap="square" anchor="t">
            <a:spAutoFit/>
          </a:bodyPr>
          <a:lstStyle/>
          <a:p>
            <a:pPr>
              <a:spcBef>
                <a:spcPts val="600"/>
              </a:spcBef>
              <a:spcAft>
                <a:spcPts val="400"/>
              </a:spcAft>
            </a:pPr>
            <a:r>
              <a:rPr sz="1700" b="1">
                <a:solidFill>
                  <a:srgbClr val="2B59C3"/>
                </a:solidFill>
              </a:rPr>
              <a:t>페르소나 (가설형 — 인터뷰 미검증)</a:t>
            </a:r>
          </a:p>
          <a:p>
            <a:pPr>
              <a:spcBef>
                <a:spcPts val="600"/>
              </a:spcBef>
              <a:spcAft>
                <a:spcPts val="400"/>
              </a:spcAft>
            </a:pPr>
            <a:r>
              <a:rPr sz="1700" b="1">
                <a:solidFill>
                  <a:srgbClr val="2B59C3"/>
                </a:solidFill>
              </a:rPr>
              <a:t>진로 불확실성 학생</a:t>
            </a:r>
          </a:p>
        </p:txBody>
      </p:sp>
      <p:graphicFrame>
        <p:nvGraphicFramePr>
          <p:cNvPr id="4" name="Table 3"/>
          <p:cNvGraphicFramePr>
            <a:graphicFrameLocks noGrp="1"/>
          </p:cNvGraphicFramePr>
          <p:nvPr/>
        </p:nvGraphicFramePr>
        <p:xfrm>
          <a:off x="640080" y="2350008"/>
          <a:ext cx="10908792" cy="2112264"/>
        </p:xfrm>
        <a:graphic>
          <a:graphicData uri="http://schemas.openxmlformats.org/drawingml/2006/table">
            <a:tbl>
              <a:tblPr firstRow="1" bandRow="1">
                <a:tableStyleId>{5C22544A-7EE6-4342-B048-85BDC9FD1C3A}</a:tableStyleId>
              </a:tblPr>
              <a:tblGrid>
                <a:gridCol w="5454396"/>
                <a:gridCol w="5454396"/>
              </a:tblGrid>
              <a:tr h="352044">
                <a:tc>
                  <a:txBody>
                    <a:bodyPr/>
                    <a:lstStyle/>
                    <a:p>
                      <a:pPr algn="ctr"/>
                      <a:r>
                        <a:rPr sz="1100" b="1">
                          <a:solidFill>
                            <a:srgbClr val="FFFFFF"/>
                          </a:solidFill>
                        </a:rPr>
                        <a:t>항목</a:t>
                      </a:r>
                    </a:p>
                  </a:txBody>
                  <a:tcPr>
                    <a:solidFill>
                      <a:srgbClr val="2B59C3"/>
                    </a:solidFill>
                  </a:tcPr>
                </a:tc>
                <a:tc>
                  <a:txBody>
                    <a:bodyPr/>
                    <a:lstStyle/>
                    <a:p>
                      <a:pPr algn="ctr"/>
                      <a:r>
                        <a:rPr sz="1100" b="1">
                          <a:solidFill>
                            <a:srgbClr val="FFFFFF"/>
                          </a:solidFill>
                        </a:rPr>
                        <a:t>내용</a:t>
                      </a:r>
                    </a:p>
                  </a:txBody>
                  <a:tcPr>
                    <a:solidFill>
                      <a:srgbClr val="2B59C3"/>
                    </a:solidFill>
                  </a:tcPr>
                </a:tc>
              </a:tr>
              <a:tr h="352044">
                <a:tc>
                  <a:txBody>
                    <a:bodyPr/>
                    <a:lstStyle/>
                    <a:p>
                      <a:r>
                        <a:rPr sz="1100" b="0">
                          <a:solidFill>
                            <a:srgbClr val="1F2A37"/>
                          </a:solidFill>
                        </a:rPr>
                        <a:t>인구통계</a:t>
                      </a:r>
                    </a:p>
                  </a:txBody>
                  <a:tcPr>
                    <a:solidFill>
                      <a:srgbClr val="FFFFFF"/>
                    </a:solidFill>
                  </a:tcPr>
                </a:tc>
                <a:tc>
                  <a:txBody>
                    <a:bodyPr/>
                    <a:lstStyle/>
                    <a:p>
                      <a:r>
                        <a:rPr sz="1100" b="0">
                          <a:solidFill>
                            <a:srgbClr val="1F2A37"/>
                          </a:solidFill>
                        </a:rPr>
                        <a:t>22세, 대학교 2학년, 월 소득 없음, 서울 거주</a:t>
                      </a:r>
                    </a:p>
                  </a:txBody>
                  <a:tcPr>
                    <a:solidFill>
                      <a:srgbClr val="FFFFFF"/>
                    </a:solidFill>
                  </a:tcPr>
                </a:tc>
              </a:tr>
              <a:tr h="352044">
                <a:tc>
                  <a:txBody>
                    <a:bodyPr/>
                    <a:lstStyle/>
                    <a:p>
                      <a:r>
                        <a:rPr sz="1100" b="0">
                          <a:solidFill>
                            <a:srgbClr val="1F2A37"/>
                          </a:solidFill>
                        </a:rPr>
                        <a:t>행동 패턴</a:t>
                      </a:r>
                    </a:p>
                  </a:txBody>
                  <a:tcPr>
                    <a:solidFill>
                      <a:srgbClr val="EEF2FB"/>
                    </a:solidFill>
                  </a:tcPr>
                </a:tc>
                <a:tc>
                  <a:txBody>
                    <a:bodyPr/>
                    <a:lstStyle/>
                    <a:p>
                      <a:r>
                        <a:rPr sz="1100" b="0">
                          <a:solidFill>
                            <a:srgbClr val="1F2A37"/>
                          </a:solidFill>
                        </a:rPr>
                        <a:t>일상적으로 SNS와 학습 플랫폼을 사용하며, 진로 관련 정보를 검색함. 의사결정 시 친구나 교수의 조언을 중시함.</a:t>
                      </a:r>
                    </a:p>
                  </a:txBody>
                  <a:tcPr>
                    <a:solidFill>
                      <a:srgbClr val="EEF2FB"/>
                    </a:solidFill>
                  </a:tcPr>
                </a:tc>
              </a:tr>
              <a:tr h="352044">
                <a:tc>
                  <a:txBody>
                    <a:bodyPr/>
                    <a:lstStyle/>
                    <a:p>
                      <a:r>
                        <a:rPr sz="1100" b="0">
                          <a:solidFill>
                            <a:srgbClr val="1F2A37"/>
                          </a:solidFill>
                        </a:rPr>
                        <a:t>Goal·동기</a:t>
                      </a:r>
                    </a:p>
                  </a:txBody>
                  <a:tcPr>
                    <a:solidFill>
                      <a:srgbClr val="FFFFFF"/>
                    </a:solidFill>
                  </a:tcPr>
                </a:tc>
                <a:tc>
                  <a:txBody>
                    <a:bodyPr/>
                    <a:lstStyle/>
                    <a:p>
                      <a:r>
                        <a:rPr sz="1100" b="0">
                          <a:solidFill>
                            <a:srgbClr val="1F2A37"/>
                          </a:solidFill>
                        </a:rPr>
                        <a:t>자신의 전공과 관심사에 맞는 진로 경로를 찾고, 필요한 경험과 학습을 계획하고자 함.</a:t>
                      </a:r>
                    </a:p>
                  </a:txBody>
                  <a:tcPr>
                    <a:solidFill>
                      <a:srgbClr val="FFFFFF"/>
                    </a:solidFill>
                  </a:tcPr>
                </a:tc>
              </a:tr>
              <a:tr h="352044">
                <a:tc>
                  <a:txBody>
                    <a:bodyPr/>
                    <a:lstStyle/>
                    <a:p>
                      <a:r>
                        <a:rPr sz="1100" b="0">
                          <a:solidFill>
                            <a:srgbClr val="1F2A37"/>
                          </a:solidFill>
                        </a:rPr>
                        <a:t>Pain Point</a:t>
                      </a:r>
                    </a:p>
                  </a:txBody>
                  <a:tcPr>
                    <a:solidFill>
                      <a:srgbClr val="EEF2FB"/>
                    </a:solidFill>
                  </a:tcPr>
                </a:tc>
                <a:tc>
                  <a:txBody>
                    <a:bodyPr/>
                    <a:lstStyle/>
                    <a:p>
                      <a:r>
                        <a:rPr sz="1100" b="0">
                          <a:solidFill>
                            <a:srgbClr val="1F2A37"/>
                          </a:solidFill>
                        </a:rPr>
                        <a:t>진로 정보가 흩어져 있어 어떤 경로를 선택해야 할지 판단하기 어려움. 맞춤형 경로 설계 도구의 부족.</a:t>
                      </a:r>
                    </a:p>
                  </a:txBody>
                  <a:tcPr>
                    <a:solidFill>
                      <a:srgbClr val="EEF2FB"/>
                    </a:solidFill>
                  </a:tcPr>
                </a:tc>
              </a:tr>
              <a:tr h="352044">
                <a:tc>
                  <a:txBody>
                    <a:bodyPr/>
                    <a:lstStyle/>
                    <a:p>
                      <a:r>
                        <a:rPr sz="1100" b="0">
                          <a:solidFill>
                            <a:srgbClr val="1F2A37"/>
                          </a:solidFill>
                        </a:rPr>
                        <a:t>기대·거부 요인</a:t>
                      </a:r>
                    </a:p>
                  </a:txBody>
                  <a:tcPr>
                    <a:solidFill>
                      <a:srgbClr val="FFFFFF"/>
                    </a:solidFill>
                  </a:tcPr>
                </a:tc>
                <a:tc>
                  <a:txBody>
                    <a:bodyPr/>
                    <a:lstStyle/>
                    <a:p>
                      <a:r>
                        <a:rPr sz="1100" b="0">
                          <a:solidFill>
                            <a:srgbClr val="1F2A37"/>
                          </a:solidFill>
                        </a:rPr>
                        <a:t>AI를 통한 개인 맞춤형 진로 상담을 통해 명확한 경로를 제시받고 싶음. 복잡한 정보가 아닌 간단하고 명확한 솔루션을 원함.</a:t>
                      </a:r>
                    </a:p>
                  </a:txBody>
                  <a:tcPr>
                    <a:solidFill>
                      <a:srgbClr val="FFFFFF"/>
                    </a:solidFill>
                  </a:tcPr>
                </a:tc>
              </a:tr>
            </a:tbl>
          </a:graphicData>
        </a:graphic>
      </p:graphicFrame>
      <p:sp>
        <p:nvSpPr>
          <p:cNvPr id="5" name="TextBox 4"/>
          <p:cNvSpPr txBox="1"/>
          <p:nvPr/>
        </p:nvSpPr>
        <p:spPr>
          <a:xfrm>
            <a:off x="640080" y="4599432"/>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경로 탐색 학생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3. 고객 리서치 패키지 (계속)</a:t>
            </a:r>
          </a:p>
        </p:txBody>
      </p:sp>
      <p:graphicFrame>
        <p:nvGraphicFramePr>
          <p:cNvPr id="3" name="Table 2"/>
          <p:cNvGraphicFramePr>
            <a:graphicFrameLocks noGrp="1"/>
          </p:cNvGraphicFramePr>
          <p:nvPr/>
        </p:nvGraphicFramePr>
        <p:xfrm>
          <a:off x="640080" y="1417320"/>
          <a:ext cx="10908792" cy="2112264"/>
        </p:xfrm>
        <a:graphic>
          <a:graphicData uri="http://schemas.openxmlformats.org/drawingml/2006/table">
            <a:tbl>
              <a:tblPr firstRow="1" bandRow="1">
                <a:tableStyleId>{5C22544A-7EE6-4342-B048-85BDC9FD1C3A}</a:tableStyleId>
              </a:tblPr>
              <a:tblGrid>
                <a:gridCol w="5454396"/>
                <a:gridCol w="5454396"/>
              </a:tblGrid>
              <a:tr h="352044">
                <a:tc>
                  <a:txBody>
                    <a:bodyPr/>
                    <a:lstStyle/>
                    <a:p>
                      <a:pPr algn="ctr"/>
                      <a:r>
                        <a:rPr sz="1100" b="1">
                          <a:solidFill>
                            <a:srgbClr val="FFFFFF"/>
                          </a:solidFill>
                        </a:rPr>
                        <a:t>항목</a:t>
                      </a:r>
                    </a:p>
                  </a:txBody>
                  <a:tcPr>
                    <a:solidFill>
                      <a:srgbClr val="2B59C3"/>
                    </a:solidFill>
                  </a:tcPr>
                </a:tc>
                <a:tc>
                  <a:txBody>
                    <a:bodyPr/>
                    <a:lstStyle/>
                    <a:p>
                      <a:pPr algn="ctr"/>
                      <a:r>
                        <a:rPr sz="1100" b="1">
                          <a:solidFill>
                            <a:srgbClr val="FFFFFF"/>
                          </a:solidFill>
                        </a:rPr>
                        <a:t>내용</a:t>
                      </a:r>
                    </a:p>
                  </a:txBody>
                  <a:tcPr>
                    <a:solidFill>
                      <a:srgbClr val="2B59C3"/>
                    </a:solidFill>
                  </a:tcPr>
                </a:tc>
              </a:tr>
              <a:tr h="352044">
                <a:tc>
                  <a:txBody>
                    <a:bodyPr/>
                    <a:lstStyle/>
                    <a:p>
                      <a:r>
                        <a:rPr sz="1100" b="0">
                          <a:solidFill>
                            <a:srgbClr val="1F2A37"/>
                          </a:solidFill>
                        </a:rPr>
                        <a:t>인구통계</a:t>
                      </a:r>
                    </a:p>
                  </a:txBody>
                  <a:tcPr>
                    <a:solidFill>
                      <a:srgbClr val="FFFFFF"/>
                    </a:solidFill>
                  </a:tcPr>
                </a:tc>
                <a:tc>
                  <a:txBody>
                    <a:bodyPr/>
                    <a:lstStyle/>
                    <a:p>
                      <a:r>
                        <a:rPr sz="1100" b="0">
                          <a:solidFill>
                            <a:srgbClr val="1F2A37"/>
                          </a:solidFill>
                        </a:rPr>
                        <a:t>21세, 대학교 3학년, 월 소득 없음, 부산 거주</a:t>
                      </a:r>
                    </a:p>
                  </a:txBody>
                  <a:tcPr>
                    <a:solidFill>
                      <a:srgbClr val="FFFFFF"/>
                    </a:solidFill>
                  </a:tcPr>
                </a:tc>
              </a:tr>
              <a:tr h="352044">
                <a:tc>
                  <a:txBody>
                    <a:bodyPr/>
                    <a:lstStyle/>
                    <a:p>
                      <a:r>
                        <a:rPr sz="1100" b="0">
                          <a:solidFill>
                            <a:srgbClr val="1F2A37"/>
                          </a:solidFill>
                        </a:rPr>
                        <a:t>행동 패턴</a:t>
                      </a:r>
                    </a:p>
                  </a:txBody>
                  <a:tcPr>
                    <a:solidFill>
                      <a:srgbClr val="EEF2FB"/>
                    </a:solidFill>
                  </a:tcPr>
                </a:tc>
                <a:tc>
                  <a:txBody>
                    <a:bodyPr/>
                    <a:lstStyle/>
                    <a:p>
                      <a:r>
                        <a:rPr sz="1100" b="0">
                          <a:solidFill>
                            <a:srgbClr val="1F2A37"/>
                          </a:solidFill>
                        </a:rPr>
                        <a:t>주로 모바일 앱을 통해 정보를 탐색하며, 진로 관련 세미나에 참여함. 의사결정 시 다양한 온라인 자료를 참고함.</a:t>
                      </a:r>
                    </a:p>
                  </a:txBody>
                  <a:tcPr>
                    <a:solidFill>
                      <a:srgbClr val="EEF2FB"/>
                    </a:solidFill>
                  </a:tcPr>
                </a:tc>
              </a:tr>
              <a:tr h="352044">
                <a:tc>
                  <a:txBody>
                    <a:bodyPr/>
                    <a:lstStyle/>
                    <a:p>
                      <a:r>
                        <a:rPr sz="1100" b="0">
                          <a:solidFill>
                            <a:srgbClr val="1F2A37"/>
                          </a:solidFill>
                        </a:rPr>
                        <a:t>Goal·동기</a:t>
                      </a:r>
                    </a:p>
                  </a:txBody>
                  <a:tcPr>
                    <a:solidFill>
                      <a:srgbClr val="FFFFFF"/>
                    </a:solidFill>
                  </a:tcPr>
                </a:tc>
                <a:tc>
                  <a:txBody>
                    <a:bodyPr/>
                    <a:lstStyle/>
                    <a:p>
                      <a:r>
                        <a:rPr sz="1100" b="0">
                          <a:solidFill>
                            <a:srgbClr val="1F2A37"/>
                          </a:solidFill>
                        </a:rPr>
                        <a:t>진로에 대한 불확실성을 해소하고 명확한 목표를 설정하고 싶음.</a:t>
                      </a:r>
                    </a:p>
                  </a:txBody>
                  <a:tcPr>
                    <a:solidFill>
                      <a:srgbClr val="FFFFFF"/>
                    </a:solidFill>
                  </a:tcPr>
                </a:tc>
              </a:tr>
              <a:tr h="352044">
                <a:tc>
                  <a:txBody>
                    <a:bodyPr/>
                    <a:lstStyle/>
                    <a:p>
                      <a:r>
                        <a:rPr sz="1100" b="0">
                          <a:solidFill>
                            <a:srgbClr val="1F2A37"/>
                          </a:solidFill>
                        </a:rPr>
                        <a:t>Pain Point</a:t>
                      </a:r>
                    </a:p>
                  </a:txBody>
                  <a:tcPr>
                    <a:solidFill>
                      <a:srgbClr val="EEF2FB"/>
                    </a:solidFill>
                  </a:tcPr>
                </a:tc>
                <a:tc>
                  <a:txBody>
                    <a:bodyPr/>
                    <a:lstStyle/>
                    <a:p>
                      <a:r>
                        <a:rPr sz="1100" b="0">
                          <a:solidFill>
                            <a:srgbClr val="1F2A37"/>
                          </a:solidFill>
                        </a:rPr>
                        <a:t>AI 기반의 맞춤형 진로 상담 서비스가 부족하여 경로 선택에 대한 자신감이 부족함.</a:t>
                      </a:r>
                    </a:p>
                  </a:txBody>
                  <a:tcPr>
                    <a:solidFill>
                      <a:srgbClr val="EEF2FB"/>
                    </a:solidFill>
                  </a:tcPr>
                </a:tc>
              </a:tr>
              <a:tr h="352044">
                <a:tc>
                  <a:txBody>
                    <a:bodyPr/>
                    <a:lstStyle/>
                    <a:p>
                      <a:r>
                        <a:rPr sz="1100" b="0">
                          <a:solidFill>
                            <a:srgbClr val="1F2A37"/>
                          </a:solidFill>
                        </a:rPr>
                        <a:t>기대·거부 요인</a:t>
                      </a:r>
                    </a:p>
                  </a:txBody>
                  <a:tcPr>
                    <a:solidFill>
                      <a:srgbClr val="FFFFFF"/>
                    </a:solidFill>
                  </a:tcPr>
                </a:tc>
                <a:tc>
                  <a:txBody>
                    <a:bodyPr/>
                    <a:lstStyle/>
                    <a:p>
                      <a:r>
                        <a:rPr sz="1100" b="0">
                          <a:solidFill>
                            <a:srgbClr val="1F2A37"/>
                          </a:solidFill>
                        </a:rPr>
                        <a:t>자신의 전공과 관심사에 맞는 맞춤형 학습 및 경험 설계 도구를 원함. AI 기술의 신뢰성을 높이길 기대함.</a:t>
                      </a:r>
                    </a:p>
                  </a:txBody>
                  <a:tcPr>
                    <a:solidFill>
                      <a:srgbClr val="FFFFFF"/>
                    </a:solidFill>
                  </a:tcPr>
                </a:tc>
              </a:tr>
            </a:tbl>
          </a:graphicData>
        </a:graphic>
      </p:graphicFrame>
      <p:sp>
        <p:nvSpPr>
          <p:cNvPr id="4" name="TextBox 3"/>
          <p:cNvSpPr txBox="1"/>
          <p:nvPr/>
        </p:nvSpPr>
        <p:spPr>
          <a:xfrm>
            <a:off x="640080" y="3666744"/>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Customer Journey Map</a:t>
            </a:r>
          </a:p>
        </p:txBody>
      </p:sp>
      <p:graphicFrame>
        <p:nvGraphicFramePr>
          <p:cNvPr id="5" name="Table 4"/>
          <p:cNvGraphicFramePr>
            <a:graphicFrameLocks noGrp="1"/>
          </p:cNvGraphicFramePr>
          <p:nvPr/>
        </p:nvGraphicFramePr>
        <p:xfrm>
          <a:off x="640080" y="4133087"/>
          <a:ext cx="10908792" cy="2112264"/>
        </p:xfrm>
        <a:graphic>
          <a:graphicData uri="http://schemas.openxmlformats.org/drawingml/2006/table">
            <a:tbl>
              <a:tblPr firstRow="1" bandRow="1">
                <a:tableStyleId>{5C22544A-7EE6-4342-B048-85BDC9FD1C3A}</a:tableStyleId>
              </a:tblPr>
              <a:tblGrid>
                <a:gridCol w="2181758"/>
                <a:gridCol w="2181758"/>
                <a:gridCol w="2181758"/>
                <a:gridCol w="2181758"/>
                <a:gridCol w="2181760"/>
              </a:tblGrid>
              <a:tr h="352044">
                <a:tc>
                  <a:txBody>
                    <a:bodyPr/>
                    <a:lstStyle/>
                    <a:p>
                      <a:pPr algn="ctr"/>
                      <a:r>
                        <a:rPr sz="1100" b="1">
                          <a:solidFill>
                            <a:srgbClr val="FFFFFF"/>
                          </a:solidFill>
                        </a:rPr>
                        <a:t>단계</a:t>
                      </a:r>
                    </a:p>
                  </a:txBody>
                  <a:tcPr>
                    <a:solidFill>
                      <a:srgbClr val="2B59C3"/>
                    </a:solidFill>
                  </a:tcPr>
                </a:tc>
                <a:tc>
                  <a:txBody>
                    <a:bodyPr/>
                    <a:lstStyle/>
                    <a:p>
                      <a:pPr algn="ctr"/>
                      <a:r>
                        <a:rPr sz="1100" b="1">
                          <a:solidFill>
                            <a:srgbClr val="FFFFFF"/>
                          </a:solidFill>
                        </a:rPr>
                        <a:t>Action</a:t>
                      </a:r>
                    </a:p>
                  </a:txBody>
                  <a:tcPr>
                    <a:solidFill>
                      <a:srgbClr val="2B59C3"/>
                    </a:solidFill>
                  </a:tcPr>
                </a:tc>
                <a:tc>
                  <a:txBody>
                    <a:bodyPr/>
                    <a:lstStyle/>
                    <a:p>
                      <a:pPr algn="ctr"/>
                      <a:r>
                        <a:rPr sz="1100" b="1">
                          <a:solidFill>
                            <a:srgbClr val="FFFFFF"/>
                          </a:solidFill>
                        </a:rPr>
                        <a:t>Emotion</a:t>
                      </a:r>
                    </a:p>
                  </a:txBody>
                  <a:tcPr>
                    <a:solidFill>
                      <a:srgbClr val="2B59C3"/>
                    </a:solidFill>
                  </a:tcPr>
                </a:tc>
                <a:tc>
                  <a:txBody>
                    <a:bodyPr/>
                    <a:lstStyle/>
                    <a:p>
                      <a:pPr algn="ctr"/>
                      <a:r>
                        <a:rPr sz="1100" b="1">
                          <a:solidFill>
                            <a:srgbClr val="FFFFFF"/>
                          </a:solidFill>
                        </a:rPr>
                        <a:t>Pain Point</a:t>
                      </a:r>
                    </a:p>
                  </a:txBody>
                  <a:tcPr>
                    <a:solidFill>
                      <a:srgbClr val="2B59C3"/>
                    </a:solidFill>
                  </a:tcPr>
                </a:tc>
                <a:tc>
                  <a:txBody>
                    <a:bodyPr/>
                    <a:lstStyle/>
                    <a:p>
                      <a:pPr algn="ctr"/>
                      <a:r>
                        <a:rPr sz="1100" b="1">
                          <a:solidFill>
                            <a:srgbClr val="FFFFFF"/>
                          </a:solidFill>
                        </a:rPr>
                        <a:t>Touchpoint</a:t>
                      </a:r>
                    </a:p>
                  </a:txBody>
                  <a:tcPr>
                    <a:solidFill>
                      <a:srgbClr val="2B59C3"/>
                    </a:solidFill>
                  </a:tcPr>
                </a:tc>
              </a:tr>
              <a:tr h="352044">
                <a:tc>
                  <a:txBody>
                    <a:bodyPr/>
                    <a:lstStyle/>
                    <a:p>
                      <a:r>
                        <a:rPr sz="1100" b="0">
                          <a:solidFill>
                            <a:srgbClr val="1F2A37"/>
                          </a:solidFill>
                        </a:rPr>
                        <a:t>인지</a:t>
                      </a:r>
                    </a:p>
                  </a:txBody>
                  <a:tcPr>
                    <a:solidFill>
                      <a:srgbClr val="FFFFFF"/>
                    </a:solidFill>
                  </a:tcPr>
                </a:tc>
                <a:tc>
                  <a:txBody>
                    <a:bodyPr/>
                    <a:lstStyle/>
                    <a:p>
                      <a:r>
                        <a:rPr sz="1100" b="0">
                          <a:solidFill>
                            <a:srgbClr val="1F2A37"/>
                          </a:solidFill>
                        </a:rPr>
                        <a:t>SNS 및 친구를 통해 서비스에 대한 정보 습득</a:t>
                      </a:r>
                    </a:p>
                  </a:txBody>
                  <a:tcPr>
                    <a:solidFill>
                      <a:srgbClr val="FFFFFF"/>
                    </a:solidFill>
                  </a:tcPr>
                </a:tc>
                <a:tc>
                  <a:txBody>
                    <a:bodyPr/>
                    <a:lstStyle/>
                    <a:p>
                      <a:r>
                        <a:rPr sz="1100" b="0">
                          <a:solidFill>
                            <a:srgbClr val="1F2A37"/>
                          </a:solidFill>
                        </a:rPr>
                        <a:t>호기심</a:t>
                      </a:r>
                    </a:p>
                  </a:txBody>
                  <a:tcPr>
                    <a:solidFill>
                      <a:srgbClr val="FFFFFF"/>
                    </a:solidFill>
                  </a:tcPr>
                </a:tc>
                <a:tc>
                  <a:txBody>
                    <a:bodyPr/>
                    <a:lstStyle/>
                    <a:p>
                      <a:r>
                        <a:rPr sz="1100" b="0">
                          <a:solidFill>
                            <a:srgbClr val="1F2A37"/>
                          </a:solidFill>
                        </a:rPr>
                        <a:t>정보의 신뢰성 부족</a:t>
                      </a:r>
                    </a:p>
                  </a:txBody>
                  <a:tcPr>
                    <a:solidFill>
                      <a:srgbClr val="FFFFFF"/>
                    </a:solidFill>
                  </a:tcPr>
                </a:tc>
                <a:tc>
                  <a:txBody>
                    <a:bodyPr/>
                    <a:lstStyle/>
                    <a:p>
                      <a:r>
                        <a:rPr sz="1100" b="0">
                          <a:solidFill>
                            <a:srgbClr val="1F2A37"/>
                          </a:solidFill>
                        </a:rPr>
                        <a:t>소셜 미디어, 대학 커뮤니티</a:t>
                      </a:r>
                    </a:p>
                  </a:txBody>
                  <a:tcPr>
                    <a:solidFill>
                      <a:srgbClr val="FFFFFF"/>
                    </a:solidFill>
                  </a:tcPr>
                </a:tc>
              </a:tr>
              <a:tr h="352044">
                <a:tc>
                  <a:txBody>
                    <a:bodyPr/>
                    <a:lstStyle/>
                    <a:p>
                      <a:r>
                        <a:rPr sz="1100" b="0">
                          <a:solidFill>
                            <a:srgbClr val="1F2A37"/>
                          </a:solidFill>
                        </a:rPr>
                        <a:t>고려</a:t>
                      </a:r>
                    </a:p>
                  </a:txBody>
                  <a:tcPr>
                    <a:solidFill>
                      <a:srgbClr val="EEF2FB"/>
                    </a:solidFill>
                  </a:tcPr>
                </a:tc>
                <a:tc>
                  <a:txBody>
                    <a:bodyPr/>
                    <a:lstStyle/>
                    <a:p>
                      <a:r>
                        <a:rPr sz="1100" b="0">
                          <a:solidFill>
                            <a:srgbClr val="1F2A37"/>
                          </a:solidFill>
                        </a:rPr>
                        <a:t>서비스 웹사이트 방문 및 기능 확인</a:t>
                      </a:r>
                    </a:p>
                  </a:txBody>
                  <a:tcPr>
                    <a:solidFill>
                      <a:srgbClr val="EEF2FB"/>
                    </a:solidFill>
                  </a:tcPr>
                </a:tc>
                <a:tc>
                  <a:txBody>
                    <a:bodyPr/>
                    <a:lstStyle/>
                    <a:p>
                      <a:r>
                        <a:rPr sz="1100" b="0">
                          <a:solidFill>
                            <a:srgbClr val="1F2A37"/>
                          </a:solidFill>
                        </a:rPr>
                        <a:t>흥미</a:t>
                      </a:r>
                    </a:p>
                  </a:txBody>
                  <a:tcPr>
                    <a:solidFill>
                      <a:srgbClr val="EEF2FB"/>
                    </a:solidFill>
                  </a:tcPr>
                </a:tc>
                <a:tc>
                  <a:txBody>
                    <a:bodyPr/>
                    <a:lstStyle/>
                    <a:p>
                      <a:r>
                        <a:rPr sz="1100" b="0">
                          <a:solidFill>
                            <a:srgbClr val="1F2A37"/>
                          </a:solidFill>
                        </a:rPr>
                        <a:t>기능에 대한 이해 부족</a:t>
                      </a:r>
                    </a:p>
                  </a:txBody>
                  <a:tcPr>
                    <a:solidFill>
                      <a:srgbClr val="EEF2FB"/>
                    </a:solidFill>
                  </a:tcPr>
                </a:tc>
                <a:tc>
                  <a:txBody>
                    <a:bodyPr/>
                    <a:lstStyle/>
                    <a:p>
                      <a:r>
                        <a:rPr sz="1100" b="0">
                          <a:solidFill>
                            <a:srgbClr val="1F2A37"/>
                          </a:solidFill>
                        </a:rPr>
                        <a:t>서비스 웹사이트</a:t>
                      </a:r>
                    </a:p>
                  </a:txBody>
                  <a:tcPr>
                    <a:solidFill>
                      <a:srgbClr val="EEF2FB"/>
                    </a:solidFill>
                  </a:tcPr>
                </a:tc>
              </a:tr>
              <a:tr h="352044">
                <a:tc>
                  <a:txBody>
                    <a:bodyPr/>
                    <a:lstStyle/>
                    <a:p>
                      <a:r>
                        <a:rPr sz="1100" b="0">
                          <a:solidFill>
                            <a:srgbClr val="1F2A37"/>
                          </a:solidFill>
                        </a:rPr>
                        <a:t>구매</a:t>
                      </a:r>
                    </a:p>
                  </a:txBody>
                  <a:tcPr>
                    <a:solidFill>
                      <a:srgbClr val="FFFFFF"/>
                    </a:solidFill>
                  </a:tcPr>
                </a:tc>
                <a:tc>
                  <a:txBody>
                    <a:bodyPr/>
                    <a:lstStyle/>
                    <a:p>
                      <a:r>
                        <a:rPr sz="1100" b="0">
                          <a:solidFill>
                            <a:srgbClr val="1F2A37"/>
                          </a:solidFill>
                        </a:rPr>
                        <a:t>서비스 가입 및 초기 상담 요청</a:t>
                      </a:r>
                    </a:p>
                  </a:txBody>
                  <a:tcPr>
                    <a:solidFill>
                      <a:srgbClr val="FFFFFF"/>
                    </a:solidFill>
                  </a:tcPr>
                </a:tc>
                <a:tc>
                  <a:txBody>
                    <a:bodyPr/>
                    <a:lstStyle/>
                    <a:p>
                      <a:r>
                        <a:rPr sz="1100" b="0">
                          <a:solidFill>
                            <a:srgbClr val="1F2A37"/>
                          </a:solidFill>
                        </a:rPr>
                        <a:t>기대감</a:t>
                      </a:r>
                    </a:p>
                  </a:txBody>
                  <a:tcPr>
                    <a:solidFill>
                      <a:srgbClr val="FFFFFF"/>
                    </a:solidFill>
                  </a:tcPr>
                </a:tc>
                <a:tc>
                  <a:txBody>
                    <a:bodyPr/>
                    <a:lstStyle/>
                    <a:p>
                      <a:r>
                        <a:rPr sz="1100" b="0">
                          <a:solidFill>
                            <a:srgbClr val="1F2A37"/>
                          </a:solidFill>
                        </a:rPr>
                        <a:t>결제 과정의 복잡함</a:t>
                      </a:r>
                    </a:p>
                  </a:txBody>
                  <a:tcPr>
                    <a:solidFill>
                      <a:srgbClr val="FFFFFF"/>
                    </a:solidFill>
                  </a:tcPr>
                </a:tc>
                <a:tc>
                  <a:txBody>
                    <a:bodyPr/>
                    <a:lstStyle/>
                    <a:p>
                      <a:r>
                        <a:rPr sz="1100" b="0">
                          <a:solidFill>
                            <a:srgbClr val="1F2A37"/>
                          </a:solidFill>
                        </a:rPr>
                        <a:t>결제 페이지</a:t>
                      </a:r>
                    </a:p>
                  </a:txBody>
                  <a:tcPr>
                    <a:solidFill>
                      <a:srgbClr val="FFFFFF"/>
                    </a:solidFill>
                  </a:tcPr>
                </a:tc>
              </a:tr>
              <a:tr h="352044">
                <a:tc>
                  <a:txBody>
                    <a:bodyPr/>
                    <a:lstStyle/>
                    <a:p>
                      <a:r>
                        <a:rPr sz="1100" b="0">
                          <a:solidFill>
                            <a:srgbClr val="1F2A37"/>
                          </a:solidFill>
                        </a:rPr>
                        <a:t>사용</a:t>
                      </a:r>
                    </a:p>
                  </a:txBody>
                  <a:tcPr>
                    <a:solidFill>
                      <a:srgbClr val="EEF2FB"/>
                    </a:solidFill>
                  </a:tcPr>
                </a:tc>
                <a:tc>
                  <a:txBody>
                    <a:bodyPr/>
                    <a:lstStyle/>
                    <a:p>
                      <a:r>
                        <a:rPr sz="1100" b="0">
                          <a:solidFill>
                            <a:srgbClr val="1F2A37"/>
                          </a:solidFill>
                        </a:rPr>
                        <a:t>AI 상담 서비스 이용</a:t>
                      </a:r>
                    </a:p>
                  </a:txBody>
                  <a:tcPr>
                    <a:solidFill>
                      <a:srgbClr val="EEF2FB"/>
                    </a:solidFill>
                  </a:tcPr>
                </a:tc>
                <a:tc>
                  <a:txBody>
                    <a:bodyPr/>
                    <a:lstStyle/>
                    <a:p>
                      <a:r>
                        <a:rPr sz="1100" b="0">
                          <a:solidFill>
                            <a:srgbClr val="1F2A37"/>
                          </a:solidFill>
                        </a:rPr>
                        <a:t>불안과 기대 혼재</a:t>
                      </a:r>
                    </a:p>
                  </a:txBody>
                  <a:tcPr>
                    <a:solidFill>
                      <a:srgbClr val="EEF2FB"/>
                    </a:solidFill>
                  </a:tcPr>
                </a:tc>
                <a:tc>
                  <a:txBody>
                    <a:bodyPr/>
                    <a:lstStyle/>
                    <a:p>
                      <a:r>
                        <a:rPr sz="1100" b="0">
                          <a:solidFill>
                            <a:srgbClr val="1F2A37"/>
                          </a:solidFill>
                        </a:rPr>
                        <a:t>AI의 신뢰성에 대한 의구심</a:t>
                      </a:r>
                    </a:p>
                  </a:txBody>
                  <a:tcPr>
                    <a:solidFill>
                      <a:srgbClr val="EEF2FB"/>
                    </a:solidFill>
                  </a:tcPr>
                </a:tc>
                <a:tc>
                  <a:txBody>
                    <a:bodyPr/>
                    <a:lstStyle/>
                    <a:p>
                      <a:r>
                        <a:rPr sz="1100" b="0">
                          <a:solidFill>
                            <a:srgbClr val="1F2A37"/>
                          </a:solidFill>
                        </a:rPr>
                        <a:t>상담 플랫폼</a:t>
                      </a:r>
                    </a:p>
                  </a:txBody>
                  <a:tcPr>
                    <a:solidFill>
                      <a:srgbClr val="EEF2FB"/>
                    </a:solidFill>
                  </a:tcPr>
                </a:tc>
              </a:tr>
              <a:tr h="352044">
                <a:tc>
                  <a:txBody>
                    <a:bodyPr/>
                    <a:lstStyle/>
                    <a:p>
                      <a:r>
                        <a:rPr sz="1100" b="0">
                          <a:solidFill>
                            <a:srgbClr val="1F2A37"/>
                          </a:solidFill>
                        </a:rPr>
                        <a:t>재사용/이탈</a:t>
                      </a:r>
                    </a:p>
                  </a:txBody>
                  <a:tcPr>
                    <a:solidFill>
                      <a:srgbClr val="FFFFFF"/>
                    </a:solidFill>
                  </a:tcPr>
                </a:tc>
                <a:tc>
                  <a:txBody>
                    <a:bodyPr/>
                    <a:lstStyle/>
                    <a:p>
                      <a:r>
                        <a:rPr sz="1100" b="0">
                          <a:solidFill>
                            <a:srgbClr val="1F2A37"/>
                          </a:solidFill>
                        </a:rPr>
                        <a:t>서비스 피드백 및 재이용 결정</a:t>
                      </a:r>
                    </a:p>
                  </a:txBody>
                  <a:tcPr>
                    <a:solidFill>
                      <a:srgbClr val="FFFFFF"/>
                    </a:solidFill>
                  </a:tcPr>
                </a:tc>
                <a:tc>
                  <a:txBody>
                    <a:bodyPr/>
                    <a:lstStyle/>
                    <a:p>
                      <a:r>
                        <a:rPr sz="1100" b="0">
                          <a:solidFill>
                            <a:srgbClr val="1F2A37"/>
                          </a:solidFill>
                        </a:rPr>
                        <a:t>만족 또는 실망</a:t>
                      </a:r>
                    </a:p>
                  </a:txBody>
                  <a:tcPr>
                    <a:solidFill>
                      <a:srgbClr val="FFFFFF"/>
                    </a:solidFill>
                  </a:tcPr>
                </a:tc>
                <a:tc>
                  <a:txBody>
                    <a:bodyPr/>
                    <a:lstStyle/>
                    <a:p>
                      <a:r>
                        <a:rPr sz="1100" b="0">
                          <a:solidFill>
                            <a:srgbClr val="1F2A37"/>
                          </a:solidFill>
                        </a:rPr>
                        <a:t>개인 맞춤형 서비스 부족</a:t>
                      </a:r>
                    </a:p>
                  </a:txBody>
                  <a:tcPr>
                    <a:solidFill>
                      <a:srgbClr val="FFFFFF"/>
                    </a:solidFill>
                  </a:tcPr>
                </a:tc>
                <a:tc>
                  <a:txBody>
                    <a:bodyPr/>
                    <a:lstStyle/>
                    <a:p>
                      <a:r>
                        <a:rPr sz="1100" b="0">
                          <a:solidFill>
                            <a:srgbClr val="1F2A37"/>
                          </a:solidFill>
                        </a:rPr>
                        <a:t>피드백 설문</a:t>
                      </a:r>
                    </a:p>
                  </a:txBody>
                  <a:tcPr>
                    <a:solidFill>
                      <a:srgbClr val="FFFFFF"/>
                    </a:solidFill>
                  </a:tcPr>
                </a:tc>
              </a:tr>
            </a:tbl>
          </a:graphicData>
        </a:graphic>
      </p:graphicFrame>
      <p:sp>
        <p:nvSpPr>
          <p:cNvPr id="6" name="TextBox 5"/>
          <p:cNvSpPr txBox="1"/>
          <p:nvPr/>
        </p:nvSpPr>
        <p:spPr>
          <a:xfrm>
            <a:off x="640080" y="6382511"/>
            <a:ext cx="10908792" cy="393192"/>
          </a:xfrm>
          <a:prstGeom prst="rect">
            <a:avLst/>
          </a:prstGeom>
          <a:noFill/>
        </p:spPr>
        <p:txBody>
          <a:bodyPr wrap="square" anchor="t">
            <a:spAutoFit/>
          </a:bodyPr>
          <a:lstStyle/>
          <a:p>
            <a:pPr>
              <a:spcAft>
                <a:spcPts val="400"/>
              </a:spcAft>
            </a:pPr>
            <a:r>
              <a:rPr sz="1500" b="1">
                <a:solidFill>
                  <a:srgbClr val="1F2A37"/>
                </a:solidFill>
              </a:rPr>
              <a:t>Opportunity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3. 고객 리서치 패키지 (계속)</a:t>
            </a:r>
          </a:p>
        </p:txBody>
      </p:sp>
      <p:sp>
        <p:nvSpPr>
          <p:cNvPr id="3" name="TextBox 2"/>
          <p:cNvSpPr txBox="1"/>
          <p:nvPr/>
        </p:nvSpPr>
        <p:spPr>
          <a:xfrm>
            <a:off x="640080" y="1417320"/>
            <a:ext cx="10908792" cy="1124712"/>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AI 기술의 발전으로 개인화된 진로 설계 서비스의 품질 향상</a:t>
            </a:r>
          </a:p>
          <a:p>
            <a:pPr>
              <a:spcAft>
                <a:spcPts val="400"/>
              </a:spcAft>
            </a:pPr>
            <a:r>
              <a:rPr sz="1500">
                <a:solidFill>
                  <a:srgbClr val="2B59C3"/>
                </a:solidFill>
              </a:rPr>
              <a:t>• </a:t>
            </a:r>
            <a:r>
              <a:rPr sz="1500" b="0">
                <a:solidFill>
                  <a:srgbClr val="1F2A37"/>
                </a:solidFill>
              </a:rPr>
              <a:t>대학생들의 진로 설계에 대한 관심 증가로 인한 시장 확장 가능성</a:t>
            </a:r>
          </a:p>
          <a:p>
            <a:pPr>
              <a:spcAft>
                <a:spcPts val="400"/>
              </a:spcAft>
            </a:pPr>
            <a:r>
              <a:rPr sz="1500">
                <a:solidFill>
                  <a:srgbClr val="2B59C3"/>
                </a:solidFill>
              </a:rPr>
              <a:t>• </a:t>
            </a:r>
            <a:r>
              <a:rPr sz="1500" b="0">
                <a:solidFill>
                  <a:srgbClr val="1F2A37"/>
                </a:solidFill>
              </a:rPr>
              <a:t>대학 및 관련 기관과의 협력을 통한 서비스 확장</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4. 시장·경쟁사 분석</a:t>
            </a:r>
          </a:p>
        </p:txBody>
      </p:sp>
      <p:sp>
        <p:nvSpPr>
          <p:cNvPr id="3" name="TextBox 2"/>
          <p:cNvSpPr txBox="1"/>
          <p:nvPr/>
        </p:nvSpPr>
        <p:spPr>
          <a:xfrm>
            <a:off x="640080" y="1417320"/>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TAM · SAM · SOM (추정치 — 명시한 가정 위)</a:t>
            </a:r>
          </a:p>
        </p:txBody>
      </p:sp>
      <p:graphicFrame>
        <p:nvGraphicFramePr>
          <p:cNvPr id="4" name="Table 3"/>
          <p:cNvGraphicFramePr>
            <a:graphicFrameLocks noGrp="1"/>
          </p:cNvGraphicFramePr>
          <p:nvPr/>
        </p:nvGraphicFramePr>
        <p:xfrm>
          <a:off x="640080" y="1883664"/>
          <a:ext cx="10908792" cy="2441448"/>
        </p:xfrm>
        <a:graphic>
          <a:graphicData uri="http://schemas.openxmlformats.org/drawingml/2006/table">
            <a:tbl>
              <a:tblPr firstRow="1" bandRow="1">
                <a:tableStyleId>{5C22544A-7EE6-4342-B048-85BDC9FD1C3A}</a:tableStyleId>
              </a:tblPr>
              <a:tblGrid>
                <a:gridCol w="5454396"/>
                <a:gridCol w="5454396"/>
              </a:tblGrid>
              <a:tr h="348778">
                <a:tc>
                  <a:txBody>
                    <a:bodyPr/>
                    <a:lstStyle/>
                    <a:p>
                      <a:pPr algn="ctr"/>
                      <a:r>
                        <a:rPr sz="1100" b="1">
                          <a:solidFill>
                            <a:srgbClr val="FFFFFF"/>
                          </a:solidFill>
                        </a:rPr>
                        <a:t>항목</a:t>
                      </a:r>
                    </a:p>
                  </a:txBody>
                  <a:tcPr>
                    <a:solidFill>
                      <a:srgbClr val="2B59C3"/>
                    </a:solidFill>
                  </a:tcPr>
                </a:tc>
                <a:tc>
                  <a:txBody>
                    <a:bodyPr/>
                    <a:lstStyle/>
                    <a:p>
                      <a:pPr algn="ctr"/>
                      <a:r>
                        <a:rPr sz="1100" b="1">
                          <a:solidFill>
                            <a:srgbClr val="FFFFFF"/>
                          </a:solidFill>
                        </a:rPr>
                        <a:t>내용</a:t>
                      </a:r>
                    </a:p>
                  </a:txBody>
                  <a:tcPr>
                    <a:solidFill>
                      <a:srgbClr val="2B59C3"/>
                    </a:solidFill>
                  </a:tcPr>
                </a:tc>
              </a:tr>
              <a:tr h="348778">
                <a:tc>
                  <a:txBody>
                    <a:bodyPr/>
                    <a:lstStyle/>
                    <a:p>
                      <a:r>
                        <a:rPr sz="1100" b="0">
                          <a:solidFill>
                            <a:srgbClr val="1F2A37"/>
                          </a:solidFill>
                        </a:rPr>
                        <a:t>TAM</a:t>
                      </a:r>
                    </a:p>
                  </a:txBody>
                  <a:tcPr>
                    <a:solidFill>
                      <a:srgbClr val="FFFFFF"/>
                    </a:solidFill>
                  </a:tcPr>
                </a:tc>
                <a:tc>
                  <a:txBody>
                    <a:bodyPr/>
                    <a:lstStyle/>
                    <a:p>
                      <a:r>
                        <a:rPr sz="1100" b="0">
                          <a:solidFill>
                            <a:srgbClr val="1F2A37"/>
                          </a:solidFill>
                        </a:rPr>
                        <a:t>39억 6천만 달러 (2035년 예상 시장 규모)</a:t>
                      </a:r>
                    </a:p>
                  </a:txBody>
                  <a:tcPr>
                    <a:solidFill>
                      <a:srgbClr val="FFFFFF"/>
                    </a:solidFill>
                  </a:tcPr>
                </a:tc>
              </a:tr>
              <a:tr h="348778">
                <a:tc>
                  <a:txBody>
                    <a:bodyPr/>
                    <a:lstStyle/>
                    <a:p>
                      <a:r>
                        <a:rPr sz="1100" b="0">
                          <a:solidFill>
                            <a:srgbClr val="1F2A37"/>
                          </a:solidFill>
                        </a:rPr>
                        <a:t>SAM</a:t>
                      </a:r>
                    </a:p>
                  </a:txBody>
                  <a:tcPr>
                    <a:solidFill>
                      <a:srgbClr val="EEF2FB"/>
                    </a:solidFill>
                  </a:tcPr>
                </a:tc>
                <a:tc>
                  <a:txBody>
                    <a:bodyPr/>
                    <a:lstStyle/>
                    <a:p>
                      <a:r>
                        <a:rPr sz="1100" b="0">
                          <a:solidFill>
                            <a:srgbClr val="1F2A37"/>
                          </a:solidFill>
                        </a:rPr>
                        <a:t>19억 4천만 달러 (2026년 예상 시장 규모)</a:t>
                      </a:r>
                    </a:p>
                  </a:txBody>
                  <a:tcPr>
                    <a:solidFill>
                      <a:srgbClr val="EEF2FB"/>
                    </a:solidFill>
                  </a:tcPr>
                </a:tc>
              </a:tr>
              <a:tr h="348778">
                <a:tc>
                  <a:txBody>
                    <a:bodyPr/>
                    <a:lstStyle/>
                    <a:p>
                      <a:r>
                        <a:rPr sz="1100" b="0">
                          <a:solidFill>
                            <a:srgbClr val="1F2A37"/>
                          </a:solidFill>
                        </a:rPr>
                        <a:t>SOM</a:t>
                      </a:r>
                    </a:p>
                  </a:txBody>
                  <a:tcPr>
                    <a:solidFill>
                      <a:srgbClr val="FFFFFF"/>
                    </a:solidFill>
                  </a:tcPr>
                </a:tc>
                <a:tc>
                  <a:txBody>
                    <a:bodyPr/>
                    <a:lstStyle/>
                    <a:p>
                      <a:r>
                        <a:rPr sz="1100" b="0">
                          <a:solidFill>
                            <a:srgbClr val="1F2A37"/>
                          </a:solidFill>
                        </a:rPr>
                        <a:t>1억 달러 (1% 점유율 가정)</a:t>
                      </a:r>
                    </a:p>
                  </a:txBody>
                  <a:tcPr>
                    <a:solidFill>
                      <a:srgbClr val="FFFFFF"/>
                    </a:solidFill>
                  </a:tcPr>
                </a:tc>
              </a:tr>
              <a:tr h="348778">
                <a:tc>
                  <a:txBody>
                    <a:bodyPr/>
                    <a:lstStyle/>
                    <a:p>
                      <a:r>
                        <a:rPr sz="1100" b="0">
                          <a:solidFill>
                            <a:srgbClr val="1F2A37"/>
                          </a:solidFill>
                        </a:rPr>
                        <a:t>Top-down 추정</a:t>
                      </a:r>
                    </a:p>
                  </a:txBody>
                  <a:tcPr>
                    <a:solidFill>
                      <a:srgbClr val="EEF2FB"/>
                    </a:solidFill>
                  </a:tcPr>
                </a:tc>
                <a:tc>
                  <a:txBody>
                    <a:bodyPr/>
                    <a:lstStyle/>
                    <a:p>
                      <a:r>
                        <a:rPr sz="1100" b="0">
                          <a:solidFill>
                            <a:srgbClr val="1F2A37"/>
                          </a:solidFill>
                        </a:rPr>
                        <a:t>39억 6천만 달러 × 1% = 3960만 달러</a:t>
                      </a:r>
                    </a:p>
                  </a:txBody>
                  <a:tcPr>
                    <a:solidFill>
                      <a:srgbClr val="EEF2FB"/>
                    </a:solidFill>
                  </a:tcPr>
                </a:tc>
              </a:tr>
              <a:tr h="348778">
                <a:tc>
                  <a:txBody>
                    <a:bodyPr/>
                    <a:lstStyle/>
                    <a:p>
                      <a:r>
                        <a:rPr sz="1100" b="0">
                          <a:solidFill>
                            <a:srgbClr val="1F2A37"/>
                          </a:solidFill>
                        </a:rPr>
                        <a:t>Bottom-up 추정</a:t>
                      </a:r>
                    </a:p>
                  </a:txBody>
                  <a:tcPr>
                    <a:solidFill>
                      <a:srgbClr val="FFFFFF"/>
                    </a:solidFill>
                  </a:tcPr>
                </a:tc>
                <a:tc>
                  <a:txBody>
                    <a:bodyPr/>
                    <a:lstStyle/>
                    <a:p>
                      <a:r>
                        <a:rPr sz="1100" b="0">
                          <a:solidFill>
                            <a:srgbClr val="1F2A37"/>
                          </a:solidFill>
                        </a:rPr>
                        <a:t>100만 대학생 × 100달러 (서비스 단가) × 1회 = 1억 달러</a:t>
                      </a:r>
                    </a:p>
                  </a:txBody>
                  <a:tcPr>
                    <a:solidFill>
                      <a:srgbClr val="FFFFFF"/>
                    </a:solidFill>
                  </a:tcPr>
                </a:tc>
              </a:tr>
              <a:tr h="348780">
                <a:tc>
                  <a:txBody>
                    <a:bodyPr/>
                    <a:lstStyle/>
                    <a:p>
                      <a:r>
                        <a:rPr sz="1100" b="0">
                          <a:solidFill>
                            <a:srgbClr val="1F2A37"/>
                          </a:solidFill>
                        </a:rPr>
                        <a:t>두 값이 다른 이유</a:t>
                      </a:r>
                    </a:p>
                  </a:txBody>
                  <a:tcPr>
                    <a:solidFill>
                      <a:srgbClr val="EEF2FB"/>
                    </a:solidFill>
                  </a:tcPr>
                </a:tc>
                <a:tc>
                  <a:txBody>
                    <a:bodyPr/>
                    <a:lstStyle/>
                    <a:p>
                      <a:r>
                        <a:rPr sz="1100" b="0">
                          <a:solidFill>
                            <a:srgbClr val="1F2A37"/>
                          </a:solidFill>
                        </a:rPr>
                        <a:t>top_down은 전체 시장 규모를 기반으로 한 추정치이며, bottom_up은 실제 고객 수와 단가를 기반으로 한 추정치로 차이가 발생.</a:t>
                      </a:r>
                    </a:p>
                  </a:txBody>
                  <a:tcPr>
                    <a:solidFill>
                      <a:srgbClr val="EEF2FB"/>
                    </a:solidFill>
                  </a:tcPr>
                </a:tc>
              </a:tr>
            </a:tbl>
          </a:graphicData>
        </a:graphic>
      </p:graphicFrame>
      <p:sp>
        <p:nvSpPr>
          <p:cNvPr id="5" name="TextBox 4"/>
          <p:cNvSpPr txBox="1"/>
          <p:nvPr/>
        </p:nvSpPr>
        <p:spPr>
          <a:xfrm>
            <a:off x="640080" y="4462272"/>
            <a:ext cx="10908792" cy="1609344"/>
          </a:xfrm>
          <a:prstGeom prst="rect">
            <a:avLst/>
          </a:prstGeom>
          <a:noFill/>
        </p:spPr>
        <p:txBody>
          <a:bodyPr wrap="square" anchor="t">
            <a:spAutoFit/>
          </a:bodyPr>
          <a:lstStyle/>
          <a:p>
            <a:pPr>
              <a:spcAft>
                <a:spcPts val="400"/>
              </a:spcAft>
            </a:pPr>
            <a:r>
              <a:rPr sz="1500" b="1">
                <a:solidFill>
                  <a:srgbClr val="1F2A37"/>
                </a:solidFill>
              </a:rPr>
              <a:t>사용한 가정</a:t>
            </a:r>
          </a:p>
          <a:p>
            <a:pPr>
              <a:spcAft>
                <a:spcPts val="400"/>
              </a:spcAft>
            </a:pPr>
            <a:r>
              <a:rPr sz="1500">
                <a:solidFill>
                  <a:srgbClr val="2B59C3"/>
                </a:solidFill>
              </a:rPr>
              <a:t>• </a:t>
            </a:r>
            <a:r>
              <a:rPr sz="1500" b="0">
                <a:solidFill>
                  <a:srgbClr val="1F2A37"/>
                </a:solidFill>
              </a:rPr>
              <a:t>대학생 수는 100만 명으로 추정.</a:t>
            </a:r>
          </a:p>
          <a:p>
            <a:pPr>
              <a:spcAft>
                <a:spcPts val="400"/>
              </a:spcAft>
            </a:pPr>
            <a:r>
              <a:rPr sz="1500">
                <a:solidFill>
                  <a:srgbClr val="2B59C3"/>
                </a:solidFill>
              </a:rPr>
              <a:t>• </a:t>
            </a:r>
            <a:r>
              <a:rPr sz="1500" b="0">
                <a:solidFill>
                  <a:srgbClr val="1F2A37"/>
                </a:solidFill>
              </a:rPr>
              <a:t>서비스 단가는 100달러로 가정.</a:t>
            </a:r>
          </a:p>
          <a:p>
            <a:pPr>
              <a:spcBef>
                <a:spcPts val="600"/>
              </a:spcBef>
              <a:spcAft>
                <a:spcPts val="400"/>
              </a:spcAft>
            </a:pPr>
            <a:r>
              <a:rPr sz="1700" b="1">
                <a:solidFill>
                  <a:srgbClr val="2B59C3"/>
                </a:solidFill>
              </a:rPr>
              <a:t>경쟁사 분류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4. 시장·경쟁사 분석 (계속)</a:t>
            </a:r>
          </a:p>
        </p:txBody>
      </p:sp>
      <p:graphicFrame>
        <p:nvGraphicFramePr>
          <p:cNvPr id="3" name="Table 2"/>
          <p:cNvGraphicFramePr>
            <a:graphicFrameLocks noGrp="1"/>
          </p:cNvGraphicFramePr>
          <p:nvPr/>
        </p:nvGraphicFramePr>
        <p:xfrm>
          <a:off x="640080" y="1417320"/>
          <a:ext cx="10908792" cy="1453895"/>
        </p:xfrm>
        <a:graphic>
          <a:graphicData uri="http://schemas.openxmlformats.org/drawingml/2006/table">
            <a:tbl>
              <a:tblPr firstRow="1" bandRow="1">
                <a:tableStyleId>{5C22544A-7EE6-4342-B048-85BDC9FD1C3A}</a:tableStyleId>
              </a:tblPr>
              <a:tblGrid>
                <a:gridCol w="5454396"/>
                <a:gridCol w="5454396"/>
              </a:tblGrid>
              <a:tr h="363473">
                <a:tc>
                  <a:txBody>
                    <a:bodyPr/>
                    <a:lstStyle/>
                    <a:p>
                      <a:pPr algn="ctr"/>
                      <a:r>
                        <a:rPr sz="1100" b="1">
                          <a:solidFill>
                            <a:srgbClr val="FFFFFF"/>
                          </a:solidFill>
                        </a:rPr>
                        <a:t>구분</a:t>
                      </a:r>
                    </a:p>
                  </a:txBody>
                  <a:tcPr>
                    <a:solidFill>
                      <a:srgbClr val="2B59C3"/>
                    </a:solidFill>
                  </a:tcPr>
                </a:tc>
                <a:tc>
                  <a:txBody>
                    <a:bodyPr/>
                    <a:lstStyle/>
                    <a:p>
                      <a:pPr algn="ctr"/>
                      <a:r>
                        <a:rPr sz="1100" b="1">
                          <a:solidFill>
                            <a:srgbClr val="FFFFFF"/>
                          </a:solidFill>
                        </a:rPr>
                        <a:t>대상</a:t>
                      </a:r>
                    </a:p>
                  </a:txBody>
                  <a:tcPr>
                    <a:solidFill>
                      <a:srgbClr val="2B59C3"/>
                    </a:solidFill>
                  </a:tcPr>
                </a:tc>
              </a:tr>
              <a:tr h="363473">
                <a:tc>
                  <a:txBody>
                    <a:bodyPr/>
                    <a:lstStyle/>
                    <a:p>
                      <a:r>
                        <a:rPr sz="1100" b="0">
                          <a:solidFill>
                            <a:srgbClr val="1F2A37"/>
                          </a:solidFill>
                        </a:rPr>
                        <a:t>직접 경쟁자 (3)</a:t>
                      </a:r>
                    </a:p>
                  </a:txBody>
                  <a:tcPr>
                    <a:solidFill>
                      <a:srgbClr val="FFFFFF"/>
                    </a:solidFill>
                  </a:tcPr>
                </a:tc>
                <a:tc>
                  <a:txBody>
                    <a:bodyPr/>
                    <a:lstStyle/>
                    <a:p>
                      <a:r>
                        <a:rPr sz="1100" b="0">
                          <a:solidFill>
                            <a:srgbClr val="1F2A37"/>
                          </a:solidFill>
                        </a:rPr>
                        <a:t>Career Compass, Young熊+, 커리어넷</a:t>
                      </a:r>
                    </a:p>
                  </a:txBody>
                  <a:tcPr>
                    <a:solidFill>
                      <a:srgbClr val="FFFFFF"/>
                    </a:solidFill>
                  </a:tcPr>
                </a:tc>
              </a:tr>
              <a:tr h="363473">
                <a:tc>
                  <a:txBody>
                    <a:bodyPr/>
                    <a:lstStyle/>
                    <a:p>
                      <a:r>
                        <a:rPr sz="1100" b="0">
                          <a:solidFill>
                            <a:srgbClr val="1F2A37"/>
                          </a:solidFill>
                        </a:rPr>
                        <a:t>간접 경쟁자 (2)</a:t>
                      </a:r>
                    </a:p>
                  </a:txBody>
                  <a:tcPr>
                    <a:solidFill>
                      <a:srgbClr val="EEF2FB"/>
                    </a:solidFill>
                  </a:tcPr>
                </a:tc>
                <a:tc>
                  <a:txBody>
                    <a:bodyPr/>
                    <a:lstStyle/>
                    <a:p>
                      <a:r>
                        <a:rPr sz="1100" b="0">
                          <a:solidFill>
                            <a:srgbClr val="1F2A37"/>
                          </a:solidFill>
                        </a:rPr>
                        <a:t>AI 진로 검사 서비스, 진로 설계 프로그램</a:t>
                      </a:r>
                    </a:p>
                  </a:txBody>
                  <a:tcPr>
                    <a:solidFill>
                      <a:srgbClr val="EEF2FB"/>
                    </a:solidFill>
                  </a:tcPr>
                </a:tc>
              </a:tr>
              <a:tr h="363476">
                <a:tc>
                  <a:txBody>
                    <a:bodyPr/>
                    <a:lstStyle/>
                    <a:p>
                      <a:r>
                        <a:rPr sz="1100" b="0">
                          <a:solidFill>
                            <a:srgbClr val="1F2A37"/>
                          </a:solidFill>
                        </a:rPr>
                        <a:t>잠재 경쟁자 (1)</a:t>
                      </a:r>
                    </a:p>
                  </a:txBody>
                  <a:tcPr>
                    <a:solidFill>
                      <a:srgbClr val="FFFFFF"/>
                    </a:solidFill>
                  </a:tcPr>
                </a:tc>
                <a:tc>
                  <a:txBody>
                    <a:bodyPr/>
                    <a:lstStyle/>
                    <a:p>
                      <a:r>
                        <a:rPr sz="1100" b="0">
                          <a:solidFill>
                            <a:srgbClr val="1F2A37"/>
                          </a:solidFill>
                        </a:rPr>
                        <a:t>미확인</a:t>
                      </a:r>
                    </a:p>
                  </a:txBody>
                  <a:tcPr>
                    <a:solidFill>
                      <a:srgbClr val="FFFFFF"/>
                    </a:solidFill>
                  </a:tcPr>
                </a:tc>
              </a:tr>
            </a:tbl>
          </a:graphicData>
        </a:graphic>
      </p:graphicFrame>
      <p:sp>
        <p:nvSpPr>
          <p:cNvPr id="4" name="TextBox 3"/>
          <p:cNvSpPr txBox="1"/>
          <p:nvPr/>
        </p:nvSpPr>
        <p:spPr>
          <a:xfrm>
            <a:off x="640080" y="3008375"/>
            <a:ext cx="10908792" cy="3090672"/>
          </a:xfrm>
          <a:prstGeom prst="rect">
            <a:avLst/>
          </a:prstGeom>
          <a:noFill/>
        </p:spPr>
        <p:txBody>
          <a:bodyPr wrap="square" anchor="t">
            <a:spAutoFit/>
          </a:bodyPr>
          <a:lstStyle/>
          <a:p>
            <a:pPr>
              <a:spcBef>
                <a:spcPts val="600"/>
              </a:spcBef>
              <a:spcAft>
                <a:spcPts val="400"/>
              </a:spcAft>
            </a:pPr>
            <a:r>
              <a:rPr sz="1700" b="1">
                <a:solidFill>
                  <a:srgbClr val="2B59C3"/>
                </a:solidFill>
              </a:rPr>
              <a:t>비교 항목 (10개)</a:t>
            </a:r>
          </a:p>
          <a:p>
            <a:pPr>
              <a:spcAft>
                <a:spcPts val="400"/>
              </a:spcAft>
            </a:pPr>
            <a:r>
              <a:rPr sz="1500">
                <a:solidFill>
                  <a:srgbClr val="2B59C3"/>
                </a:solidFill>
              </a:rPr>
              <a:t>• </a:t>
            </a:r>
            <a:r>
              <a:rPr sz="1500" b="0">
                <a:solidFill>
                  <a:srgbClr val="1F2A37"/>
                </a:solidFill>
              </a:rPr>
              <a:t>기능</a:t>
            </a:r>
          </a:p>
          <a:p>
            <a:pPr>
              <a:spcAft>
                <a:spcPts val="400"/>
              </a:spcAft>
            </a:pPr>
            <a:r>
              <a:rPr sz="1500">
                <a:solidFill>
                  <a:srgbClr val="2B59C3"/>
                </a:solidFill>
              </a:rPr>
              <a:t>• </a:t>
            </a:r>
            <a:r>
              <a:rPr sz="1500" b="0">
                <a:solidFill>
                  <a:srgbClr val="1F2A37"/>
                </a:solidFill>
              </a:rPr>
              <a:t>가격</a:t>
            </a:r>
          </a:p>
          <a:p>
            <a:pPr>
              <a:spcAft>
                <a:spcPts val="400"/>
              </a:spcAft>
            </a:pPr>
            <a:r>
              <a:rPr sz="1500">
                <a:solidFill>
                  <a:srgbClr val="2B59C3"/>
                </a:solidFill>
              </a:rPr>
              <a:t>• </a:t>
            </a:r>
            <a:r>
              <a:rPr sz="1500" b="0">
                <a:solidFill>
                  <a:srgbClr val="1F2A37"/>
                </a:solidFill>
              </a:rPr>
              <a:t>UX</a:t>
            </a:r>
          </a:p>
          <a:p>
            <a:pPr>
              <a:spcAft>
                <a:spcPts val="400"/>
              </a:spcAft>
            </a:pPr>
            <a:r>
              <a:rPr sz="1500">
                <a:solidFill>
                  <a:srgbClr val="2B59C3"/>
                </a:solidFill>
              </a:rPr>
              <a:t>• </a:t>
            </a:r>
            <a:r>
              <a:rPr sz="1500" b="0">
                <a:solidFill>
                  <a:srgbClr val="1F2A37"/>
                </a:solidFill>
              </a:rPr>
              <a:t>마케팅</a:t>
            </a:r>
          </a:p>
          <a:p>
            <a:pPr>
              <a:spcAft>
                <a:spcPts val="400"/>
              </a:spcAft>
            </a:pPr>
            <a:r>
              <a:rPr sz="1500">
                <a:solidFill>
                  <a:srgbClr val="2B59C3"/>
                </a:solidFill>
              </a:rPr>
              <a:t>• </a:t>
            </a:r>
            <a:r>
              <a:rPr sz="1500" b="0">
                <a:solidFill>
                  <a:srgbClr val="1F2A37"/>
                </a:solidFill>
              </a:rPr>
              <a:t>고객획득</a:t>
            </a:r>
          </a:p>
          <a:p>
            <a:pPr>
              <a:spcAft>
                <a:spcPts val="400"/>
              </a:spcAft>
            </a:pPr>
            <a:r>
              <a:rPr sz="1500">
                <a:solidFill>
                  <a:srgbClr val="2B59C3"/>
                </a:solidFill>
              </a:rPr>
              <a:t>• </a:t>
            </a:r>
            <a:r>
              <a:rPr sz="1500" b="0">
                <a:solidFill>
                  <a:srgbClr val="1F2A37"/>
                </a:solidFill>
              </a:rPr>
              <a:t>수익모델</a:t>
            </a:r>
          </a:p>
          <a:p>
            <a:pPr>
              <a:spcAft>
                <a:spcPts val="400"/>
              </a:spcAft>
            </a:pPr>
            <a:r>
              <a:rPr sz="1500">
                <a:solidFill>
                  <a:srgbClr val="2B59C3"/>
                </a:solidFill>
              </a:rPr>
              <a:t>• </a:t>
            </a:r>
            <a:r>
              <a:rPr sz="1500" b="0">
                <a:solidFill>
                  <a:srgbClr val="1F2A37"/>
                </a:solidFill>
              </a:rPr>
              <a:t>인력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4. 시장·경쟁사 분석 (계속)</a:t>
            </a:r>
          </a:p>
        </p:txBody>
      </p:sp>
      <p:sp>
        <p:nvSpPr>
          <p:cNvPr id="3" name="TextBox 2"/>
          <p:cNvSpPr txBox="1"/>
          <p:nvPr/>
        </p:nvSpPr>
        <p:spPr>
          <a:xfrm>
            <a:off x="640080" y="1417320"/>
            <a:ext cx="10908792" cy="1984248"/>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기술스택</a:t>
            </a:r>
          </a:p>
          <a:p>
            <a:pPr>
              <a:spcAft>
                <a:spcPts val="400"/>
              </a:spcAft>
            </a:pPr>
            <a:r>
              <a:rPr sz="1500">
                <a:solidFill>
                  <a:srgbClr val="2B59C3"/>
                </a:solidFill>
              </a:rPr>
              <a:t>• </a:t>
            </a:r>
            <a:r>
              <a:rPr sz="1500" b="0">
                <a:solidFill>
                  <a:srgbClr val="1F2A37"/>
                </a:solidFill>
              </a:rPr>
              <a:t>신뢰성</a:t>
            </a:r>
          </a:p>
          <a:p>
            <a:pPr>
              <a:spcAft>
                <a:spcPts val="400"/>
              </a:spcAft>
            </a:pPr>
            <a:r>
              <a:rPr sz="1500">
                <a:solidFill>
                  <a:srgbClr val="2B59C3"/>
                </a:solidFill>
              </a:rPr>
              <a:t>• </a:t>
            </a:r>
            <a:r>
              <a:rPr sz="1500" b="0">
                <a:solidFill>
                  <a:srgbClr val="1F2A37"/>
                </a:solidFill>
              </a:rPr>
              <a:t>고객지원</a:t>
            </a:r>
          </a:p>
          <a:p>
            <a:pPr>
              <a:spcBef>
                <a:spcPts val="600"/>
              </a:spcBef>
              <a:spcAft>
                <a:spcPts val="400"/>
              </a:spcAft>
            </a:pPr>
            <a:r>
              <a:rPr sz="1700" b="1">
                <a:solidFill>
                  <a:srgbClr val="2B59C3"/>
                </a:solidFill>
              </a:rPr>
              <a:t>경쟁사 비교표 (6행)</a:t>
            </a:r>
          </a:p>
          <a:p>
            <a:pPr>
              <a:spcAft>
                <a:spcPts val="400"/>
              </a:spcAft>
            </a:pPr>
            <a:r>
              <a:rPr sz="1500" b="1">
                <a:solidFill>
                  <a:srgbClr val="1F2A37"/>
                </a:solidFill>
              </a:rPr>
              <a:t>① 제품·시장</a:t>
            </a:r>
          </a:p>
        </p:txBody>
      </p:sp>
      <p:graphicFrame>
        <p:nvGraphicFramePr>
          <p:cNvPr id="4" name="Table 3"/>
          <p:cNvGraphicFramePr>
            <a:graphicFrameLocks noGrp="1"/>
          </p:cNvGraphicFramePr>
          <p:nvPr/>
        </p:nvGraphicFramePr>
        <p:xfrm>
          <a:off x="640080" y="3401568"/>
          <a:ext cx="10908792" cy="2441448"/>
        </p:xfrm>
        <a:graphic>
          <a:graphicData uri="http://schemas.openxmlformats.org/drawingml/2006/table">
            <a:tbl>
              <a:tblPr firstRow="1" bandRow="1">
                <a:tableStyleId>{5C22544A-7EE6-4342-B048-85BDC9FD1C3A}</a:tableStyleId>
              </a:tblPr>
              <a:tblGrid>
                <a:gridCol w="1818132"/>
                <a:gridCol w="1818132"/>
                <a:gridCol w="1818132"/>
                <a:gridCol w="1818132"/>
                <a:gridCol w="1818132"/>
                <a:gridCol w="1818132"/>
              </a:tblGrid>
              <a:tr h="348778">
                <a:tc>
                  <a:txBody>
                    <a:bodyPr/>
                    <a:lstStyle/>
                    <a:p>
                      <a:pPr algn="ctr"/>
                      <a:r>
                        <a:rPr sz="1100" b="1">
                          <a:solidFill>
                            <a:srgbClr val="FFFFFF"/>
                          </a:solidFill>
                        </a:rPr>
                        <a:t>대상</a:t>
                      </a:r>
                    </a:p>
                  </a:txBody>
                  <a:tcPr>
                    <a:solidFill>
                      <a:srgbClr val="2B59C3"/>
                    </a:solidFill>
                  </a:tcPr>
                </a:tc>
                <a:tc>
                  <a:txBody>
                    <a:bodyPr/>
                    <a:lstStyle/>
                    <a:p>
                      <a:pPr algn="ctr"/>
                      <a:r>
                        <a:rPr sz="1100" b="1">
                          <a:solidFill>
                            <a:srgbClr val="FFFFFF"/>
                          </a:solidFill>
                        </a:rPr>
                        <a:t>주요 기능</a:t>
                      </a:r>
                    </a:p>
                  </a:txBody>
                  <a:tcPr>
                    <a:solidFill>
                      <a:srgbClr val="2B59C3"/>
                    </a:solidFill>
                  </a:tcPr>
                </a:tc>
                <a:tc>
                  <a:txBody>
                    <a:bodyPr/>
                    <a:lstStyle/>
                    <a:p>
                      <a:pPr algn="ctr"/>
                      <a:r>
                        <a:rPr sz="1100" b="1">
                          <a:solidFill>
                            <a:srgbClr val="FFFFFF"/>
                          </a:solidFill>
                        </a:rPr>
                        <a:t>가격</a:t>
                      </a:r>
                    </a:p>
                  </a:txBody>
                  <a:tcPr>
                    <a:solidFill>
                      <a:srgbClr val="2B59C3"/>
                    </a:solidFill>
                  </a:tcPr>
                </a:tc>
                <a:tc>
                  <a:txBody>
                    <a:bodyPr/>
                    <a:lstStyle/>
                    <a:p>
                      <a:pPr algn="ctr"/>
                      <a:r>
                        <a:rPr sz="1100" b="1">
                          <a:solidFill>
                            <a:srgbClr val="FFFFFF"/>
                          </a:solidFill>
                        </a:rPr>
                        <a:t>UX</a:t>
                      </a:r>
                    </a:p>
                  </a:txBody>
                  <a:tcPr>
                    <a:solidFill>
                      <a:srgbClr val="2B59C3"/>
                    </a:solidFill>
                  </a:tcPr>
                </a:tc>
                <a:tc>
                  <a:txBody>
                    <a:bodyPr/>
                    <a:lstStyle/>
                    <a:p>
                      <a:pPr algn="ctr"/>
                      <a:r>
                        <a:rPr sz="1100" b="1">
                          <a:solidFill>
                            <a:srgbClr val="FFFFFF"/>
                          </a:solidFill>
                        </a:rPr>
                        <a:t>타깃 사용자</a:t>
                      </a:r>
                    </a:p>
                  </a:txBody>
                  <a:tcPr>
                    <a:solidFill>
                      <a:srgbClr val="2B59C3"/>
                    </a:solidFill>
                  </a:tcPr>
                </a:tc>
                <a:tc>
                  <a:txBody>
                    <a:bodyPr/>
                    <a:lstStyle/>
                    <a:p>
                      <a:pPr algn="ctr"/>
                      <a:r>
                        <a:rPr sz="1100" b="1">
                          <a:solidFill>
                            <a:srgbClr val="FFFFFF"/>
                          </a:solidFill>
                        </a:rPr>
                        <a:t>수익 모델</a:t>
                      </a:r>
                    </a:p>
                  </a:txBody>
                  <a:tcPr>
                    <a:solidFill>
                      <a:srgbClr val="2B59C3"/>
                    </a:solidFill>
                  </a:tcPr>
                </a:tc>
              </a:tr>
              <a:tr h="348778">
                <a:tc>
                  <a:txBody>
                    <a:bodyPr/>
                    <a:lstStyle/>
                    <a:p>
                      <a:r>
                        <a:rPr sz="1100" b="0">
                          <a:solidFill>
                            <a:srgbClr val="1F2A37"/>
                          </a:solidFill>
                        </a:rPr>
                        <a:t>Career Compass (직접)</a:t>
                      </a:r>
                    </a:p>
                  </a:txBody>
                  <a:tcPr>
                    <a:solidFill>
                      <a:srgbClr val="FFFFFF"/>
                    </a:solidFill>
                  </a:tcPr>
                </a:tc>
                <a:tc>
                  <a:txBody>
                    <a:bodyPr/>
                    <a:lstStyle/>
                    <a:p>
                      <a:r>
                        <a:rPr sz="1100" b="0">
                          <a:solidFill>
                            <a:srgbClr val="1F2A37"/>
                          </a:solidFill>
                        </a:rPr>
                        <a:t>AI 기반 맞춤형 진로 상담, 성적 및 생활기록부 분석, 취업 로드맵 제안</a:t>
                      </a:r>
                    </a:p>
                  </a:txBody>
                  <a:tcPr>
                    <a:solidFill>
                      <a:srgbClr val="FFFFFF"/>
                    </a:solidFill>
                  </a:tcPr>
                </a:tc>
                <a:tc>
                  <a:txBody>
                    <a:bodyPr/>
                    <a:lstStyle/>
                    <a:p>
                      <a:r>
                        <a:rPr sz="1100" b="0">
                          <a:solidFill>
                            <a:srgbClr val="1F2A37"/>
                          </a:solidFill>
                        </a:rPr>
                        <a:t>미확인</a:t>
                      </a:r>
                    </a:p>
                  </a:txBody>
                  <a:tcPr>
                    <a:solidFill>
                      <a:srgbClr val="FFFFFF"/>
                    </a:solidFill>
                  </a:tcPr>
                </a:tc>
                <a:tc>
                  <a:txBody>
                    <a:bodyPr/>
                    <a:lstStyle/>
                    <a:p>
                      <a:r>
                        <a:rPr sz="1100" b="0">
                          <a:solidFill>
                            <a:srgbClr val="1F2A37"/>
                          </a:solidFill>
                        </a:rPr>
                        <a:t>미확인</a:t>
                      </a:r>
                    </a:p>
                  </a:txBody>
                  <a:tcPr>
                    <a:solidFill>
                      <a:srgbClr val="FFFFFF"/>
                    </a:solidFill>
                  </a:tcPr>
                </a:tc>
                <a:tc>
                  <a:txBody>
                    <a:bodyPr/>
                    <a:lstStyle/>
                    <a:p>
                      <a:r>
                        <a:rPr sz="1100" b="0">
                          <a:solidFill>
                            <a:srgbClr val="1F2A37"/>
                          </a:solidFill>
                        </a:rPr>
                        <a:t>대학생</a:t>
                      </a:r>
                    </a:p>
                  </a:txBody>
                  <a:tcPr>
                    <a:solidFill>
                      <a:srgbClr val="FFFFFF"/>
                    </a:solidFill>
                  </a:tcPr>
                </a:tc>
                <a:tc>
                  <a:txBody>
                    <a:bodyPr/>
                    <a:lstStyle/>
                    <a:p>
                      <a:r>
                        <a:rPr sz="1100" b="0">
                          <a:solidFill>
                            <a:srgbClr val="1F2A37"/>
                          </a:solidFill>
                        </a:rPr>
                        <a:t>구독 모델</a:t>
                      </a:r>
                    </a:p>
                  </a:txBody>
                  <a:tcPr>
                    <a:solidFill>
                      <a:srgbClr val="FFFFFF"/>
                    </a:solidFill>
                  </a:tcPr>
                </a:tc>
              </a:tr>
              <a:tr h="348778">
                <a:tc>
                  <a:txBody>
                    <a:bodyPr/>
                    <a:lstStyle/>
                    <a:p>
                      <a:r>
                        <a:rPr sz="1100" b="0">
                          <a:solidFill>
                            <a:srgbClr val="1F2A37"/>
                          </a:solidFill>
                        </a:rPr>
                        <a:t>Young熊+ (직접)</a:t>
                      </a:r>
                    </a:p>
                  </a:txBody>
                  <a:tcPr>
                    <a:solidFill>
                      <a:srgbClr val="EEF2FB"/>
                    </a:solidFill>
                  </a:tcPr>
                </a:tc>
                <a:tc>
                  <a:txBody>
                    <a:bodyPr/>
                    <a:lstStyle/>
                    <a:p>
                      <a:r>
                        <a:rPr sz="1100" b="0">
                          <a:solidFill>
                            <a:srgbClr val="1F2A37"/>
                          </a:solidFill>
                        </a:rPr>
                        <a:t>전공 정보 및 수강 현황 분석, 비교과 프로그램 추천</a:t>
                      </a:r>
                    </a:p>
                  </a:txBody>
                  <a:tcPr>
                    <a:solidFill>
                      <a:srgbClr val="EEF2FB"/>
                    </a:solidFill>
                  </a:tcPr>
                </a:tc>
                <a:tc>
                  <a:txBody>
                    <a:bodyPr/>
                    <a:lstStyle/>
                    <a:p>
                      <a:r>
                        <a:rPr sz="1100" b="0">
                          <a:solidFill>
                            <a:srgbClr val="1F2A37"/>
                          </a:solidFill>
                        </a:rPr>
                        <a:t>미확인</a:t>
                      </a:r>
                    </a:p>
                  </a:txBody>
                  <a:tcPr>
                    <a:solidFill>
                      <a:srgbClr val="EEF2FB"/>
                    </a:solidFill>
                  </a:tcPr>
                </a:tc>
                <a:tc>
                  <a:txBody>
                    <a:bodyPr/>
                    <a:lstStyle/>
                    <a:p>
                      <a:r>
                        <a:rPr sz="1100" b="0">
                          <a:solidFill>
                            <a:srgbClr val="1F2A37"/>
                          </a:solidFill>
                        </a:rPr>
                        <a:t>미확인</a:t>
                      </a:r>
                    </a:p>
                  </a:txBody>
                  <a:tcPr>
                    <a:solidFill>
                      <a:srgbClr val="EEF2FB"/>
                    </a:solidFill>
                  </a:tcPr>
                </a:tc>
                <a:tc>
                  <a:txBody>
                    <a:bodyPr/>
                    <a:lstStyle/>
                    <a:p>
                      <a:r>
                        <a:rPr sz="1100" b="0">
                          <a:solidFill>
                            <a:srgbClr val="1F2A37"/>
                          </a:solidFill>
                        </a:rPr>
                        <a:t>대학생</a:t>
                      </a:r>
                    </a:p>
                  </a:txBody>
                  <a:tcPr>
                    <a:solidFill>
                      <a:srgbClr val="EEF2FB"/>
                    </a:solidFill>
                  </a:tcPr>
                </a:tc>
                <a:tc>
                  <a:txBody>
                    <a:bodyPr/>
                    <a:lstStyle/>
                    <a:p>
                      <a:r>
                        <a:rPr sz="1100" b="0">
                          <a:solidFill>
                            <a:srgbClr val="1F2A37"/>
                          </a:solidFill>
                        </a:rPr>
                        <a:t>구독 모델</a:t>
                      </a:r>
                    </a:p>
                  </a:txBody>
                  <a:tcPr>
                    <a:solidFill>
                      <a:srgbClr val="EEF2FB"/>
                    </a:solidFill>
                  </a:tcPr>
                </a:tc>
              </a:tr>
              <a:tr h="348778">
                <a:tc>
                  <a:txBody>
                    <a:bodyPr/>
                    <a:lstStyle/>
                    <a:p>
                      <a:r>
                        <a:rPr sz="1100" b="0">
                          <a:solidFill>
                            <a:srgbClr val="1F2A37"/>
                          </a:solidFill>
                        </a:rPr>
                        <a:t>커리어넷 (직접)</a:t>
                      </a:r>
                    </a:p>
                  </a:txBody>
                  <a:tcPr>
                    <a:solidFill>
                      <a:srgbClr val="FFFFFF"/>
                    </a:solidFill>
                  </a:tcPr>
                </a:tc>
                <a:tc>
                  <a:txBody>
                    <a:bodyPr/>
                    <a:lstStyle/>
                    <a:p>
                      <a:r>
                        <a:rPr sz="1100" b="0">
                          <a:solidFill>
                            <a:srgbClr val="1F2A37"/>
                          </a:solidFill>
                        </a:rPr>
                        <a:t>심리검사 데이터와 직업정보 결합</a:t>
                      </a:r>
                    </a:p>
                  </a:txBody>
                  <a:tcPr>
                    <a:solidFill>
                      <a:srgbClr val="FFFFFF"/>
                    </a:solidFill>
                  </a:tcPr>
                </a:tc>
                <a:tc>
                  <a:txBody>
                    <a:bodyPr/>
                    <a:lstStyle/>
                    <a:p>
                      <a:r>
                        <a:rPr sz="1100" b="0">
                          <a:solidFill>
                            <a:srgbClr val="1F2A37"/>
                          </a:solidFill>
                        </a:rPr>
                        <a:t>미확인</a:t>
                      </a:r>
                    </a:p>
                  </a:txBody>
                  <a:tcPr>
                    <a:solidFill>
                      <a:srgbClr val="FFFFFF"/>
                    </a:solidFill>
                  </a:tcPr>
                </a:tc>
                <a:tc>
                  <a:txBody>
                    <a:bodyPr/>
                    <a:lstStyle/>
                    <a:p>
                      <a:r>
                        <a:rPr sz="1100" b="0">
                          <a:solidFill>
                            <a:srgbClr val="1F2A37"/>
                          </a:solidFill>
                        </a:rPr>
                        <a:t>미확인</a:t>
                      </a:r>
                    </a:p>
                  </a:txBody>
                  <a:tcPr>
                    <a:solidFill>
                      <a:srgbClr val="FFFFFF"/>
                    </a:solidFill>
                  </a:tcPr>
                </a:tc>
                <a:tc>
                  <a:txBody>
                    <a:bodyPr/>
                    <a:lstStyle/>
                    <a:p>
                      <a:r>
                        <a:rPr sz="1100" b="0">
                          <a:solidFill>
                            <a:srgbClr val="1F2A37"/>
                          </a:solidFill>
                        </a:rPr>
                        <a:t>대학생</a:t>
                      </a:r>
                    </a:p>
                  </a:txBody>
                  <a:tcPr>
                    <a:solidFill>
                      <a:srgbClr val="FFFFFF"/>
                    </a:solidFill>
                  </a:tcPr>
                </a:tc>
                <a:tc>
                  <a:txBody>
                    <a:bodyPr/>
                    <a:lstStyle/>
                    <a:p>
                      <a:r>
                        <a:rPr sz="1100" b="0">
                          <a:solidFill>
                            <a:srgbClr val="1F2A37"/>
                          </a:solidFill>
                        </a:rPr>
                        <a:t>구독 모델</a:t>
                      </a:r>
                    </a:p>
                  </a:txBody>
                  <a:tcPr>
                    <a:solidFill>
                      <a:srgbClr val="FFFFFF"/>
                    </a:solidFill>
                  </a:tcPr>
                </a:tc>
              </a:tr>
              <a:tr h="348778">
                <a:tc>
                  <a:txBody>
                    <a:bodyPr/>
                    <a:lstStyle/>
                    <a:p>
                      <a:r>
                        <a:rPr sz="1100" b="0">
                          <a:solidFill>
                            <a:srgbClr val="1F2A37"/>
                          </a:solidFill>
                        </a:rPr>
                        <a:t>AI 진로 검사 서비스 (간접)</a:t>
                      </a:r>
                    </a:p>
                  </a:txBody>
                  <a:tcPr>
                    <a:solidFill>
                      <a:srgbClr val="EEF2FB"/>
                    </a:solidFill>
                  </a:tcPr>
                </a:tc>
                <a:tc>
                  <a:txBody>
                    <a:bodyPr/>
                    <a:lstStyle/>
                    <a:p>
                      <a:r>
                        <a:rPr sz="1100" b="0">
                          <a:solidFill>
                            <a:srgbClr val="1F2A37"/>
                          </a:solidFill>
                        </a:rPr>
                        <a:t>AI 기반 진로 검사</a:t>
                      </a:r>
                    </a:p>
                  </a:txBody>
                  <a:tcPr>
                    <a:solidFill>
                      <a:srgbClr val="EEF2FB"/>
                    </a:solidFill>
                  </a:tcPr>
                </a:tc>
                <a:tc>
                  <a:txBody>
                    <a:bodyPr/>
                    <a:lstStyle/>
                    <a:p>
                      <a:r>
                        <a:rPr sz="1100" b="0">
                          <a:solidFill>
                            <a:srgbClr val="1F2A37"/>
                          </a:solidFill>
                        </a:rPr>
                        <a:t>12,000원</a:t>
                      </a:r>
                    </a:p>
                  </a:txBody>
                  <a:tcPr>
                    <a:solidFill>
                      <a:srgbClr val="EEF2FB"/>
                    </a:solidFill>
                  </a:tcPr>
                </a:tc>
                <a:tc>
                  <a:txBody>
                    <a:bodyPr/>
                    <a:lstStyle/>
                    <a:p>
                      <a:r>
                        <a:rPr sz="1100" b="0">
                          <a:solidFill>
                            <a:srgbClr val="1F2A37"/>
                          </a:solidFill>
                        </a:rPr>
                        <a:t>미확인</a:t>
                      </a:r>
                    </a:p>
                  </a:txBody>
                  <a:tcPr>
                    <a:solidFill>
                      <a:srgbClr val="EEF2FB"/>
                    </a:solidFill>
                  </a:tcPr>
                </a:tc>
                <a:tc>
                  <a:txBody>
                    <a:bodyPr/>
                    <a:lstStyle/>
                    <a:p>
                      <a:r>
                        <a:rPr sz="1100" b="0">
                          <a:solidFill>
                            <a:srgbClr val="1F2A37"/>
                          </a:solidFill>
                        </a:rPr>
                        <a:t>대학생</a:t>
                      </a:r>
                    </a:p>
                  </a:txBody>
                  <a:tcPr>
                    <a:solidFill>
                      <a:srgbClr val="EEF2FB"/>
                    </a:solidFill>
                  </a:tcPr>
                </a:tc>
                <a:tc>
                  <a:txBody>
                    <a:bodyPr/>
                    <a:lstStyle/>
                    <a:p>
                      <a:r>
                        <a:rPr sz="1100" b="0">
                          <a:solidFill>
                            <a:srgbClr val="1F2A37"/>
                          </a:solidFill>
                        </a:rPr>
                        <a:t>단건 구매</a:t>
                      </a:r>
                    </a:p>
                  </a:txBody>
                  <a:tcPr>
                    <a:solidFill>
                      <a:srgbClr val="EEF2FB"/>
                    </a:solidFill>
                  </a:tcPr>
                </a:tc>
              </a:tr>
              <a:tr h="348778">
                <a:tc>
                  <a:txBody>
                    <a:bodyPr/>
                    <a:lstStyle/>
                    <a:p>
                      <a:r>
                        <a:rPr sz="1100" b="0">
                          <a:solidFill>
                            <a:srgbClr val="1F2A37"/>
                          </a:solidFill>
                        </a:rPr>
                        <a:t>진로 설계 프로그램 (간접)</a:t>
                      </a:r>
                    </a:p>
                  </a:txBody>
                  <a:tcPr>
                    <a:solidFill>
                      <a:srgbClr val="FFFFFF"/>
                    </a:solidFill>
                  </a:tcPr>
                </a:tc>
                <a:tc>
                  <a:txBody>
                    <a:bodyPr/>
                    <a:lstStyle/>
                    <a:p>
                      <a:r>
                        <a:rPr sz="1100" b="0">
                          <a:solidFill>
                            <a:srgbClr val="1F2A37"/>
                          </a:solidFill>
                        </a:rPr>
                        <a:t>진로 설계 도구</a:t>
                      </a:r>
                    </a:p>
                  </a:txBody>
                  <a:tcPr>
                    <a:solidFill>
                      <a:srgbClr val="FFFFFF"/>
                    </a:solidFill>
                  </a:tcPr>
                </a:tc>
                <a:tc>
                  <a:txBody>
                    <a:bodyPr/>
                    <a:lstStyle/>
                    <a:p>
                      <a:r>
                        <a:rPr sz="1100" b="0">
                          <a:solidFill>
                            <a:srgbClr val="1F2A37"/>
                          </a:solidFill>
                        </a:rPr>
                        <a:t>미확인</a:t>
                      </a:r>
                    </a:p>
                  </a:txBody>
                  <a:tcPr>
                    <a:solidFill>
                      <a:srgbClr val="FFFFFF"/>
                    </a:solidFill>
                  </a:tcPr>
                </a:tc>
                <a:tc>
                  <a:txBody>
                    <a:bodyPr/>
                    <a:lstStyle/>
                    <a:p>
                      <a:r>
                        <a:rPr sz="1100" b="0">
                          <a:solidFill>
                            <a:srgbClr val="1F2A37"/>
                          </a:solidFill>
                        </a:rPr>
                        <a:t>미확인</a:t>
                      </a:r>
                    </a:p>
                  </a:txBody>
                  <a:tcPr>
                    <a:solidFill>
                      <a:srgbClr val="FFFFFF"/>
                    </a:solidFill>
                  </a:tcPr>
                </a:tc>
                <a:tc>
                  <a:txBody>
                    <a:bodyPr/>
                    <a:lstStyle/>
                    <a:p>
                      <a:r>
                        <a:rPr sz="1100" b="0">
                          <a:solidFill>
                            <a:srgbClr val="1F2A37"/>
                          </a:solidFill>
                        </a:rPr>
                        <a:t>대학생</a:t>
                      </a:r>
                    </a:p>
                  </a:txBody>
                  <a:tcPr>
                    <a:solidFill>
                      <a:srgbClr val="FFFFFF"/>
                    </a:solidFill>
                  </a:tcPr>
                </a:tc>
                <a:tc>
                  <a:txBody>
                    <a:bodyPr/>
                    <a:lstStyle/>
                    <a:p>
                      <a:r>
                        <a:rPr sz="1100" b="0">
                          <a:solidFill>
                            <a:srgbClr val="1F2A37"/>
                          </a:solidFill>
                        </a:rPr>
                        <a:t>미확인</a:t>
                      </a:r>
                    </a:p>
                  </a:txBody>
                  <a:tcPr>
                    <a:solidFill>
                      <a:srgbClr val="FFFFFF"/>
                    </a:solidFill>
                  </a:tcPr>
                </a:tc>
              </a:tr>
              <a:tr h="348780">
                <a:tc>
                  <a:txBody>
                    <a:bodyPr/>
                    <a:lstStyle/>
                    <a:p>
                      <a:r>
                        <a:rPr sz="1100" b="0">
                          <a:solidFill>
                            <a:srgbClr val="1F2A37"/>
                          </a:solidFill>
                        </a:rPr>
                        <a:t>자사 (자사)</a:t>
                      </a:r>
                    </a:p>
                  </a:txBody>
                  <a:tcPr>
                    <a:solidFill>
                      <a:srgbClr val="EEF2FB"/>
                    </a:solidFill>
                  </a:tcPr>
                </a:tc>
                <a:tc>
                  <a:txBody>
                    <a:bodyPr/>
                    <a:lstStyle/>
                    <a:p>
                      <a:r>
                        <a:rPr sz="1100" b="0">
                          <a:solidFill>
                            <a:srgbClr val="1F2A37"/>
                          </a:solidFill>
                        </a:rPr>
                        <a:t>AI 기반 맞춤형 진로 상담 및 경로 설계</a:t>
                      </a:r>
                    </a:p>
                  </a:txBody>
                  <a:tcPr>
                    <a:solidFill>
                      <a:srgbClr val="EEF2FB"/>
                    </a:solidFill>
                  </a:tcPr>
                </a:tc>
                <a:tc>
                  <a:txBody>
                    <a:bodyPr/>
                    <a:lstStyle/>
                    <a:p>
                      <a:r>
                        <a:rPr sz="1100" b="0">
                          <a:solidFill>
                            <a:srgbClr val="1F2A37"/>
                          </a:solidFill>
                        </a:rPr>
                        <a:t>미확인</a:t>
                      </a:r>
                    </a:p>
                  </a:txBody>
                  <a:tcPr>
                    <a:solidFill>
                      <a:srgbClr val="EEF2FB"/>
                    </a:solidFill>
                  </a:tcPr>
                </a:tc>
                <a:tc>
                  <a:txBody>
                    <a:bodyPr/>
                    <a:lstStyle/>
                    <a:p>
                      <a:r>
                        <a:rPr sz="1100" b="0">
                          <a:solidFill>
                            <a:srgbClr val="1F2A37"/>
                          </a:solidFill>
                        </a:rPr>
                        <a:t>미확인</a:t>
                      </a:r>
                    </a:p>
                  </a:txBody>
                  <a:tcPr>
                    <a:solidFill>
                      <a:srgbClr val="EEF2FB"/>
                    </a:solidFill>
                  </a:tcPr>
                </a:tc>
                <a:tc>
                  <a:txBody>
                    <a:bodyPr/>
                    <a:lstStyle/>
                    <a:p>
                      <a:r>
                        <a:rPr sz="1100" b="0">
                          <a:solidFill>
                            <a:srgbClr val="1F2A37"/>
                          </a:solidFill>
                        </a:rPr>
                        <a:t>대학생</a:t>
                      </a:r>
                    </a:p>
                  </a:txBody>
                  <a:tcPr>
                    <a:solidFill>
                      <a:srgbClr val="EEF2FB"/>
                    </a:solidFill>
                  </a:tcPr>
                </a:tc>
                <a:tc>
                  <a:txBody>
                    <a:bodyPr/>
                    <a:lstStyle/>
                    <a:p>
                      <a:r>
                        <a:rPr sz="1100" b="0">
                          <a:solidFill>
                            <a:srgbClr val="1F2A37"/>
                          </a:solidFill>
                        </a:rPr>
                        <a:t>구독 모델</a:t>
                      </a:r>
                    </a:p>
                  </a:txBody>
                  <a:tcPr>
                    <a:solidFill>
                      <a:srgbClr val="EEF2FB"/>
                    </a:solidFill>
                  </a:tcPr>
                </a:tc>
              </a:tr>
            </a:tbl>
          </a:graphicData>
        </a:graphic>
      </p:graphicFrame>
      <p:sp>
        <p:nvSpPr>
          <p:cNvPr id="5" name="TextBox 4"/>
          <p:cNvSpPr txBox="1"/>
          <p:nvPr/>
        </p:nvSpPr>
        <p:spPr>
          <a:xfrm>
            <a:off x="640080" y="5980176"/>
            <a:ext cx="10908792" cy="393192"/>
          </a:xfrm>
          <a:prstGeom prst="rect">
            <a:avLst/>
          </a:prstGeom>
          <a:noFill/>
        </p:spPr>
        <p:txBody>
          <a:bodyPr wrap="square" anchor="t">
            <a:spAutoFit/>
          </a:bodyPr>
          <a:lstStyle/>
          <a:p>
            <a:pPr>
              <a:spcAft>
                <a:spcPts val="400"/>
              </a:spcAft>
            </a:pPr>
            <a:r>
              <a:rPr sz="1500" b="1">
                <a:solidFill>
                  <a:srgbClr val="1F2A37"/>
                </a:solidFill>
              </a:rPr>
              <a:t>② 강점·약점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4. 시장·경쟁사 분석 (계속)</a:t>
            </a:r>
          </a:p>
        </p:txBody>
      </p:sp>
      <p:graphicFrame>
        <p:nvGraphicFramePr>
          <p:cNvPr id="3" name="Table 2"/>
          <p:cNvGraphicFramePr>
            <a:graphicFrameLocks noGrp="1"/>
          </p:cNvGraphicFramePr>
          <p:nvPr/>
        </p:nvGraphicFramePr>
        <p:xfrm>
          <a:off x="640080" y="1417320"/>
          <a:ext cx="10908792" cy="2441448"/>
        </p:xfrm>
        <a:graphic>
          <a:graphicData uri="http://schemas.openxmlformats.org/drawingml/2006/table">
            <a:tbl>
              <a:tblPr firstRow="1" bandRow="1">
                <a:tableStyleId>{5C22544A-7EE6-4342-B048-85BDC9FD1C3A}</a:tableStyleId>
              </a:tblPr>
              <a:tblGrid>
                <a:gridCol w="3636264"/>
                <a:gridCol w="3636264"/>
                <a:gridCol w="3636264"/>
              </a:tblGrid>
              <a:tr h="348778">
                <a:tc>
                  <a:txBody>
                    <a:bodyPr/>
                    <a:lstStyle/>
                    <a:p>
                      <a:pPr algn="ctr"/>
                      <a:r>
                        <a:rPr sz="1100" b="1">
                          <a:solidFill>
                            <a:srgbClr val="FFFFFF"/>
                          </a:solidFill>
                        </a:rPr>
                        <a:t>대상</a:t>
                      </a:r>
                    </a:p>
                  </a:txBody>
                  <a:tcPr>
                    <a:solidFill>
                      <a:srgbClr val="2B59C3"/>
                    </a:solidFill>
                  </a:tcPr>
                </a:tc>
                <a:tc>
                  <a:txBody>
                    <a:bodyPr/>
                    <a:lstStyle/>
                    <a:p>
                      <a:pPr algn="ctr"/>
                      <a:r>
                        <a:rPr sz="1100" b="1">
                          <a:solidFill>
                            <a:srgbClr val="FFFFFF"/>
                          </a:solidFill>
                        </a:rPr>
                        <a:t>강점</a:t>
                      </a:r>
                    </a:p>
                  </a:txBody>
                  <a:tcPr>
                    <a:solidFill>
                      <a:srgbClr val="2B59C3"/>
                    </a:solidFill>
                  </a:tcPr>
                </a:tc>
                <a:tc>
                  <a:txBody>
                    <a:bodyPr/>
                    <a:lstStyle/>
                    <a:p>
                      <a:pPr algn="ctr"/>
                      <a:r>
                        <a:rPr sz="1100" b="1">
                          <a:solidFill>
                            <a:srgbClr val="FFFFFF"/>
                          </a:solidFill>
                        </a:rPr>
                        <a:t>약점</a:t>
                      </a:r>
                    </a:p>
                  </a:txBody>
                  <a:tcPr>
                    <a:solidFill>
                      <a:srgbClr val="2B59C3"/>
                    </a:solidFill>
                  </a:tcPr>
                </a:tc>
              </a:tr>
              <a:tr h="348778">
                <a:tc>
                  <a:txBody>
                    <a:bodyPr/>
                    <a:lstStyle/>
                    <a:p>
                      <a:r>
                        <a:rPr sz="1100" b="0">
                          <a:solidFill>
                            <a:srgbClr val="1F2A37"/>
                          </a:solidFill>
                        </a:rPr>
                        <a:t>Career Compass (직접)</a:t>
                      </a:r>
                    </a:p>
                  </a:txBody>
                  <a:tcPr>
                    <a:solidFill>
                      <a:srgbClr val="FFFFFF"/>
                    </a:solidFill>
                  </a:tcPr>
                </a:tc>
                <a:tc>
                  <a:txBody>
                    <a:bodyPr/>
                    <a:lstStyle/>
                    <a:p>
                      <a:r>
                        <a:rPr sz="1100" b="0">
                          <a:solidFill>
                            <a:srgbClr val="1F2A37"/>
                          </a:solidFill>
                        </a:rPr>
                        <a:t>AI 기술을 활용한 데이터 분석</a:t>
                      </a:r>
                    </a:p>
                  </a:txBody>
                  <a:tcPr>
                    <a:solidFill>
                      <a:srgbClr val="FFFFFF"/>
                    </a:solidFill>
                  </a:tcPr>
                </a:tc>
                <a:tc>
                  <a:txBody>
                    <a:bodyPr/>
                    <a:lstStyle/>
                    <a:p>
                      <a:r>
                        <a:rPr sz="1100" b="0">
                          <a:solidFill>
                            <a:srgbClr val="1F2A37"/>
                          </a:solidFill>
                        </a:rPr>
                        <a:t>AI의 신뢰성 문제</a:t>
                      </a:r>
                    </a:p>
                  </a:txBody>
                  <a:tcPr>
                    <a:solidFill>
                      <a:srgbClr val="FFFFFF"/>
                    </a:solidFill>
                  </a:tcPr>
                </a:tc>
              </a:tr>
              <a:tr h="348778">
                <a:tc>
                  <a:txBody>
                    <a:bodyPr/>
                    <a:lstStyle/>
                    <a:p>
                      <a:r>
                        <a:rPr sz="1100" b="0">
                          <a:solidFill>
                            <a:srgbClr val="1F2A37"/>
                          </a:solidFill>
                        </a:rPr>
                        <a:t>Young熊+ (직접)</a:t>
                      </a:r>
                    </a:p>
                  </a:txBody>
                  <a:tcPr>
                    <a:solidFill>
                      <a:srgbClr val="EEF2FB"/>
                    </a:solidFill>
                  </a:tcPr>
                </a:tc>
                <a:tc>
                  <a:txBody>
                    <a:bodyPr/>
                    <a:lstStyle/>
                    <a:p>
                      <a:r>
                        <a:rPr sz="1100" b="0">
                          <a:solidFill>
                            <a:srgbClr val="1F2A37"/>
                          </a:solidFill>
                        </a:rPr>
                        <a:t>졸업생의 학습 이력 분석</a:t>
                      </a:r>
                    </a:p>
                  </a:txBody>
                  <a:tcPr>
                    <a:solidFill>
                      <a:srgbClr val="EEF2FB"/>
                    </a:solidFill>
                  </a:tcPr>
                </a:tc>
                <a:tc>
                  <a:txBody>
                    <a:bodyPr/>
                    <a:lstStyle/>
                    <a:p>
                      <a:r>
                        <a:rPr sz="1100" b="0">
                          <a:solidFill>
                            <a:srgbClr val="1F2A37"/>
                          </a:solidFill>
                        </a:rPr>
                        <a:t>특정 대학에 국한된 서비스</a:t>
                      </a:r>
                    </a:p>
                  </a:txBody>
                  <a:tcPr>
                    <a:solidFill>
                      <a:srgbClr val="EEF2FB"/>
                    </a:solidFill>
                  </a:tcPr>
                </a:tc>
              </a:tr>
              <a:tr h="348778">
                <a:tc>
                  <a:txBody>
                    <a:bodyPr/>
                    <a:lstStyle/>
                    <a:p>
                      <a:r>
                        <a:rPr sz="1100" b="0">
                          <a:solidFill>
                            <a:srgbClr val="1F2A37"/>
                          </a:solidFill>
                        </a:rPr>
                        <a:t>커리어넷 (직접)</a:t>
                      </a:r>
                    </a:p>
                  </a:txBody>
                  <a:tcPr>
                    <a:solidFill>
                      <a:srgbClr val="FFFFFF"/>
                    </a:solidFill>
                  </a:tcPr>
                </a:tc>
                <a:tc>
                  <a:txBody>
                    <a:bodyPr/>
                    <a:lstStyle/>
                    <a:p>
                      <a:r>
                        <a:rPr sz="1100" b="0">
                          <a:solidFill>
                            <a:srgbClr val="1F2A37"/>
                          </a:solidFill>
                        </a:rPr>
                        <a:t>개인 맞춤형 정보 제공</a:t>
                      </a:r>
                    </a:p>
                  </a:txBody>
                  <a:tcPr>
                    <a:solidFill>
                      <a:srgbClr val="FFFFFF"/>
                    </a:solidFill>
                  </a:tcPr>
                </a:tc>
                <a:tc>
                  <a:txBody>
                    <a:bodyPr/>
                    <a:lstStyle/>
                    <a:p>
                      <a:r>
                        <a:rPr sz="1100" b="0">
                          <a:solidFill>
                            <a:srgbClr val="1F2A37"/>
                          </a:solidFill>
                        </a:rPr>
                        <a:t>데이터 신뢰성 문제</a:t>
                      </a:r>
                    </a:p>
                  </a:txBody>
                  <a:tcPr>
                    <a:solidFill>
                      <a:srgbClr val="FFFFFF"/>
                    </a:solidFill>
                  </a:tcPr>
                </a:tc>
              </a:tr>
              <a:tr h="348778">
                <a:tc>
                  <a:txBody>
                    <a:bodyPr/>
                    <a:lstStyle/>
                    <a:p>
                      <a:r>
                        <a:rPr sz="1100" b="0">
                          <a:solidFill>
                            <a:srgbClr val="1F2A37"/>
                          </a:solidFill>
                        </a:rPr>
                        <a:t>AI 진로 검사 서비스 (간접)</a:t>
                      </a:r>
                    </a:p>
                  </a:txBody>
                  <a:tcPr>
                    <a:solidFill>
                      <a:srgbClr val="EEF2FB"/>
                    </a:solidFill>
                  </a:tcPr>
                </a:tc>
                <a:tc>
                  <a:txBody>
                    <a:bodyPr/>
                    <a:lstStyle/>
                    <a:p>
                      <a:r>
                        <a:rPr sz="1100" b="0">
                          <a:solidFill>
                            <a:srgbClr val="1F2A37"/>
                          </a:solidFill>
                        </a:rPr>
                        <a:t>높은 사용자 만족도</a:t>
                      </a:r>
                    </a:p>
                  </a:txBody>
                  <a:tcPr>
                    <a:solidFill>
                      <a:srgbClr val="EEF2FB"/>
                    </a:solidFill>
                  </a:tcPr>
                </a:tc>
                <a:tc>
                  <a:txBody>
                    <a:bodyPr/>
                    <a:lstStyle/>
                    <a:p>
                      <a:r>
                        <a:rPr sz="1100" b="0">
                          <a:solidFill>
                            <a:srgbClr val="1F2A37"/>
                          </a:solidFill>
                        </a:rPr>
                        <a:t>제한된 기능</a:t>
                      </a:r>
                    </a:p>
                  </a:txBody>
                  <a:tcPr>
                    <a:solidFill>
                      <a:srgbClr val="EEF2FB"/>
                    </a:solidFill>
                  </a:tcPr>
                </a:tc>
              </a:tr>
              <a:tr h="348778">
                <a:tc>
                  <a:txBody>
                    <a:bodyPr/>
                    <a:lstStyle/>
                    <a:p>
                      <a:r>
                        <a:rPr sz="1100" b="0">
                          <a:solidFill>
                            <a:srgbClr val="1F2A37"/>
                          </a:solidFill>
                        </a:rPr>
                        <a:t>진로 설계 프로그램 (간접)</a:t>
                      </a:r>
                    </a:p>
                  </a:txBody>
                  <a:tcPr>
                    <a:solidFill>
                      <a:srgbClr val="FFFFFF"/>
                    </a:solidFill>
                  </a:tcPr>
                </a:tc>
                <a:tc>
                  <a:txBody>
                    <a:bodyPr/>
                    <a:lstStyle/>
                    <a:p>
                      <a:r>
                        <a:rPr sz="1100" b="0">
                          <a:solidFill>
                            <a:srgbClr val="1F2A37"/>
                          </a:solidFill>
                        </a:rPr>
                        <a:t>미확인</a:t>
                      </a:r>
                    </a:p>
                  </a:txBody>
                  <a:tcPr>
                    <a:solidFill>
                      <a:srgbClr val="FFFFFF"/>
                    </a:solidFill>
                  </a:tcPr>
                </a:tc>
                <a:tc>
                  <a:txBody>
                    <a:bodyPr/>
                    <a:lstStyle/>
                    <a:p>
                      <a:r>
                        <a:rPr sz="1100" b="0">
                          <a:solidFill>
                            <a:srgbClr val="1F2A37"/>
                          </a:solidFill>
                        </a:rPr>
                        <a:t>미확인</a:t>
                      </a:r>
                    </a:p>
                  </a:txBody>
                  <a:tcPr>
                    <a:solidFill>
                      <a:srgbClr val="FFFFFF"/>
                    </a:solidFill>
                  </a:tcPr>
                </a:tc>
              </a:tr>
              <a:tr h="348780">
                <a:tc>
                  <a:txBody>
                    <a:bodyPr/>
                    <a:lstStyle/>
                    <a:p>
                      <a:r>
                        <a:rPr sz="1100" b="0">
                          <a:solidFill>
                            <a:srgbClr val="1F2A37"/>
                          </a:solidFill>
                        </a:rPr>
                        <a:t>자사 (자사)</a:t>
                      </a:r>
                    </a:p>
                  </a:txBody>
                  <a:tcPr>
                    <a:solidFill>
                      <a:srgbClr val="EEF2FB"/>
                    </a:solidFill>
                  </a:tcPr>
                </a:tc>
                <a:tc>
                  <a:txBody>
                    <a:bodyPr/>
                    <a:lstStyle/>
                    <a:p>
                      <a:r>
                        <a:rPr sz="1100" b="0">
                          <a:solidFill>
                            <a:srgbClr val="1F2A37"/>
                          </a:solidFill>
                        </a:rPr>
                        <a:t>초개인화된 진로 설계 기능</a:t>
                      </a:r>
                    </a:p>
                  </a:txBody>
                  <a:tcPr>
                    <a:solidFill>
                      <a:srgbClr val="EEF2FB"/>
                    </a:solidFill>
                  </a:tcPr>
                </a:tc>
                <a:tc>
                  <a:txBody>
                    <a:bodyPr/>
                    <a:lstStyle/>
                    <a:p>
                      <a:r>
                        <a:rPr sz="1100" b="0">
                          <a:solidFill>
                            <a:srgbClr val="1F2A37"/>
                          </a:solidFill>
                        </a:rPr>
                        <a:t>미확인</a:t>
                      </a:r>
                    </a:p>
                  </a:txBody>
                  <a:tcPr>
                    <a:solidFill>
                      <a:srgbClr val="EEF2FB"/>
                    </a:solidFill>
                  </a:tcPr>
                </a:tc>
              </a:tr>
            </a:tbl>
          </a:graphicData>
        </a:graphic>
      </p:graphicFrame>
      <p:sp>
        <p:nvSpPr>
          <p:cNvPr id="4" name="TextBox 3"/>
          <p:cNvSpPr txBox="1"/>
          <p:nvPr/>
        </p:nvSpPr>
        <p:spPr>
          <a:xfrm>
            <a:off x="640080" y="3995928"/>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포지셔닝 맵 (기능성 × 가격)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4. 시장·경쟁사 분석 (계속)</a:t>
            </a:r>
          </a:p>
        </p:txBody>
      </p:sp>
      <p:graphicFrame>
        <p:nvGraphicFramePr>
          <p:cNvPr id="3" name="Table 2"/>
          <p:cNvGraphicFramePr>
            <a:graphicFrameLocks noGrp="1"/>
          </p:cNvGraphicFramePr>
          <p:nvPr/>
        </p:nvGraphicFramePr>
        <p:xfrm>
          <a:off x="640080" y="1417320"/>
          <a:ext cx="10908792" cy="2441448"/>
        </p:xfrm>
        <a:graphic>
          <a:graphicData uri="http://schemas.openxmlformats.org/drawingml/2006/table">
            <a:tbl>
              <a:tblPr firstRow="1" bandRow="1">
                <a:tableStyleId>{5C22544A-7EE6-4342-B048-85BDC9FD1C3A}</a:tableStyleId>
              </a:tblPr>
              <a:tblGrid>
                <a:gridCol w="3636264"/>
                <a:gridCol w="3636264"/>
                <a:gridCol w="3636264"/>
              </a:tblGrid>
              <a:tr h="348778">
                <a:tc>
                  <a:txBody>
                    <a:bodyPr/>
                    <a:lstStyle/>
                    <a:p>
                      <a:pPr algn="ctr"/>
                      <a:r>
                        <a:rPr sz="1100" b="1">
                          <a:solidFill>
                            <a:srgbClr val="FFFFFF"/>
                          </a:solidFill>
                        </a:rPr>
                        <a:t>대상</a:t>
                      </a:r>
                    </a:p>
                  </a:txBody>
                  <a:tcPr>
                    <a:solidFill>
                      <a:srgbClr val="2B59C3"/>
                    </a:solidFill>
                  </a:tcPr>
                </a:tc>
                <a:tc>
                  <a:txBody>
                    <a:bodyPr/>
                    <a:lstStyle/>
                    <a:p>
                      <a:pPr algn="ctr"/>
                      <a:r>
                        <a:rPr sz="1100" b="1">
                          <a:solidFill>
                            <a:srgbClr val="FFFFFF"/>
                          </a:solidFill>
                        </a:rPr>
                        <a:t>기능성 (0~10)</a:t>
                      </a:r>
                    </a:p>
                  </a:txBody>
                  <a:tcPr>
                    <a:solidFill>
                      <a:srgbClr val="2B59C3"/>
                    </a:solidFill>
                  </a:tcPr>
                </a:tc>
                <a:tc>
                  <a:txBody>
                    <a:bodyPr/>
                    <a:lstStyle/>
                    <a:p>
                      <a:pPr algn="ctr"/>
                      <a:r>
                        <a:rPr sz="1100" b="1">
                          <a:solidFill>
                            <a:srgbClr val="FFFFFF"/>
                          </a:solidFill>
                        </a:rPr>
                        <a:t>가격 (0~10)</a:t>
                      </a:r>
                    </a:p>
                  </a:txBody>
                  <a:tcPr>
                    <a:solidFill>
                      <a:srgbClr val="2B59C3"/>
                    </a:solidFill>
                  </a:tcPr>
                </a:tc>
              </a:tr>
              <a:tr h="348778">
                <a:tc>
                  <a:txBody>
                    <a:bodyPr/>
                    <a:lstStyle/>
                    <a:p>
                      <a:r>
                        <a:rPr sz="1100" b="0">
                          <a:solidFill>
                            <a:srgbClr val="1F2A37"/>
                          </a:solidFill>
                        </a:rPr>
                        <a:t>Career Compass</a:t>
                      </a:r>
                    </a:p>
                  </a:txBody>
                  <a:tcPr>
                    <a:solidFill>
                      <a:srgbClr val="FFFFFF"/>
                    </a:solidFill>
                  </a:tcPr>
                </a:tc>
                <a:tc>
                  <a:txBody>
                    <a:bodyPr/>
                    <a:lstStyle/>
                    <a:p>
                      <a:r>
                        <a:rPr sz="1100" b="0">
                          <a:solidFill>
                            <a:srgbClr val="1F2A37"/>
                          </a:solidFill>
                        </a:rPr>
                        <a:t>8.0</a:t>
                      </a:r>
                    </a:p>
                  </a:txBody>
                  <a:tcPr>
                    <a:solidFill>
                      <a:srgbClr val="FFFFFF"/>
                    </a:solidFill>
                  </a:tcPr>
                </a:tc>
                <a:tc>
                  <a:txBody>
                    <a:bodyPr/>
                    <a:lstStyle/>
                    <a:p>
                      <a:r>
                        <a:rPr sz="1100" b="0">
                          <a:solidFill>
                            <a:srgbClr val="1F2A37"/>
                          </a:solidFill>
                        </a:rPr>
                        <a:t>7.0</a:t>
                      </a:r>
                    </a:p>
                  </a:txBody>
                  <a:tcPr>
                    <a:solidFill>
                      <a:srgbClr val="FFFFFF"/>
                    </a:solidFill>
                  </a:tcPr>
                </a:tc>
              </a:tr>
              <a:tr h="348778">
                <a:tc>
                  <a:txBody>
                    <a:bodyPr/>
                    <a:lstStyle/>
                    <a:p>
                      <a:r>
                        <a:rPr sz="1100" b="0">
                          <a:solidFill>
                            <a:srgbClr val="1F2A37"/>
                          </a:solidFill>
                        </a:rPr>
                        <a:t>Young熊+</a:t>
                      </a:r>
                    </a:p>
                  </a:txBody>
                  <a:tcPr>
                    <a:solidFill>
                      <a:srgbClr val="EEF2FB"/>
                    </a:solidFill>
                  </a:tcPr>
                </a:tc>
                <a:tc>
                  <a:txBody>
                    <a:bodyPr/>
                    <a:lstStyle/>
                    <a:p>
                      <a:r>
                        <a:rPr sz="1100" b="0">
                          <a:solidFill>
                            <a:srgbClr val="1F2A37"/>
                          </a:solidFill>
                        </a:rPr>
                        <a:t>7.0</a:t>
                      </a:r>
                    </a:p>
                  </a:txBody>
                  <a:tcPr>
                    <a:solidFill>
                      <a:srgbClr val="EEF2FB"/>
                    </a:solidFill>
                  </a:tcPr>
                </a:tc>
                <a:tc>
                  <a:txBody>
                    <a:bodyPr/>
                    <a:lstStyle/>
                    <a:p>
                      <a:r>
                        <a:rPr sz="1100" b="0">
                          <a:solidFill>
                            <a:srgbClr val="1F2A37"/>
                          </a:solidFill>
                        </a:rPr>
                        <a:t>6.0</a:t>
                      </a:r>
                    </a:p>
                  </a:txBody>
                  <a:tcPr>
                    <a:solidFill>
                      <a:srgbClr val="EEF2FB"/>
                    </a:solidFill>
                  </a:tcPr>
                </a:tc>
              </a:tr>
              <a:tr h="348778">
                <a:tc>
                  <a:txBody>
                    <a:bodyPr/>
                    <a:lstStyle/>
                    <a:p>
                      <a:r>
                        <a:rPr sz="1100" b="0">
                          <a:solidFill>
                            <a:srgbClr val="1F2A37"/>
                          </a:solidFill>
                        </a:rPr>
                        <a:t>커리어넷</a:t>
                      </a:r>
                    </a:p>
                  </a:txBody>
                  <a:tcPr>
                    <a:solidFill>
                      <a:srgbClr val="FFFFFF"/>
                    </a:solidFill>
                  </a:tcPr>
                </a:tc>
                <a:tc>
                  <a:txBody>
                    <a:bodyPr/>
                    <a:lstStyle/>
                    <a:p>
                      <a:r>
                        <a:rPr sz="1100" b="0">
                          <a:solidFill>
                            <a:srgbClr val="1F2A37"/>
                          </a:solidFill>
                        </a:rPr>
                        <a:t>6.0</a:t>
                      </a:r>
                    </a:p>
                  </a:txBody>
                  <a:tcPr>
                    <a:solidFill>
                      <a:srgbClr val="FFFFFF"/>
                    </a:solidFill>
                  </a:tcPr>
                </a:tc>
                <a:tc>
                  <a:txBody>
                    <a:bodyPr/>
                    <a:lstStyle/>
                    <a:p>
                      <a:r>
                        <a:rPr sz="1100" b="0">
                          <a:solidFill>
                            <a:srgbClr val="1F2A37"/>
                          </a:solidFill>
                        </a:rPr>
                        <a:t>5.0</a:t>
                      </a:r>
                    </a:p>
                  </a:txBody>
                  <a:tcPr>
                    <a:solidFill>
                      <a:srgbClr val="FFFFFF"/>
                    </a:solidFill>
                  </a:tcPr>
                </a:tc>
              </a:tr>
              <a:tr h="348778">
                <a:tc>
                  <a:txBody>
                    <a:bodyPr/>
                    <a:lstStyle/>
                    <a:p>
                      <a:r>
                        <a:rPr sz="1100" b="0">
                          <a:solidFill>
                            <a:srgbClr val="1F2A37"/>
                          </a:solidFill>
                        </a:rPr>
                        <a:t>AI 진로 검사 서비스</a:t>
                      </a:r>
                    </a:p>
                  </a:txBody>
                  <a:tcPr>
                    <a:solidFill>
                      <a:srgbClr val="EEF2FB"/>
                    </a:solidFill>
                  </a:tcPr>
                </a:tc>
                <a:tc>
                  <a:txBody>
                    <a:bodyPr/>
                    <a:lstStyle/>
                    <a:p>
                      <a:r>
                        <a:rPr sz="1100" b="0">
                          <a:solidFill>
                            <a:srgbClr val="1F2A37"/>
                          </a:solidFill>
                        </a:rPr>
                        <a:t>5.0</a:t>
                      </a:r>
                    </a:p>
                  </a:txBody>
                  <a:tcPr>
                    <a:solidFill>
                      <a:srgbClr val="EEF2FB"/>
                    </a:solidFill>
                  </a:tcPr>
                </a:tc>
                <a:tc>
                  <a:txBody>
                    <a:bodyPr/>
                    <a:lstStyle/>
                    <a:p>
                      <a:r>
                        <a:rPr sz="1100" b="0">
                          <a:solidFill>
                            <a:srgbClr val="1F2A37"/>
                          </a:solidFill>
                        </a:rPr>
                        <a:t>4.0</a:t>
                      </a:r>
                    </a:p>
                  </a:txBody>
                  <a:tcPr>
                    <a:solidFill>
                      <a:srgbClr val="EEF2FB"/>
                    </a:solidFill>
                  </a:tcPr>
                </a:tc>
              </a:tr>
              <a:tr h="348778">
                <a:tc>
                  <a:txBody>
                    <a:bodyPr/>
                    <a:lstStyle/>
                    <a:p>
                      <a:r>
                        <a:rPr sz="1100" b="0">
                          <a:solidFill>
                            <a:srgbClr val="1F2A37"/>
                          </a:solidFill>
                        </a:rPr>
                        <a:t>진로 설계 프로그램</a:t>
                      </a:r>
                    </a:p>
                  </a:txBody>
                  <a:tcPr>
                    <a:solidFill>
                      <a:srgbClr val="FFFFFF"/>
                    </a:solidFill>
                  </a:tcPr>
                </a:tc>
                <a:tc>
                  <a:txBody>
                    <a:bodyPr/>
                    <a:lstStyle/>
                    <a:p>
                      <a:r>
                        <a:rPr sz="1100" b="0">
                          <a:solidFill>
                            <a:srgbClr val="1F2A37"/>
                          </a:solidFill>
                        </a:rPr>
                        <a:t>4.0</a:t>
                      </a:r>
                    </a:p>
                  </a:txBody>
                  <a:tcPr>
                    <a:solidFill>
                      <a:srgbClr val="FFFFFF"/>
                    </a:solidFill>
                  </a:tcPr>
                </a:tc>
                <a:tc>
                  <a:txBody>
                    <a:bodyPr/>
                    <a:lstStyle/>
                    <a:p>
                      <a:r>
                        <a:rPr sz="1100" b="0">
                          <a:solidFill>
                            <a:srgbClr val="1F2A37"/>
                          </a:solidFill>
                        </a:rPr>
                        <a:t>3.0</a:t>
                      </a:r>
                    </a:p>
                  </a:txBody>
                  <a:tcPr>
                    <a:solidFill>
                      <a:srgbClr val="FFFFFF"/>
                    </a:solidFill>
                  </a:tcPr>
                </a:tc>
              </a:tr>
              <a:tr h="348780">
                <a:tc>
                  <a:txBody>
                    <a:bodyPr/>
                    <a:lstStyle/>
                    <a:p>
                      <a:r>
                        <a:rPr sz="1100" b="0">
                          <a:solidFill>
                            <a:srgbClr val="1F2A37"/>
                          </a:solidFill>
                        </a:rPr>
                        <a:t>자사</a:t>
                      </a:r>
                    </a:p>
                  </a:txBody>
                  <a:tcPr>
                    <a:solidFill>
                      <a:srgbClr val="EEF2FB"/>
                    </a:solidFill>
                  </a:tcPr>
                </a:tc>
                <a:tc>
                  <a:txBody>
                    <a:bodyPr/>
                    <a:lstStyle/>
                    <a:p>
                      <a:r>
                        <a:rPr sz="1100" b="0">
                          <a:solidFill>
                            <a:srgbClr val="1F2A37"/>
                          </a:solidFill>
                        </a:rPr>
                        <a:t>9.0</a:t>
                      </a:r>
                    </a:p>
                  </a:txBody>
                  <a:tcPr>
                    <a:solidFill>
                      <a:srgbClr val="EEF2FB"/>
                    </a:solidFill>
                  </a:tcPr>
                </a:tc>
                <a:tc>
                  <a:txBody>
                    <a:bodyPr/>
                    <a:lstStyle/>
                    <a:p>
                      <a:r>
                        <a:rPr sz="1100" b="0">
                          <a:solidFill>
                            <a:srgbClr val="1F2A37"/>
                          </a:solidFill>
                        </a:rPr>
                        <a:t>5.0</a:t>
                      </a:r>
                    </a:p>
                  </a:txBody>
                  <a:tcPr>
                    <a:solidFill>
                      <a:srgbClr val="EEF2FB"/>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5. 서비스 컨셉·기능 정의서</a:t>
            </a:r>
          </a:p>
        </p:txBody>
      </p:sp>
      <p:sp>
        <p:nvSpPr>
          <p:cNvPr id="3" name="TextBox 2"/>
          <p:cNvSpPr txBox="1"/>
          <p:nvPr/>
        </p:nvSpPr>
        <p:spPr>
          <a:xfrm>
            <a:off x="640080" y="1417320"/>
            <a:ext cx="10908792" cy="859536"/>
          </a:xfrm>
          <a:prstGeom prst="rect">
            <a:avLst/>
          </a:prstGeom>
          <a:noFill/>
        </p:spPr>
        <p:txBody>
          <a:bodyPr wrap="square" anchor="t">
            <a:spAutoFit/>
          </a:bodyPr>
          <a:lstStyle/>
          <a:p>
            <a:pPr>
              <a:spcBef>
                <a:spcPts val="600"/>
              </a:spcBef>
              <a:spcAft>
                <a:spcPts val="400"/>
              </a:spcAft>
            </a:pPr>
            <a:r>
              <a:rPr sz="1700" b="1">
                <a:solidFill>
                  <a:srgbClr val="2B59C3"/>
                </a:solidFill>
              </a:rPr>
              <a:t>Value Proposition Canvas</a:t>
            </a:r>
          </a:p>
          <a:p>
            <a:pPr>
              <a:spcAft>
                <a:spcPts val="400"/>
              </a:spcAft>
            </a:pPr>
            <a:r>
              <a:rPr sz="1500" b="1">
                <a:solidFill>
                  <a:srgbClr val="1F2A37"/>
                </a:solidFill>
              </a:rPr>
              <a:t>고객 프로필</a:t>
            </a:r>
          </a:p>
        </p:txBody>
      </p:sp>
      <p:graphicFrame>
        <p:nvGraphicFramePr>
          <p:cNvPr id="4" name="Table 3"/>
          <p:cNvGraphicFramePr>
            <a:graphicFrameLocks noGrp="1"/>
          </p:cNvGraphicFramePr>
          <p:nvPr/>
        </p:nvGraphicFramePr>
        <p:xfrm>
          <a:off x="640080" y="2276856"/>
          <a:ext cx="10908792" cy="1453895"/>
        </p:xfrm>
        <a:graphic>
          <a:graphicData uri="http://schemas.openxmlformats.org/drawingml/2006/table">
            <a:tbl>
              <a:tblPr firstRow="1" bandRow="1">
                <a:tableStyleId>{5C22544A-7EE6-4342-B048-85BDC9FD1C3A}</a:tableStyleId>
              </a:tblPr>
              <a:tblGrid>
                <a:gridCol w="5454396"/>
                <a:gridCol w="5454396"/>
              </a:tblGrid>
              <a:tr h="363473">
                <a:tc>
                  <a:txBody>
                    <a:bodyPr/>
                    <a:lstStyle/>
                    <a:p>
                      <a:pPr algn="ctr"/>
                      <a:r>
                        <a:rPr sz="1100" b="1">
                          <a:solidFill>
                            <a:srgbClr val="FFFFFF"/>
                          </a:solidFill>
                        </a:rPr>
                        <a:t>항목</a:t>
                      </a:r>
                    </a:p>
                  </a:txBody>
                  <a:tcPr>
                    <a:solidFill>
                      <a:srgbClr val="2B59C3"/>
                    </a:solidFill>
                  </a:tcPr>
                </a:tc>
                <a:tc>
                  <a:txBody>
                    <a:bodyPr/>
                    <a:lstStyle/>
                    <a:p>
                      <a:pPr algn="ctr"/>
                      <a:r>
                        <a:rPr sz="1100" b="1">
                          <a:solidFill>
                            <a:srgbClr val="FFFFFF"/>
                          </a:solidFill>
                        </a:rPr>
                        <a:t>내용</a:t>
                      </a:r>
                    </a:p>
                  </a:txBody>
                  <a:tcPr>
                    <a:solidFill>
                      <a:srgbClr val="2B59C3"/>
                    </a:solidFill>
                  </a:tcPr>
                </a:tc>
              </a:tr>
              <a:tr h="363473">
                <a:tc>
                  <a:txBody>
                    <a:bodyPr/>
                    <a:lstStyle/>
                    <a:p>
                      <a:r>
                        <a:rPr sz="1100" b="0">
                          <a:solidFill>
                            <a:srgbClr val="1F2A37"/>
                          </a:solidFill>
                        </a:rPr>
                        <a:t>Customer Jobs</a:t>
                      </a:r>
                    </a:p>
                  </a:txBody>
                  <a:tcPr>
                    <a:solidFill>
                      <a:srgbClr val="FFFFFF"/>
                    </a:solidFill>
                  </a:tcPr>
                </a:tc>
                <a:tc>
                  <a:txBody>
                    <a:bodyPr/>
                    <a:lstStyle/>
                    <a:p>
                      <a:r>
                        <a:rPr sz="1100" b="0">
                          <a:solidFill>
                            <a:srgbClr val="1F2A37"/>
                          </a:solidFill>
                        </a:rPr>
                        <a:t>전공과 관심사에 맞는 진로 경로를 설계하고 필요한 학습 및 경험을 계획하기, 진로에 대한 불확실성을 해소하고 명확한 목표를 설정하기, AI를 통해 개인 맞춤형 진로 상담을 받고, 경로 선택에 대한 자신감을 얻기</a:t>
                      </a:r>
                    </a:p>
                  </a:txBody>
                  <a:tcPr>
                    <a:solidFill>
                      <a:srgbClr val="FFFFFF"/>
                    </a:solidFill>
                  </a:tcPr>
                </a:tc>
              </a:tr>
              <a:tr h="363473">
                <a:tc>
                  <a:txBody>
                    <a:bodyPr/>
                    <a:lstStyle/>
                    <a:p>
                      <a:r>
                        <a:rPr sz="1100" b="0">
                          <a:solidFill>
                            <a:srgbClr val="1F2A37"/>
                          </a:solidFill>
                        </a:rPr>
                        <a:t>Pains</a:t>
                      </a:r>
                    </a:p>
                  </a:txBody>
                  <a:tcPr>
                    <a:solidFill>
                      <a:srgbClr val="EEF2FB"/>
                    </a:solidFill>
                  </a:tcPr>
                </a:tc>
                <a:tc>
                  <a:txBody>
                    <a:bodyPr/>
                    <a:lstStyle/>
                    <a:p>
                      <a:r>
                        <a:rPr sz="1100" b="0">
                          <a:solidFill>
                            <a:srgbClr val="1F2A37"/>
                          </a:solidFill>
                        </a:rPr>
                        <a:t>진로 정보가 흩어져 있어 어떤 경로를 선택해야 할지 판단하기 어려움, 자신의 전공과 관심사에 맞는 적절한 학습 및 경험을 설계할 수 있는 도구의 부족, AI를 통한 맞춤형 진로 상담의 부재로 인해 명확한 경로를 제시받지 못함</a:t>
                      </a:r>
                    </a:p>
                  </a:txBody>
                  <a:tcPr>
                    <a:solidFill>
                      <a:srgbClr val="EEF2FB"/>
                    </a:solidFill>
                  </a:tcPr>
                </a:tc>
              </a:tr>
              <a:tr h="363476">
                <a:tc>
                  <a:txBody>
                    <a:bodyPr/>
                    <a:lstStyle/>
                    <a:p>
                      <a:r>
                        <a:rPr sz="1100" b="0">
                          <a:solidFill>
                            <a:srgbClr val="1F2A37"/>
                          </a:solidFill>
                        </a:rPr>
                        <a:t>Gains</a:t>
                      </a:r>
                    </a:p>
                  </a:txBody>
                  <a:tcPr>
                    <a:solidFill>
                      <a:srgbClr val="FFFFFF"/>
                    </a:solidFill>
                  </a:tcPr>
                </a:tc>
                <a:tc>
                  <a:txBody>
                    <a:bodyPr/>
                    <a:lstStyle/>
                    <a:p>
                      <a:r>
                        <a:rPr sz="1100" b="0">
                          <a:solidFill>
                            <a:srgbClr val="1F2A37"/>
                          </a:solidFill>
                        </a:rPr>
                        <a:t>진로에 대한 통합적이고 구체적인 정보 제공, 자신의 전공과 관심사에 맞는 맞춤형 학습 및 경험 설계 도구, AI 기반의 개인화된 진로 상담 서비스</a:t>
                      </a:r>
                    </a:p>
                  </a:txBody>
                  <a:tcPr>
                    <a:solidFill>
                      <a:srgbClr val="FFFFFF"/>
                    </a:solidFill>
                  </a:tcPr>
                </a:tc>
              </a:tr>
            </a:tbl>
          </a:graphicData>
        </a:graphic>
      </p:graphicFrame>
      <p:sp>
        <p:nvSpPr>
          <p:cNvPr id="5" name="TextBox 4"/>
          <p:cNvSpPr txBox="1"/>
          <p:nvPr/>
        </p:nvSpPr>
        <p:spPr>
          <a:xfrm>
            <a:off x="640080" y="3867911"/>
            <a:ext cx="10908792" cy="393192"/>
          </a:xfrm>
          <a:prstGeom prst="rect">
            <a:avLst/>
          </a:prstGeom>
          <a:noFill/>
        </p:spPr>
        <p:txBody>
          <a:bodyPr wrap="square" anchor="t">
            <a:spAutoFit/>
          </a:bodyPr>
          <a:lstStyle/>
          <a:p>
            <a:pPr>
              <a:spcAft>
                <a:spcPts val="400"/>
              </a:spcAft>
            </a:pPr>
            <a:r>
              <a:rPr sz="1500" b="1">
                <a:solidFill>
                  <a:srgbClr val="1F2A37"/>
                </a:solidFill>
              </a:rPr>
              <a:t>가치 지도</a:t>
            </a:r>
          </a:p>
        </p:txBody>
      </p:sp>
      <p:graphicFrame>
        <p:nvGraphicFramePr>
          <p:cNvPr id="6" name="Table 5"/>
          <p:cNvGraphicFramePr>
            <a:graphicFrameLocks noGrp="1"/>
          </p:cNvGraphicFramePr>
          <p:nvPr/>
        </p:nvGraphicFramePr>
        <p:xfrm>
          <a:off x="640080" y="4261103"/>
          <a:ext cx="10908792" cy="1453895"/>
        </p:xfrm>
        <a:graphic>
          <a:graphicData uri="http://schemas.openxmlformats.org/drawingml/2006/table">
            <a:tbl>
              <a:tblPr firstRow="1" bandRow="1">
                <a:tableStyleId>{5C22544A-7EE6-4342-B048-85BDC9FD1C3A}</a:tableStyleId>
              </a:tblPr>
              <a:tblGrid>
                <a:gridCol w="5454396"/>
                <a:gridCol w="5454396"/>
              </a:tblGrid>
              <a:tr h="363473">
                <a:tc>
                  <a:txBody>
                    <a:bodyPr/>
                    <a:lstStyle/>
                    <a:p>
                      <a:pPr algn="ctr"/>
                      <a:r>
                        <a:rPr sz="1100" b="1">
                          <a:solidFill>
                            <a:srgbClr val="FFFFFF"/>
                          </a:solidFill>
                        </a:rPr>
                        <a:t>항목</a:t>
                      </a:r>
                    </a:p>
                  </a:txBody>
                  <a:tcPr>
                    <a:solidFill>
                      <a:srgbClr val="2B59C3"/>
                    </a:solidFill>
                  </a:tcPr>
                </a:tc>
                <a:tc>
                  <a:txBody>
                    <a:bodyPr/>
                    <a:lstStyle/>
                    <a:p>
                      <a:pPr algn="ctr"/>
                      <a:r>
                        <a:rPr sz="1100" b="1">
                          <a:solidFill>
                            <a:srgbClr val="FFFFFF"/>
                          </a:solidFill>
                        </a:rPr>
                        <a:t>내용</a:t>
                      </a:r>
                    </a:p>
                  </a:txBody>
                  <a:tcPr>
                    <a:solidFill>
                      <a:srgbClr val="2B59C3"/>
                    </a:solidFill>
                  </a:tcPr>
                </a:tc>
              </a:tr>
              <a:tr h="363473">
                <a:tc>
                  <a:txBody>
                    <a:bodyPr/>
                    <a:lstStyle/>
                    <a:p>
                      <a:r>
                        <a:rPr sz="1100" b="0">
                          <a:solidFill>
                            <a:srgbClr val="1F2A37"/>
                          </a:solidFill>
                        </a:rPr>
                        <a:t>Products &amp; Services</a:t>
                      </a:r>
                    </a:p>
                  </a:txBody>
                  <a:tcPr>
                    <a:solidFill>
                      <a:srgbClr val="FFFFFF"/>
                    </a:solidFill>
                  </a:tcPr>
                </a:tc>
                <a:tc>
                  <a:txBody>
                    <a:bodyPr/>
                    <a:lstStyle/>
                    <a:p>
                      <a:r>
                        <a:rPr sz="1100" b="0">
                          <a:solidFill>
                            <a:srgbClr val="1F2A37"/>
                          </a:solidFill>
                        </a:rPr>
                        <a:t>AI 기반 진로 상담 챗봇, 사용자 맞춤형 진로 경로 추천 알고리즘, AI 진로 검사 서비스</a:t>
                      </a:r>
                    </a:p>
                  </a:txBody>
                  <a:tcPr>
                    <a:solidFill>
                      <a:srgbClr val="FFFFFF"/>
                    </a:solidFill>
                  </a:tcPr>
                </a:tc>
              </a:tr>
              <a:tr h="363473">
                <a:tc>
                  <a:txBody>
                    <a:bodyPr/>
                    <a:lstStyle/>
                    <a:p>
                      <a:r>
                        <a:rPr sz="1100" b="0">
                          <a:solidFill>
                            <a:srgbClr val="1F2A37"/>
                          </a:solidFill>
                        </a:rPr>
                        <a:t>Pain Relievers</a:t>
                      </a:r>
                    </a:p>
                  </a:txBody>
                  <a:tcPr>
                    <a:solidFill>
                      <a:srgbClr val="EEF2FB"/>
                    </a:solidFill>
                  </a:tcPr>
                </a:tc>
                <a:tc>
                  <a:txBody>
                    <a:bodyPr/>
                    <a:lstStyle/>
                    <a:p>
                      <a:r>
                        <a:rPr sz="1100" b="0">
                          <a:solidFill>
                            <a:srgbClr val="1F2A37"/>
                          </a:solidFill>
                        </a:rPr>
                        <a:t>진로 정보 통합 제공, 개인 맞춤형 학습 및 경험 설계 도구 제공, AI 상담을 통한 경로 선택 지원</a:t>
                      </a:r>
                    </a:p>
                  </a:txBody>
                  <a:tcPr>
                    <a:solidFill>
                      <a:srgbClr val="EEF2FB"/>
                    </a:solidFill>
                  </a:tcPr>
                </a:tc>
              </a:tr>
              <a:tr h="363476">
                <a:tc>
                  <a:txBody>
                    <a:bodyPr/>
                    <a:lstStyle/>
                    <a:p>
                      <a:r>
                        <a:rPr sz="1100" b="0">
                          <a:solidFill>
                            <a:srgbClr val="1F2A37"/>
                          </a:solidFill>
                        </a:rPr>
                        <a:t>Gain Creators</a:t>
                      </a:r>
                    </a:p>
                  </a:txBody>
                  <a:tcPr>
                    <a:solidFill>
                      <a:srgbClr val="FFFFFF"/>
                    </a:solidFill>
                  </a:tcPr>
                </a:tc>
                <a:tc>
                  <a:txBody>
                    <a:bodyPr/>
                    <a:lstStyle/>
                    <a:p>
                      <a:r>
                        <a:rPr sz="1100" b="0">
                          <a:solidFill>
                            <a:srgbClr val="1F2A37"/>
                          </a:solidFill>
                        </a:rPr>
                        <a:t>사용자 맞춤형 진로 상담 서비스, 명확한 경로 제시, 진로 설계에 대한 자신감 향상</a:t>
                      </a:r>
                    </a:p>
                  </a:txBody>
                  <a:tcPr>
                    <a:solidFill>
                      <a:srgbClr val="FFFFFF"/>
                    </a:solidFill>
                  </a:tcPr>
                </a:tc>
              </a:tr>
            </a:tbl>
          </a:graphicData>
        </a:graphic>
      </p:graphicFrame>
      <p:sp>
        <p:nvSpPr>
          <p:cNvPr id="7" name="TextBox 6"/>
          <p:cNvSpPr txBox="1"/>
          <p:nvPr/>
        </p:nvSpPr>
        <p:spPr>
          <a:xfrm>
            <a:off x="640080" y="5852158"/>
            <a:ext cx="10908792" cy="393192"/>
          </a:xfrm>
          <a:prstGeom prst="rect">
            <a:avLst/>
          </a:prstGeom>
          <a:noFill/>
        </p:spPr>
        <p:txBody>
          <a:bodyPr wrap="square" anchor="t">
            <a:spAutoFit/>
          </a:bodyPr>
          <a:lstStyle/>
          <a:p>
            <a:pPr>
              <a:spcAft>
                <a:spcPts val="400"/>
              </a:spcAft>
            </a:pPr>
            <a:r>
              <a:rPr sz="1500" b="1">
                <a:solidFill>
                  <a:srgbClr val="1F2A37"/>
                </a:solidFill>
              </a:rPr>
              <a:t>Fit 검증</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5. 서비스 컨셉·기능 정의서 (계속)</a:t>
            </a:r>
          </a:p>
        </p:txBody>
      </p:sp>
      <p:sp>
        <p:nvSpPr>
          <p:cNvPr id="3" name="TextBox 2"/>
          <p:cNvSpPr txBox="1"/>
          <p:nvPr/>
        </p:nvSpPr>
        <p:spPr>
          <a:xfrm>
            <a:off x="640080" y="1417320"/>
            <a:ext cx="10908792" cy="859536"/>
          </a:xfrm>
          <a:prstGeom prst="rect">
            <a:avLst/>
          </a:prstGeom>
          <a:noFill/>
        </p:spPr>
        <p:txBody>
          <a:bodyPr wrap="square" anchor="t">
            <a:spAutoFit/>
          </a:bodyPr>
          <a:lstStyle/>
          <a:p>
            <a:pPr>
              <a:spcAft>
                <a:spcPts val="400"/>
              </a:spcAft>
            </a:pPr>
            <a:r>
              <a:rPr sz="1500" b="0">
                <a:solidFill>
                  <a:srgbClr val="1F2A37"/>
                </a:solidFill>
              </a:rPr>
              <a:t>고객의 진로 설계에 대한 요구와 AI 기반 서비스의 제공이 잘 맞아떨어짐.</a:t>
            </a:r>
          </a:p>
          <a:p>
            <a:pPr>
              <a:spcBef>
                <a:spcPts val="600"/>
              </a:spcBef>
              <a:spcAft>
                <a:spcPts val="400"/>
              </a:spcAft>
            </a:pPr>
            <a:r>
              <a:rPr sz="1700" b="1">
                <a:solidFill>
                  <a:srgbClr val="2B59C3"/>
                </a:solidFill>
              </a:rPr>
              <a:t>핵심 기능 (5개)</a:t>
            </a:r>
          </a:p>
        </p:txBody>
      </p:sp>
      <p:graphicFrame>
        <p:nvGraphicFramePr>
          <p:cNvPr id="4" name="Table 3"/>
          <p:cNvGraphicFramePr>
            <a:graphicFrameLocks noGrp="1"/>
          </p:cNvGraphicFramePr>
          <p:nvPr/>
        </p:nvGraphicFramePr>
        <p:xfrm>
          <a:off x="640080" y="2276856"/>
          <a:ext cx="10908792" cy="2112264"/>
        </p:xfrm>
        <a:graphic>
          <a:graphicData uri="http://schemas.openxmlformats.org/drawingml/2006/table">
            <a:tbl>
              <a:tblPr firstRow="1" bandRow="1">
                <a:tableStyleId>{5C22544A-7EE6-4342-B048-85BDC9FD1C3A}</a:tableStyleId>
              </a:tblPr>
              <a:tblGrid>
                <a:gridCol w="3636264"/>
                <a:gridCol w="3636264"/>
                <a:gridCol w="3636264"/>
              </a:tblGrid>
              <a:tr h="352044">
                <a:tc>
                  <a:txBody>
                    <a:bodyPr/>
                    <a:lstStyle/>
                    <a:p>
                      <a:pPr algn="ctr"/>
                      <a:r>
                        <a:rPr sz="1100" b="1">
                          <a:solidFill>
                            <a:srgbClr val="FFFFFF"/>
                          </a:solidFill>
                        </a:rPr>
                        <a:t>기능</a:t>
                      </a:r>
                    </a:p>
                  </a:txBody>
                  <a:tcPr>
                    <a:solidFill>
                      <a:srgbClr val="2B59C3"/>
                    </a:solidFill>
                  </a:tcPr>
                </a:tc>
                <a:tc>
                  <a:txBody>
                    <a:bodyPr/>
                    <a:lstStyle/>
                    <a:p>
                      <a:pPr algn="ctr"/>
                      <a:r>
                        <a:rPr sz="1100" b="1">
                          <a:solidFill>
                            <a:srgbClr val="FFFFFF"/>
                          </a:solidFill>
                        </a:rPr>
                        <a:t>사용자 임팩트</a:t>
                      </a:r>
                    </a:p>
                  </a:txBody>
                  <a:tcPr>
                    <a:solidFill>
                      <a:srgbClr val="2B59C3"/>
                    </a:solidFill>
                  </a:tcPr>
                </a:tc>
                <a:tc>
                  <a:txBody>
                    <a:bodyPr/>
                    <a:lstStyle/>
                    <a:p>
                      <a:pPr algn="ctr"/>
                      <a:r>
                        <a:rPr sz="1100" b="1">
                          <a:solidFill>
                            <a:srgbClr val="FFFFFF"/>
                          </a:solidFill>
                        </a:rPr>
                        <a:t>실현가능성</a:t>
                      </a:r>
                    </a:p>
                  </a:txBody>
                  <a:tcPr>
                    <a:solidFill>
                      <a:srgbClr val="2B59C3"/>
                    </a:solidFill>
                  </a:tcPr>
                </a:tc>
              </a:tr>
              <a:tr h="352044">
                <a:tc>
                  <a:txBody>
                    <a:bodyPr/>
                    <a:lstStyle/>
                    <a:p>
                      <a:r>
                        <a:rPr sz="1100" b="0">
                          <a:solidFill>
                            <a:srgbClr val="1F2A37"/>
                          </a:solidFill>
                        </a:rPr>
                        <a:t>AI 진로 상담 챗봇</a:t>
                      </a:r>
                    </a:p>
                  </a:txBody>
                  <a:tcPr>
                    <a:solidFill>
                      <a:srgbClr val="FFFFFF"/>
                    </a:solidFill>
                  </a:tcPr>
                </a:tc>
                <a:tc>
                  <a:txBody>
                    <a:bodyPr/>
                    <a:lstStyle/>
                    <a:p>
                      <a:r>
                        <a:rPr sz="1100" b="0">
                          <a:solidFill>
                            <a:srgbClr val="1F2A37"/>
                          </a:solidFill>
                        </a:rPr>
                        <a:t>사용자가 쉽게 접근하여 진로 상담을 받을 수 있음.</a:t>
                      </a:r>
                    </a:p>
                  </a:txBody>
                  <a:tcPr>
                    <a:solidFill>
                      <a:srgbClr val="FFFFFF"/>
                    </a:solidFill>
                  </a:tcPr>
                </a:tc>
                <a:tc>
                  <a:txBody>
                    <a:bodyPr/>
                    <a:lstStyle/>
                    <a:p>
                      <a:r>
                        <a:rPr sz="1100" b="0">
                          <a:solidFill>
                            <a:srgbClr val="1F2A37"/>
                          </a:solidFill>
                        </a:rPr>
                        <a:t>AI 기술을 활용하여 구현 가능.</a:t>
                      </a:r>
                    </a:p>
                  </a:txBody>
                  <a:tcPr>
                    <a:solidFill>
                      <a:srgbClr val="FFFFFF"/>
                    </a:solidFill>
                  </a:tcPr>
                </a:tc>
              </a:tr>
              <a:tr h="352044">
                <a:tc>
                  <a:txBody>
                    <a:bodyPr/>
                    <a:lstStyle/>
                    <a:p>
                      <a:r>
                        <a:rPr sz="1100" b="0">
                          <a:solidFill>
                            <a:srgbClr val="1F2A37"/>
                          </a:solidFill>
                        </a:rPr>
                        <a:t>맞춤형 경로 추천 알고리즘</a:t>
                      </a:r>
                    </a:p>
                  </a:txBody>
                  <a:tcPr>
                    <a:solidFill>
                      <a:srgbClr val="EEF2FB"/>
                    </a:solidFill>
                  </a:tcPr>
                </a:tc>
                <a:tc>
                  <a:txBody>
                    <a:bodyPr/>
                    <a:lstStyle/>
                    <a:p>
                      <a:r>
                        <a:rPr sz="1100" b="0">
                          <a:solidFill>
                            <a:srgbClr val="1F2A37"/>
                          </a:solidFill>
                        </a:rPr>
                        <a:t>개별 사용자의 전공과 관심사에 맞춘 경로를 제시.</a:t>
                      </a:r>
                    </a:p>
                  </a:txBody>
                  <a:tcPr>
                    <a:solidFill>
                      <a:srgbClr val="EEF2FB"/>
                    </a:solidFill>
                  </a:tcPr>
                </a:tc>
                <a:tc>
                  <a:txBody>
                    <a:bodyPr/>
                    <a:lstStyle/>
                    <a:p>
                      <a:r>
                        <a:rPr sz="1100" b="0">
                          <a:solidFill>
                            <a:srgbClr val="1F2A37"/>
                          </a:solidFill>
                        </a:rPr>
                        <a:t>데이터 분석을 통해 구현 가능.</a:t>
                      </a:r>
                    </a:p>
                  </a:txBody>
                  <a:tcPr>
                    <a:solidFill>
                      <a:srgbClr val="EEF2FB"/>
                    </a:solidFill>
                  </a:tcPr>
                </a:tc>
              </a:tr>
              <a:tr h="352044">
                <a:tc>
                  <a:txBody>
                    <a:bodyPr/>
                    <a:lstStyle/>
                    <a:p>
                      <a:r>
                        <a:rPr sz="1100" b="0">
                          <a:solidFill>
                            <a:srgbClr val="1F2A37"/>
                          </a:solidFill>
                        </a:rPr>
                        <a:t>AI 진로 검사 서비스</a:t>
                      </a:r>
                    </a:p>
                  </a:txBody>
                  <a:tcPr>
                    <a:solidFill>
                      <a:srgbClr val="FFFFFF"/>
                    </a:solidFill>
                  </a:tcPr>
                </a:tc>
                <a:tc>
                  <a:txBody>
                    <a:bodyPr/>
                    <a:lstStyle/>
                    <a:p>
                      <a:r>
                        <a:rPr sz="1100" b="0">
                          <a:solidFill>
                            <a:srgbClr val="1F2A37"/>
                          </a:solidFill>
                        </a:rPr>
                        <a:t>사용자의 역량을 진단하여 적합한 경로를 추천.</a:t>
                      </a:r>
                    </a:p>
                  </a:txBody>
                  <a:tcPr>
                    <a:solidFill>
                      <a:srgbClr val="FFFFFF"/>
                    </a:solidFill>
                  </a:tcPr>
                </a:tc>
                <a:tc>
                  <a:txBody>
                    <a:bodyPr/>
                    <a:lstStyle/>
                    <a:p>
                      <a:r>
                        <a:rPr sz="1100" b="0">
                          <a:solidFill>
                            <a:srgbClr val="1F2A37"/>
                          </a:solidFill>
                        </a:rPr>
                        <a:t>기존의 진단 도구를 활용하여 개발 가능.</a:t>
                      </a:r>
                    </a:p>
                  </a:txBody>
                  <a:tcPr>
                    <a:solidFill>
                      <a:srgbClr val="FFFFFF"/>
                    </a:solidFill>
                  </a:tcPr>
                </a:tc>
              </a:tr>
              <a:tr h="352044">
                <a:tc>
                  <a:txBody>
                    <a:bodyPr/>
                    <a:lstStyle/>
                    <a:p>
                      <a:r>
                        <a:rPr sz="1100" b="0">
                          <a:solidFill>
                            <a:srgbClr val="1F2A37"/>
                          </a:solidFill>
                        </a:rPr>
                        <a:t>사용자 피드백 시스템</a:t>
                      </a:r>
                    </a:p>
                  </a:txBody>
                  <a:tcPr>
                    <a:solidFill>
                      <a:srgbClr val="EEF2FB"/>
                    </a:solidFill>
                  </a:tcPr>
                </a:tc>
                <a:tc>
                  <a:txBody>
                    <a:bodyPr/>
                    <a:lstStyle/>
                    <a:p>
                      <a:r>
                        <a:rPr sz="1100" b="0">
                          <a:solidFill>
                            <a:srgbClr val="1F2A37"/>
                          </a:solidFill>
                        </a:rPr>
                        <a:t>서비스 개선을 위한 사용자 의견 수집.</a:t>
                      </a:r>
                    </a:p>
                  </a:txBody>
                  <a:tcPr>
                    <a:solidFill>
                      <a:srgbClr val="EEF2FB"/>
                    </a:solidFill>
                  </a:tcPr>
                </a:tc>
                <a:tc>
                  <a:txBody>
                    <a:bodyPr/>
                    <a:lstStyle/>
                    <a:p>
                      <a:r>
                        <a:rPr sz="1100" b="0">
                          <a:solidFill>
                            <a:srgbClr val="1F2A37"/>
                          </a:solidFill>
                        </a:rPr>
                        <a:t>간단한 설문 시스템으로 구현 가능.</a:t>
                      </a:r>
                    </a:p>
                  </a:txBody>
                  <a:tcPr>
                    <a:solidFill>
                      <a:srgbClr val="EEF2FB"/>
                    </a:solidFill>
                  </a:tcPr>
                </a:tc>
              </a:tr>
              <a:tr h="352044">
                <a:tc>
                  <a:txBody>
                    <a:bodyPr/>
                    <a:lstStyle/>
                    <a:p>
                      <a:r>
                        <a:rPr sz="1100" b="0">
                          <a:solidFill>
                            <a:srgbClr val="1F2A37"/>
                          </a:solidFill>
                        </a:rPr>
                        <a:t>모바일 최적화 인터페이스</a:t>
                      </a:r>
                    </a:p>
                  </a:txBody>
                  <a:tcPr>
                    <a:solidFill>
                      <a:srgbClr val="FFFFFF"/>
                    </a:solidFill>
                  </a:tcPr>
                </a:tc>
                <a:tc>
                  <a:txBody>
                    <a:bodyPr/>
                    <a:lstStyle/>
                    <a:p>
                      <a:r>
                        <a:rPr sz="1100" b="0">
                          <a:solidFill>
                            <a:srgbClr val="1F2A37"/>
                          </a:solidFill>
                        </a:rPr>
                        <a:t>모바일 사용자의 접근성을 높임.</a:t>
                      </a:r>
                    </a:p>
                  </a:txBody>
                  <a:tcPr>
                    <a:solidFill>
                      <a:srgbClr val="FFFFFF"/>
                    </a:solidFill>
                  </a:tcPr>
                </a:tc>
                <a:tc>
                  <a:txBody>
                    <a:bodyPr/>
                    <a:lstStyle/>
                    <a:p>
                      <a:r>
                        <a:rPr sz="1100" b="0">
                          <a:solidFill>
                            <a:srgbClr val="1F2A37"/>
                          </a:solidFill>
                        </a:rPr>
                        <a:t>웹 기반 플랫폼으로 구현 가능.</a:t>
                      </a:r>
                    </a:p>
                  </a:txBody>
                  <a:tcPr>
                    <a:solidFill>
                      <a:srgbClr val="FFFFFF"/>
                    </a:solidFill>
                  </a:tcPr>
                </a:tc>
              </a:tr>
            </a:tbl>
          </a:graphicData>
        </a:graphic>
      </p:graphicFrame>
      <p:sp>
        <p:nvSpPr>
          <p:cNvPr id="5" name="TextBox 4"/>
          <p:cNvSpPr txBox="1"/>
          <p:nvPr/>
        </p:nvSpPr>
        <p:spPr>
          <a:xfrm>
            <a:off x="640080" y="4526280"/>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Use Case 3종</a:t>
            </a:r>
          </a:p>
        </p:txBody>
      </p:sp>
      <p:graphicFrame>
        <p:nvGraphicFramePr>
          <p:cNvPr id="6" name="Table 5"/>
          <p:cNvGraphicFramePr>
            <a:graphicFrameLocks noGrp="1"/>
          </p:cNvGraphicFramePr>
          <p:nvPr/>
        </p:nvGraphicFramePr>
        <p:xfrm>
          <a:off x="640080" y="4992624"/>
          <a:ext cx="10908792" cy="1453895"/>
        </p:xfrm>
        <a:graphic>
          <a:graphicData uri="http://schemas.openxmlformats.org/drawingml/2006/table">
            <a:tbl>
              <a:tblPr firstRow="1" bandRow="1">
                <a:tableStyleId>{5C22544A-7EE6-4342-B048-85BDC9FD1C3A}</a:tableStyleId>
              </a:tblPr>
              <a:tblGrid>
                <a:gridCol w="3636264"/>
                <a:gridCol w="3636264"/>
                <a:gridCol w="3636264"/>
              </a:tblGrid>
              <a:tr h="363473">
                <a:tc>
                  <a:txBody>
                    <a:bodyPr/>
                    <a:lstStyle/>
                    <a:p>
                      <a:pPr algn="ctr"/>
                      <a:r>
                        <a:rPr sz="1100" b="1">
                          <a:solidFill>
                            <a:srgbClr val="FFFFFF"/>
                          </a:solidFill>
                        </a:rPr>
                        <a:t>Actor</a:t>
                      </a:r>
                    </a:p>
                  </a:txBody>
                  <a:tcPr>
                    <a:solidFill>
                      <a:srgbClr val="2B59C3"/>
                    </a:solidFill>
                  </a:tcPr>
                </a:tc>
                <a:tc>
                  <a:txBody>
                    <a:bodyPr/>
                    <a:lstStyle/>
                    <a:p>
                      <a:pPr algn="ctr"/>
                      <a:r>
                        <a:rPr sz="1100" b="1">
                          <a:solidFill>
                            <a:srgbClr val="FFFFFF"/>
                          </a:solidFill>
                        </a:rPr>
                        <a:t>시나리오</a:t>
                      </a:r>
                    </a:p>
                  </a:txBody>
                  <a:tcPr>
                    <a:solidFill>
                      <a:srgbClr val="2B59C3"/>
                    </a:solidFill>
                  </a:tcPr>
                </a:tc>
                <a:tc>
                  <a:txBody>
                    <a:bodyPr/>
                    <a:lstStyle/>
                    <a:p>
                      <a:pPr algn="ctr"/>
                      <a:r>
                        <a:rPr sz="1100" b="1">
                          <a:solidFill>
                            <a:srgbClr val="FFFFFF"/>
                          </a:solidFill>
                        </a:rPr>
                        <a:t>기대 결과</a:t>
                      </a:r>
                    </a:p>
                  </a:txBody>
                  <a:tcPr>
                    <a:solidFill>
                      <a:srgbClr val="2B59C3"/>
                    </a:solidFill>
                  </a:tcPr>
                </a:tc>
              </a:tr>
              <a:tr h="363473">
                <a:tc>
                  <a:txBody>
                    <a:bodyPr/>
                    <a:lstStyle/>
                    <a:p>
                      <a:r>
                        <a:rPr sz="1100" b="0">
                          <a:solidFill>
                            <a:srgbClr val="1F2A37"/>
                          </a:solidFill>
                        </a:rPr>
                        <a:t>대학생</a:t>
                      </a:r>
                    </a:p>
                  </a:txBody>
                  <a:tcPr>
                    <a:solidFill>
                      <a:srgbClr val="FFFFFF"/>
                    </a:solidFill>
                  </a:tcPr>
                </a:tc>
                <a:tc>
                  <a:txBody>
                    <a:bodyPr/>
                    <a:lstStyle/>
                    <a:p>
                      <a:r>
                        <a:rPr sz="1100" b="0">
                          <a:solidFill>
                            <a:srgbClr val="1F2A37"/>
                          </a:solidFill>
                        </a:rPr>
                        <a:t>AI 진로 상담 챗봇을 통해 진로 상담 요청</a:t>
                      </a:r>
                    </a:p>
                  </a:txBody>
                  <a:tcPr>
                    <a:solidFill>
                      <a:srgbClr val="FFFFFF"/>
                    </a:solidFill>
                  </a:tcPr>
                </a:tc>
                <a:tc>
                  <a:txBody>
                    <a:bodyPr/>
                    <a:lstStyle/>
                    <a:p>
                      <a:r>
                        <a:rPr sz="1100" b="0">
                          <a:solidFill>
                            <a:srgbClr val="1F2A37"/>
                          </a:solidFill>
                        </a:rPr>
                        <a:t>개인 맞춤형 진로 경로를 추천받음.</a:t>
                      </a:r>
                    </a:p>
                  </a:txBody>
                  <a:tcPr>
                    <a:solidFill>
                      <a:srgbClr val="FFFFFF"/>
                    </a:solidFill>
                  </a:tcPr>
                </a:tc>
              </a:tr>
              <a:tr h="363473">
                <a:tc>
                  <a:txBody>
                    <a:bodyPr/>
                    <a:lstStyle/>
                    <a:p>
                      <a:r>
                        <a:rPr sz="1100" b="0">
                          <a:solidFill>
                            <a:srgbClr val="1F2A37"/>
                          </a:solidFill>
                        </a:rPr>
                        <a:t>대학생</a:t>
                      </a:r>
                    </a:p>
                  </a:txBody>
                  <a:tcPr>
                    <a:solidFill>
                      <a:srgbClr val="EEF2FB"/>
                    </a:solidFill>
                  </a:tcPr>
                </a:tc>
                <a:tc>
                  <a:txBody>
                    <a:bodyPr/>
                    <a:lstStyle/>
                    <a:p>
                      <a:r>
                        <a:rPr sz="1100" b="0">
                          <a:solidFill>
                            <a:srgbClr val="1F2A37"/>
                          </a:solidFill>
                        </a:rPr>
                        <a:t>진로 검사 서비스를 통해 자신의 역량 진단</a:t>
                      </a:r>
                    </a:p>
                  </a:txBody>
                  <a:tcPr>
                    <a:solidFill>
                      <a:srgbClr val="EEF2FB"/>
                    </a:solidFill>
                  </a:tcPr>
                </a:tc>
                <a:tc>
                  <a:txBody>
                    <a:bodyPr/>
                    <a:lstStyle/>
                    <a:p>
                      <a:r>
                        <a:rPr sz="1100" b="0">
                          <a:solidFill>
                            <a:srgbClr val="1F2A37"/>
                          </a:solidFill>
                        </a:rPr>
                        <a:t>자신의 강점과 약점을 파악하고 경로 선택에 도움을 받음.</a:t>
                      </a:r>
                    </a:p>
                  </a:txBody>
                  <a:tcPr>
                    <a:solidFill>
                      <a:srgbClr val="EEF2FB"/>
                    </a:solidFill>
                  </a:tcPr>
                </a:tc>
              </a:tr>
              <a:tr h="363476">
                <a:tc>
                  <a:txBody>
                    <a:bodyPr/>
                    <a:lstStyle/>
                    <a:p>
                      <a:r>
                        <a:rPr sz="1100" b="0">
                          <a:solidFill>
                            <a:srgbClr val="1F2A37"/>
                          </a:solidFill>
                        </a:rPr>
                        <a:t>대학생</a:t>
                      </a:r>
                    </a:p>
                  </a:txBody>
                  <a:tcPr>
                    <a:solidFill>
                      <a:srgbClr val="FFFFFF"/>
                    </a:solidFill>
                  </a:tcPr>
                </a:tc>
                <a:tc>
                  <a:txBody>
                    <a:bodyPr/>
                    <a:lstStyle/>
                    <a:p>
                      <a:r>
                        <a:rPr sz="1100" b="0">
                          <a:solidFill>
                            <a:srgbClr val="1F2A37"/>
                          </a:solidFill>
                        </a:rPr>
                        <a:t>서비스 피드백을 통해 개선 사항 제안</a:t>
                      </a:r>
                    </a:p>
                  </a:txBody>
                  <a:tcPr>
                    <a:solidFill>
                      <a:srgbClr val="FFFFFF"/>
                    </a:solidFill>
                  </a:tcPr>
                </a:tc>
                <a:tc>
                  <a:txBody>
                    <a:bodyPr/>
                    <a:lstStyle/>
                    <a:p>
                      <a:r>
                        <a:rPr sz="1100" b="0">
                          <a:solidFill>
                            <a:srgbClr val="1F2A37"/>
                          </a:solidFill>
                        </a:rPr>
                        <a:t>서비스 품질이 향상되고 사용자 경험이 개선됨.</a:t>
                      </a:r>
                    </a:p>
                  </a:txBody>
                  <a:tcP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6. 개발 로드맵·PRD</a:t>
            </a:r>
          </a:p>
        </p:txBody>
      </p:sp>
      <p:sp>
        <p:nvSpPr>
          <p:cNvPr id="3" name="TextBox 2"/>
          <p:cNvSpPr txBox="1"/>
          <p:nvPr/>
        </p:nvSpPr>
        <p:spPr>
          <a:xfrm>
            <a:off x="640080" y="1417320"/>
            <a:ext cx="10908792" cy="1618488"/>
          </a:xfrm>
          <a:prstGeom prst="rect">
            <a:avLst/>
          </a:prstGeom>
          <a:noFill/>
        </p:spPr>
        <p:txBody>
          <a:bodyPr wrap="square" anchor="t">
            <a:spAutoFit/>
          </a:bodyPr>
          <a:lstStyle/>
          <a:p>
            <a:pPr>
              <a:spcBef>
                <a:spcPts val="600"/>
              </a:spcBef>
              <a:spcAft>
                <a:spcPts val="400"/>
              </a:spcAft>
            </a:pPr>
            <a:r>
              <a:rPr sz="1700" b="1">
                <a:solidFill>
                  <a:srgbClr val="2B59C3"/>
                </a:solidFill>
              </a:rPr>
              <a:t>MVP 범위</a:t>
            </a:r>
          </a:p>
          <a:p>
            <a:pPr>
              <a:spcAft>
                <a:spcPts val="400"/>
              </a:spcAft>
            </a:pPr>
            <a:r>
              <a:rPr sz="1500" b="0">
                <a:solidFill>
                  <a:srgbClr val="1F2A37"/>
                </a:solidFill>
              </a:rPr>
              <a:t>MVP는 AI 진로 상담 챗봇과 맞춤형 경로 추천 알고리즘을 포함하며, 사용자 피드백 시스템을 통해 초기 사용자 경험을 개선하는 데 중점을 둡니다.</a:t>
            </a:r>
          </a:p>
          <a:p>
            <a:pPr>
              <a:spcBef>
                <a:spcPts val="600"/>
              </a:spcBef>
              <a:spcAft>
                <a:spcPts val="400"/>
              </a:spcAft>
            </a:pPr>
            <a:r>
              <a:rPr sz="1700" b="1">
                <a:solidFill>
                  <a:srgbClr val="2B59C3"/>
                </a:solidFill>
              </a:rPr>
              <a:t>MOSCOW</a:t>
            </a:r>
          </a:p>
        </p:txBody>
      </p:sp>
      <p:graphicFrame>
        <p:nvGraphicFramePr>
          <p:cNvPr id="4" name="Table 3"/>
          <p:cNvGraphicFramePr>
            <a:graphicFrameLocks noGrp="1"/>
          </p:cNvGraphicFramePr>
          <p:nvPr/>
        </p:nvGraphicFramePr>
        <p:xfrm>
          <a:off x="640080" y="3035808"/>
          <a:ext cx="10908792" cy="1783079"/>
        </p:xfrm>
        <a:graphic>
          <a:graphicData uri="http://schemas.openxmlformats.org/drawingml/2006/table">
            <a:tbl>
              <a:tblPr firstRow="1" bandRow="1">
                <a:tableStyleId>{5C22544A-7EE6-4342-B048-85BDC9FD1C3A}</a:tableStyleId>
              </a:tblPr>
              <a:tblGrid>
                <a:gridCol w="5454396"/>
                <a:gridCol w="5454396"/>
              </a:tblGrid>
              <a:tr h="356615">
                <a:tc>
                  <a:txBody>
                    <a:bodyPr/>
                    <a:lstStyle/>
                    <a:p>
                      <a:pPr algn="ctr"/>
                      <a:r>
                        <a:rPr sz="1100" b="1">
                          <a:solidFill>
                            <a:srgbClr val="FFFFFF"/>
                          </a:solidFill>
                        </a:rPr>
                        <a:t>구분</a:t>
                      </a:r>
                    </a:p>
                  </a:txBody>
                  <a:tcPr>
                    <a:solidFill>
                      <a:srgbClr val="2B59C3"/>
                    </a:solidFill>
                  </a:tcPr>
                </a:tc>
                <a:tc>
                  <a:txBody>
                    <a:bodyPr/>
                    <a:lstStyle/>
                    <a:p>
                      <a:pPr algn="ctr"/>
                      <a:r>
                        <a:rPr sz="1100" b="1">
                          <a:solidFill>
                            <a:srgbClr val="FFFFFF"/>
                          </a:solidFill>
                        </a:rPr>
                        <a:t>기능</a:t>
                      </a:r>
                    </a:p>
                  </a:txBody>
                  <a:tcPr>
                    <a:solidFill>
                      <a:srgbClr val="2B59C3"/>
                    </a:solidFill>
                  </a:tcPr>
                </a:tc>
              </a:tr>
              <a:tr h="356615">
                <a:tc>
                  <a:txBody>
                    <a:bodyPr/>
                    <a:lstStyle/>
                    <a:p>
                      <a:r>
                        <a:rPr sz="1100" b="0">
                          <a:solidFill>
                            <a:srgbClr val="1F2A37"/>
                          </a:solidFill>
                        </a:rPr>
                        <a:t>Must have</a:t>
                      </a:r>
                    </a:p>
                  </a:txBody>
                  <a:tcPr>
                    <a:solidFill>
                      <a:srgbClr val="FFFFFF"/>
                    </a:solidFill>
                  </a:tcPr>
                </a:tc>
                <a:tc>
                  <a:txBody>
                    <a:bodyPr/>
                    <a:lstStyle/>
                    <a:p>
                      <a:r>
                        <a:rPr sz="1100" b="0">
                          <a:solidFill>
                            <a:srgbClr val="1F2A37"/>
                          </a:solidFill>
                        </a:rPr>
                        <a:t>AI 진로 상담 챗봇, 맞춤형 경로 추천 알고리즘, AI 진로 검사 서비스</a:t>
                      </a:r>
                    </a:p>
                  </a:txBody>
                  <a:tcPr>
                    <a:solidFill>
                      <a:srgbClr val="FFFFFF"/>
                    </a:solidFill>
                  </a:tcPr>
                </a:tc>
              </a:tr>
              <a:tr h="356615">
                <a:tc>
                  <a:txBody>
                    <a:bodyPr/>
                    <a:lstStyle/>
                    <a:p>
                      <a:r>
                        <a:rPr sz="1100" b="0">
                          <a:solidFill>
                            <a:srgbClr val="1F2A37"/>
                          </a:solidFill>
                        </a:rPr>
                        <a:t>Should have</a:t>
                      </a:r>
                    </a:p>
                  </a:txBody>
                  <a:tcPr>
                    <a:solidFill>
                      <a:srgbClr val="EEF2FB"/>
                    </a:solidFill>
                  </a:tcPr>
                </a:tc>
                <a:tc>
                  <a:txBody>
                    <a:bodyPr/>
                    <a:lstStyle/>
                    <a:p>
                      <a:r>
                        <a:rPr sz="1100" b="0">
                          <a:solidFill>
                            <a:srgbClr val="1F2A37"/>
                          </a:solidFill>
                        </a:rPr>
                        <a:t>사용자 피드백 시스템, 모바일 최적화 인터페이스</a:t>
                      </a:r>
                    </a:p>
                  </a:txBody>
                  <a:tcPr>
                    <a:solidFill>
                      <a:srgbClr val="EEF2FB"/>
                    </a:solidFill>
                  </a:tcPr>
                </a:tc>
              </a:tr>
              <a:tr h="356615">
                <a:tc>
                  <a:txBody>
                    <a:bodyPr/>
                    <a:lstStyle/>
                    <a:p>
                      <a:r>
                        <a:rPr sz="1100" b="0">
                          <a:solidFill>
                            <a:srgbClr val="1F2A37"/>
                          </a:solidFill>
                        </a:rPr>
                        <a:t>Could have</a:t>
                      </a:r>
                    </a:p>
                  </a:txBody>
                  <a:tcPr>
                    <a:solidFill>
                      <a:srgbClr val="FFFFFF"/>
                    </a:solidFill>
                  </a:tcPr>
                </a:tc>
                <a:tc>
                  <a:txBody>
                    <a:bodyPr/>
                    <a:lstStyle/>
                    <a:p>
                      <a:r>
                        <a:rPr sz="1100" b="0">
                          <a:solidFill>
                            <a:srgbClr val="1F2A37"/>
                          </a:solidFill>
                        </a:rPr>
                        <a:t>—</a:t>
                      </a:r>
                    </a:p>
                  </a:txBody>
                  <a:tcPr>
                    <a:solidFill>
                      <a:srgbClr val="FFFFFF"/>
                    </a:solidFill>
                  </a:tcPr>
                </a:tc>
              </a:tr>
              <a:tr h="356619">
                <a:tc>
                  <a:txBody>
                    <a:bodyPr/>
                    <a:lstStyle/>
                    <a:p>
                      <a:r>
                        <a:rPr sz="1100" b="0">
                          <a:solidFill>
                            <a:srgbClr val="1F2A37"/>
                          </a:solidFill>
                        </a:rPr>
                        <a:t>Won't have (이번 범위 제외)</a:t>
                      </a:r>
                    </a:p>
                  </a:txBody>
                  <a:tcPr>
                    <a:solidFill>
                      <a:srgbClr val="EEF2FB"/>
                    </a:solidFill>
                  </a:tcPr>
                </a:tc>
                <a:tc>
                  <a:txBody>
                    <a:bodyPr/>
                    <a:lstStyle/>
                    <a:p>
                      <a:r>
                        <a:rPr sz="1100" b="0">
                          <a:solidFill>
                            <a:srgbClr val="1F2A37"/>
                          </a:solidFill>
                        </a:rPr>
                        <a:t>오프라인 서비스 제공</a:t>
                      </a:r>
                    </a:p>
                  </a:txBody>
                  <a:tcPr>
                    <a:solidFill>
                      <a:srgbClr val="EEF2FB"/>
                    </a:solidFill>
                  </a:tcPr>
                </a:tc>
              </a:tr>
            </a:tbl>
          </a:graphicData>
        </a:graphic>
      </p:graphicFrame>
      <p:sp>
        <p:nvSpPr>
          <p:cNvPr id="5" name="TextBox 4"/>
          <p:cNvSpPr txBox="1"/>
          <p:nvPr/>
        </p:nvSpPr>
        <p:spPr>
          <a:xfrm>
            <a:off x="640080" y="4956047"/>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Kano 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6. 개발 로드맵·PRD (계속)</a:t>
            </a:r>
          </a:p>
        </p:txBody>
      </p:sp>
      <p:graphicFrame>
        <p:nvGraphicFramePr>
          <p:cNvPr id="3" name="Table 2"/>
          <p:cNvGraphicFramePr>
            <a:graphicFrameLocks noGrp="1"/>
          </p:cNvGraphicFramePr>
          <p:nvPr/>
        </p:nvGraphicFramePr>
        <p:xfrm>
          <a:off x="640080" y="1417320"/>
          <a:ext cx="10908792" cy="1453895"/>
        </p:xfrm>
        <a:graphic>
          <a:graphicData uri="http://schemas.openxmlformats.org/drawingml/2006/table">
            <a:tbl>
              <a:tblPr firstRow="1" bandRow="1">
                <a:tableStyleId>{5C22544A-7EE6-4342-B048-85BDC9FD1C3A}</a:tableStyleId>
              </a:tblPr>
              <a:tblGrid>
                <a:gridCol w="5454396"/>
                <a:gridCol w="5454396"/>
              </a:tblGrid>
              <a:tr h="363473">
                <a:tc>
                  <a:txBody>
                    <a:bodyPr/>
                    <a:lstStyle/>
                    <a:p>
                      <a:pPr algn="ctr"/>
                      <a:r>
                        <a:rPr sz="1100" b="1">
                          <a:solidFill>
                            <a:srgbClr val="FFFFFF"/>
                          </a:solidFill>
                        </a:rPr>
                        <a:t>분류</a:t>
                      </a:r>
                    </a:p>
                  </a:txBody>
                  <a:tcPr>
                    <a:solidFill>
                      <a:srgbClr val="2B59C3"/>
                    </a:solidFill>
                  </a:tcPr>
                </a:tc>
                <a:tc>
                  <a:txBody>
                    <a:bodyPr/>
                    <a:lstStyle/>
                    <a:p>
                      <a:pPr algn="ctr"/>
                      <a:r>
                        <a:rPr sz="1100" b="1">
                          <a:solidFill>
                            <a:srgbClr val="FFFFFF"/>
                          </a:solidFill>
                        </a:rPr>
                        <a:t>기능</a:t>
                      </a:r>
                    </a:p>
                  </a:txBody>
                  <a:tcPr>
                    <a:solidFill>
                      <a:srgbClr val="2B59C3"/>
                    </a:solidFill>
                  </a:tcPr>
                </a:tc>
              </a:tr>
              <a:tr h="363473">
                <a:tc>
                  <a:txBody>
                    <a:bodyPr/>
                    <a:lstStyle/>
                    <a:p>
                      <a:r>
                        <a:rPr sz="1100" b="0">
                          <a:solidFill>
                            <a:srgbClr val="1F2A37"/>
                          </a:solidFill>
                        </a:rPr>
                        <a:t>Basic (당연)</a:t>
                      </a:r>
                    </a:p>
                  </a:txBody>
                  <a:tcPr>
                    <a:solidFill>
                      <a:srgbClr val="FFFFFF"/>
                    </a:solidFill>
                  </a:tcPr>
                </a:tc>
                <a:tc>
                  <a:txBody>
                    <a:bodyPr/>
                    <a:lstStyle/>
                    <a:p>
                      <a:r>
                        <a:rPr sz="1100" b="0">
                          <a:solidFill>
                            <a:srgbClr val="1F2A37"/>
                          </a:solidFill>
                        </a:rPr>
                        <a:t>AI 진로 상담 챗봇</a:t>
                      </a:r>
                    </a:p>
                  </a:txBody>
                  <a:tcPr>
                    <a:solidFill>
                      <a:srgbClr val="FFFFFF"/>
                    </a:solidFill>
                  </a:tcPr>
                </a:tc>
              </a:tr>
              <a:tr h="363473">
                <a:tc>
                  <a:txBody>
                    <a:bodyPr/>
                    <a:lstStyle/>
                    <a:p>
                      <a:r>
                        <a:rPr sz="1100" b="0">
                          <a:solidFill>
                            <a:srgbClr val="1F2A37"/>
                          </a:solidFill>
                        </a:rPr>
                        <a:t>Performance (성능)</a:t>
                      </a:r>
                    </a:p>
                  </a:txBody>
                  <a:tcPr>
                    <a:solidFill>
                      <a:srgbClr val="EEF2FB"/>
                    </a:solidFill>
                  </a:tcPr>
                </a:tc>
                <a:tc>
                  <a:txBody>
                    <a:bodyPr/>
                    <a:lstStyle/>
                    <a:p>
                      <a:r>
                        <a:rPr sz="1100" b="0">
                          <a:solidFill>
                            <a:srgbClr val="1F2A37"/>
                          </a:solidFill>
                        </a:rPr>
                        <a:t>맞춤형 경로 추천 알고리즘, AI 진로 검사 서비스</a:t>
                      </a:r>
                    </a:p>
                  </a:txBody>
                  <a:tcPr>
                    <a:solidFill>
                      <a:srgbClr val="EEF2FB"/>
                    </a:solidFill>
                  </a:tcPr>
                </a:tc>
              </a:tr>
              <a:tr h="363476">
                <a:tc>
                  <a:txBody>
                    <a:bodyPr/>
                    <a:lstStyle/>
                    <a:p>
                      <a:r>
                        <a:rPr sz="1100" b="0">
                          <a:solidFill>
                            <a:srgbClr val="1F2A37"/>
                          </a:solidFill>
                        </a:rPr>
                        <a:t>Excitement (매력)</a:t>
                      </a:r>
                    </a:p>
                  </a:txBody>
                  <a:tcPr>
                    <a:solidFill>
                      <a:srgbClr val="FFFFFF"/>
                    </a:solidFill>
                  </a:tcPr>
                </a:tc>
                <a:tc>
                  <a:txBody>
                    <a:bodyPr/>
                    <a:lstStyle/>
                    <a:p>
                      <a:r>
                        <a:rPr sz="1100" b="0">
                          <a:solidFill>
                            <a:srgbClr val="1F2A37"/>
                          </a:solidFill>
                        </a:rPr>
                        <a:t>사용자 피드백 시스템, 모바일 최적화 인터페이스</a:t>
                      </a:r>
                    </a:p>
                  </a:txBody>
                  <a:tcPr>
                    <a:solidFill>
                      <a:srgbClr val="FFFFFF"/>
                    </a:solidFill>
                  </a:tcPr>
                </a:tc>
              </a:tr>
            </a:tbl>
          </a:graphicData>
        </a:graphic>
      </p:graphicFrame>
      <p:sp>
        <p:nvSpPr>
          <p:cNvPr id="4" name="TextBox 3"/>
          <p:cNvSpPr txBox="1"/>
          <p:nvPr/>
        </p:nvSpPr>
        <p:spPr>
          <a:xfrm>
            <a:off x="640080" y="3008375"/>
            <a:ext cx="10908792" cy="3072384"/>
          </a:xfrm>
          <a:prstGeom prst="rect">
            <a:avLst/>
          </a:prstGeom>
          <a:noFill/>
        </p:spPr>
        <p:txBody>
          <a:bodyPr wrap="square" anchor="t">
            <a:spAutoFit/>
          </a:bodyPr>
          <a:lstStyle/>
          <a:p>
            <a:pPr>
              <a:spcBef>
                <a:spcPts val="600"/>
              </a:spcBef>
              <a:spcAft>
                <a:spcPts val="400"/>
              </a:spcAft>
            </a:pPr>
            <a:r>
              <a:rPr sz="1700" b="1">
                <a:solidFill>
                  <a:srgbClr val="2B59C3"/>
                </a:solidFill>
              </a:rPr>
              <a:t>Epic – User Story – Acceptance Criteria (INVEST · Given-When-Then)</a:t>
            </a:r>
          </a:p>
          <a:p>
            <a:pPr>
              <a:spcBef>
                <a:spcPts val="600"/>
              </a:spcBef>
              <a:spcAft>
                <a:spcPts val="400"/>
              </a:spcAft>
            </a:pPr>
            <a:r>
              <a:rPr sz="1700" b="1">
                <a:solidFill>
                  <a:srgbClr val="2B59C3"/>
                </a:solidFill>
              </a:rPr>
              <a:t>Epic: AI 진로 상담 기능 개발</a:t>
            </a:r>
          </a:p>
          <a:p>
            <a:pPr>
              <a:spcAft>
                <a:spcPts val="400"/>
              </a:spcAft>
            </a:pPr>
            <a:r>
              <a:rPr sz="1500">
                <a:solidFill>
                  <a:srgbClr val="2B59C3"/>
                </a:solidFill>
              </a:rPr>
              <a:t>• </a:t>
            </a:r>
            <a:r>
              <a:rPr sz="1500" b="1">
                <a:solidFill>
                  <a:srgbClr val="1F2A37"/>
                </a:solidFill>
              </a:rPr>
              <a:t>Story</a:t>
            </a:r>
            <a:r>
              <a:rPr sz="1500" b="0">
                <a:solidFill>
                  <a:srgbClr val="1F2A37"/>
                </a:solidFill>
              </a:rPr>
              <a:t>: As a 대학생, I want AI 진로 상담 챗봇을 통해 상담을 받고, So that 개인 맞춤형 진로 경로를 추천받고 싶습니다.</a:t>
            </a:r>
          </a:p>
          <a:p>
            <a:pPr>
              <a:spcAft>
                <a:spcPts val="400"/>
              </a:spcAft>
            </a:pPr>
            <a:r>
              <a:rPr sz="1500">
                <a:solidFill>
                  <a:srgbClr val="2B59C3"/>
                </a:solidFill>
              </a:rPr>
              <a:t>• </a:t>
            </a:r>
            <a:r>
              <a:rPr sz="1500" b="1">
                <a:solidFill>
                  <a:srgbClr val="1F2A37"/>
                </a:solidFill>
              </a:rPr>
              <a:t>Given</a:t>
            </a:r>
            <a:r>
              <a:rPr sz="1500" b="0">
                <a:solidFill>
                  <a:srgbClr val="1F2A37"/>
                </a:solidFill>
              </a:rPr>
              <a:t> 사용자가 챗봇에 접근할 수 있는 웹사이트에 접속합니다.</a:t>
            </a:r>
          </a:p>
          <a:p>
            <a:pPr>
              <a:spcAft>
                <a:spcPts val="400"/>
              </a:spcAft>
            </a:pPr>
            <a:r>
              <a:rPr sz="1500">
                <a:solidFill>
                  <a:srgbClr val="2B59C3"/>
                </a:solidFill>
              </a:rPr>
              <a:t>• </a:t>
            </a:r>
            <a:r>
              <a:rPr sz="1500" b="1">
                <a:solidFill>
                  <a:srgbClr val="1F2A37"/>
                </a:solidFill>
              </a:rPr>
              <a:t>When</a:t>
            </a:r>
            <a:r>
              <a:rPr sz="1500" b="0">
                <a:solidFill>
                  <a:srgbClr val="1F2A37"/>
                </a:solidFill>
              </a:rPr>
              <a:t> 사용자가 상담 요청을 입력합니다.</a:t>
            </a:r>
          </a:p>
          <a:p>
            <a:pPr>
              <a:spcAft>
                <a:spcPts val="400"/>
              </a:spcAft>
            </a:pPr>
            <a:r>
              <a:rPr sz="1500">
                <a:solidFill>
                  <a:srgbClr val="2B59C3"/>
                </a:solidFill>
              </a:rPr>
              <a:t>• </a:t>
            </a:r>
            <a:r>
              <a:rPr sz="1500" b="1">
                <a:solidFill>
                  <a:srgbClr val="1F2A37"/>
                </a:solidFill>
              </a:rPr>
              <a:t>Then</a:t>
            </a:r>
            <a:r>
              <a:rPr sz="1500" b="0">
                <a:solidFill>
                  <a:srgbClr val="1F2A37"/>
                </a:solidFill>
              </a:rPr>
              <a:t> 챗봇이 개인 맞춤형 진로 경로를 추천합니다.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6. 개발 로드맵·PRD (계속)</a:t>
            </a:r>
          </a:p>
        </p:txBody>
      </p:sp>
      <p:sp>
        <p:nvSpPr>
          <p:cNvPr id="3" name="TextBox 2"/>
          <p:cNvSpPr txBox="1"/>
          <p:nvPr/>
        </p:nvSpPr>
        <p:spPr>
          <a:xfrm>
            <a:off x="640080" y="1417320"/>
            <a:ext cx="10908792" cy="2706624"/>
          </a:xfrm>
          <a:prstGeom prst="rect">
            <a:avLst/>
          </a:prstGeom>
          <a:noFill/>
        </p:spPr>
        <p:txBody>
          <a:bodyPr wrap="square" anchor="t">
            <a:spAutoFit/>
          </a:bodyPr>
          <a:lstStyle/>
          <a:p>
            <a:pPr>
              <a:spcBef>
                <a:spcPts val="600"/>
              </a:spcBef>
              <a:spcAft>
                <a:spcPts val="400"/>
              </a:spcAft>
            </a:pPr>
            <a:r>
              <a:rPr sz="1700" b="1">
                <a:solidFill>
                  <a:srgbClr val="2B59C3"/>
                </a:solidFill>
              </a:rPr>
              <a:t>Epic: 진로 검사 서비스 구현</a:t>
            </a:r>
          </a:p>
          <a:p>
            <a:pPr>
              <a:spcAft>
                <a:spcPts val="400"/>
              </a:spcAft>
            </a:pPr>
            <a:r>
              <a:rPr sz="1500">
                <a:solidFill>
                  <a:srgbClr val="2B59C3"/>
                </a:solidFill>
              </a:rPr>
              <a:t>• </a:t>
            </a:r>
            <a:r>
              <a:rPr sz="1500" b="1">
                <a:solidFill>
                  <a:srgbClr val="1F2A37"/>
                </a:solidFill>
              </a:rPr>
              <a:t>Story</a:t>
            </a:r>
            <a:r>
              <a:rPr sz="1500" b="0">
                <a:solidFill>
                  <a:srgbClr val="1F2A37"/>
                </a:solidFill>
              </a:rPr>
              <a:t>: As a 대학생, I want AI 진로 검사 서비스를 이용하여 나의 역량을 진단하고, So that 적합한 진로 경로를 선택할 수 있습니다.</a:t>
            </a:r>
          </a:p>
          <a:p>
            <a:pPr>
              <a:spcAft>
                <a:spcPts val="400"/>
              </a:spcAft>
            </a:pPr>
            <a:r>
              <a:rPr sz="1500">
                <a:solidFill>
                  <a:srgbClr val="2B59C3"/>
                </a:solidFill>
              </a:rPr>
              <a:t>• </a:t>
            </a:r>
            <a:r>
              <a:rPr sz="1500" b="1">
                <a:solidFill>
                  <a:srgbClr val="1F2A37"/>
                </a:solidFill>
              </a:rPr>
              <a:t>Given</a:t>
            </a:r>
            <a:r>
              <a:rPr sz="1500" b="0">
                <a:solidFill>
                  <a:srgbClr val="1F2A37"/>
                </a:solidFill>
              </a:rPr>
              <a:t> 사용자가 진로 검사 서비스에 접근합니다.</a:t>
            </a:r>
          </a:p>
          <a:p>
            <a:pPr>
              <a:spcAft>
                <a:spcPts val="400"/>
              </a:spcAft>
            </a:pPr>
            <a:r>
              <a:rPr sz="1500">
                <a:solidFill>
                  <a:srgbClr val="2B59C3"/>
                </a:solidFill>
              </a:rPr>
              <a:t>• </a:t>
            </a:r>
            <a:r>
              <a:rPr sz="1500" b="1">
                <a:solidFill>
                  <a:srgbClr val="1F2A37"/>
                </a:solidFill>
              </a:rPr>
              <a:t>When</a:t>
            </a:r>
            <a:r>
              <a:rPr sz="1500" b="0">
                <a:solidFill>
                  <a:srgbClr val="1F2A37"/>
                </a:solidFill>
              </a:rPr>
              <a:t> 사용자가 질문에 답변합니다.</a:t>
            </a:r>
          </a:p>
          <a:p>
            <a:pPr>
              <a:spcAft>
                <a:spcPts val="400"/>
              </a:spcAft>
            </a:pPr>
            <a:r>
              <a:rPr sz="1500">
                <a:solidFill>
                  <a:srgbClr val="2B59C3"/>
                </a:solidFill>
              </a:rPr>
              <a:t>• </a:t>
            </a:r>
            <a:r>
              <a:rPr sz="1500" b="1">
                <a:solidFill>
                  <a:srgbClr val="1F2A37"/>
                </a:solidFill>
              </a:rPr>
              <a:t>Then</a:t>
            </a:r>
            <a:r>
              <a:rPr sz="1500" b="0">
                <a:solidFill>
                  <a:srgbClr val="1F2A37"/>
                </a:solidFill>
              </a:rPr>
              <a:t> AI가 사용자의 역량을 분석하여 진로 경로를 추천합니다.</a:t>
            </a:r>
          </a:p>
          <a:p>
            <a:pPr>
              <a:spcBef>
                <a:spcPts val="600"/>
              </a:spcBef>
              <a:spcAft>
                <a:spcPts val="400"/>
              </a:spcAft>
            </a:pPr>
            <a:r>
              <a:rPr sz="1700" b="1">
                <a:solidFill>
                  <a:srgbClr val="2B59C3"/>
                </a:solidFill>
              </a:rPr>
              <a:t>마일스톤</a:t>
            </a:r>
          </a:p>
        </p:txBody>
      </p:sp>
      <p:graphicFrame>
        <p:nvGraphicFramePr>
          <p:cNvPr id="4" name="Table 3"/>
          <p:cNvGraphicFramePr>
            <a:graphicFrameLocks noGrp="1"/>
          </p:cNvGraphicFramePr>
          <p:nvPr/>
        </p:nvGraphicFramePr>
        <p:xfrm>
          <a:off x="640080" y="4123944"/>
          <a:ext cx="10908792" cy="1453895"/>
        </p:xfrm>
        <a:graphic>
          <a:graphicData uri="http://schemas.openxmlformats.org/drawingml/2006/table">
            <a:tbl>
              <a:tblPr firstRow="1" bandRow="1">
                <a:tableStyleId>{5C22544A-7EE6-4342-B048-85BDC9FD1C3A}</a:tableStyleId>
              </a:tblPr>
              <a:tblGrid>
                <a:gridCol w="3636264"/>
                <a:gridCol w="3636264"/>
                <a:gridCol w="3636264"/>
              </a:tblGrid>
              <a:tr h="363473">
                <a:tc>
                  <a:txBody>
                    <a:bodyPr/>
                    <a:lstStyle/>
                    <a:p>
                      <a:pPr algn="ctr"/>
                      <a:r>
                        <a:rPr sz="1100" b="1">
                          <a:solidFill>
                            <a:srgbClr val="FFFFFF"/>
                          </a:solidFill>
                        </a:rPr>
                        <a:t>마일스톤</a:t>
                      </a:r>
                    </a:p>
                  </a:txBody>
                  <a:tcPr>
                    <a:solidFill>
                      <a:srgbClr val="2B59C3"/>
                    </a:solidFill>
                  </a:tcPr>
                </a:tc>
                <a:tc>
                  <a:txBody>
                    <a:bodyPr/>
                    <a:lstStyle/>
                    <a:p>
                      <a:pPr algn="ctr"/>
                      <a:r>
                        <a:rPr sz="1100" b="1">
                          <a:solidFill>
                            <a:srgbClr val="FFFFFF"/>
                          </a:solidFill>
                        </a:rPr>
                        <a:t>기간</a:t>
                      </a:r>
                    </a:p>
                  </a:txBody>
                  <a:tcPr>
                    <a:solidFill>
                      <a:srgbClr val="2B59C3"/>
                    </a:solidFill>
                  </a:tcPr>
                </a:tc>
                <a:tc>
                  <a:txBody>
                    <a:bodyPr/>
                    <a:lstStyle/>
                    <a:p>
                      <a:pPr algn="ctr"/>
                      <a:r>
                        <a:rPr sz="1100" b="1">
                          <a:solidFill>
                            <a:srgbClr val="FFFFFF"/>
                          </a:solidFill>
                        </a:rPr>
                        <a:t>목표</a:t>
                      </a:r>
                    </a:p>
                  </a:txBody>
                  <a:tcPr>
                    <a:solidFill>
                      <a:srgbClr val="2B59C3"/>
                    </a:solidFill>
                  </a:tcPr>
                </a:tc>
              </a:tr>
              <a:tr h="363473">
                <a:tc>
                  <a:txBody>
                    <a:bodyPr/>
                    <a:lstStyle/>
                    <a:p>
                      <a:r>
                        <a:rPr sz="1100" b="0">
                          <a:solidFill>
                            <a:srgbClr val="1F2A37"/>
                          </a:solidFill>
                        </a:rPr>
                        <a:t>서비스 프로토타입 개발</a:t>
                      </a:r>
                    </a:p>
                  </a:txBody>
                  <a:tcPr>
                    <a:solidFill>
                      <a:srgbClr val="FFFFFF"/>
                    </a:solidFill>
                  </a:tcPr>
                </a:tc>
                <a:tc>
                  <a:txBody>
                    <a:bodyPr/>
                    <a:lstStyle/>
                    <a:p>
                      <a:r>
                        <a:rPr sz="1100" b="0">
                          <a:solidFill>
                            <a:srgbClr val="1F2A37"/>
                          </a:solidFill>
                        </a:rPr>
                        <a:t>3개월</a:t>
                      </a:r>
                    </a:p>
                  </a:txBody>
                  <a:tcPr>
                    <a:solidFill>
                      <a:srgbClr val="FFFFFF"/>
                    </a:solidFill>
                  </a:tcPr>
                </a:tc>
                <a:tc>
                  <a:txBody>
                    <a:bodyPr/>
                    <a:lstStyle/>
                    <a:p>
                      <a:r>
                        <a:rPr sz="1100" b="0">
                          <a:solidFill>
                            <a:srgbClr val="1F2A37"/>
                          </a:solidFill>
                        </a:rPr>
                        <a:t>AI 진로 상담 챗봇과 맞춤형 경로 추천 알고리즘의 초기 버전 출시</a:t>
                      </a:r>
                    </a:p>
                  </a:txBody>
                  <a:tcPr>
                    <a:solidFill>
                      <a:srgbClr val="FFFFFF"/>
                    </a:solidFill>
                  </a:tcPr>
                </a:tc>
              </a:tr>
              <a:tr h="363473">
                <a:tc>
                  <a:txBody>
                    <a:bodyPr/>
                    <a:lstStyle/>
                    <a:p>
                      <a:r>
                        <a:rPr sz="1100" b="0">
                          <a:solidFill>
                            <a:srgbClr val="1F2A37"/>
                          </a:solidFill>
                        </a:rPr>
                        <a:t>베타 테스트 진행</a:t>
                      </a:r>
                    </a:p>
                  </a:txBody>
                  <a:tcPr>
                    <a:solidFill>
                      <a:srgbClr val="EEF2FB"/>
                    </a:solidFill>
                  </a:tcPr>
                </a:tc>
                <a:tc>
                  <a:txBody>
                    <a:bodyPr/>
                    <a:lstStyle/>
                    <a:p>
                      <a:r>
                        <a:rPr sz="1100" b="0">
                          <a:solidFill>
                            <a:srgbClr val="1F2A37"/>
                          </a:solidFill>
                        </a:rPr>
                        <a:t>2개월</a:t>
                      </a:r>
                    </a:p>
                  </a:txBody>
                  <a:tcPr>
                    <a:solidFill>
                      <a:srgbClr val="EEF2FB"/>
                    </a:solidFill>
                  </a:tcPr>
                </a:tc>
                <a:tc>
                  <a:txBody>
                    <a:bodyPr/>
                    <a:lstStyle/>
                    <a:p>
                      <a:r>
                        <a:rPr sz="1100" b="0">
                          <a:solidFill>
                            <a:srgbClr val="1F2A37"/>
                          </a:solidFill>
                        </a:rPr>
                        <a:t>사용자 피드백을 통해 서비스 개선</a:t>
                      </a:r>
                    </a:p>
                  </a:txBody>
                  <a:tcPr>
                    <a:solidFill>
                      <a:srgbClr val="EEF2FB"/>
                    </a:solidFill>
                  </a:tcPr>
                </a:tc>
              </a:tr>
              <a:tr h="363476">
                <a:tc>
                  <a:txBody>
                    <a:bodyPr/>
                    <a:lstStyle/>
                    <a:p>
                      <a:r>
                        <a:rPr sz="1100" b="0">
                          <a:solidFill>
                            <a:srgbClr val="1F2A37"/>
                          </a:solidFill>
                        </a:rPr>
                        <a:t>정식 서비스 런칭</a:t>
                      </a:r>
                    </a:p>
                  </a:txBody>
                  <a:tcPr>
                    <a:solidFill>
                      <a:srgbClr val="FFFFFF"/>
                    </a:solidFill>
                  </a:tcPr>
                </a:tc>
                <a:tc>
                  <a:txBody>
                    <a:bodyPr/>
                    <a:lstStyle/>
                    <a:p>
                      <a:r>
                        <a:rPr sz="1100" b="0">
                          <a:solidFill>
                            <a:srgbClr val="1F2A37"/>
                          </a:solidFill>
                        </a:rPr>
                        <a:t>1개월</a:t>
                      </a:r>
                    </a:p>
                  </a:txBody>
                  <a:tcPr>
                    <a:solidFill>
                      <a:srgbClr val="FFFFFF"/>
                    </a:solidFill>
                  </a:tcPr>
                </a:tc>
                <a:tc>
                  <a:txBody>
                    <a:bodyPr/>
                    <a:lstStyle/>
                    <a:p>
                      <a:r>
                        <a:rPr sz="1100" b="0">
                          <a:solidFill>
                            <a:srgbClr val="1F2A37"/>
                          </a:solidFill>
                        </a:rPr>
                        <a:t>정식 서비스 출시 및 마케팅 시작</a:t>
                      </a:r>
                    </a:p>
                  </a:txBody>
                  <a:tcPr>
                    <a:solidFill>
                      <a:srgbClr val="FFFFFF"/>
                    </a:solidFill>
                  </a:tcPr>
                </a:tc>
              </a:tr>
            </a:tbl>
          </a:graphicData>
        </a:graphic>
      </p:graphicFrame>
      <p:sp>
        <p:nvSpPr>
          <p:cNvPr id="5" name="TextBox 4"/>
          <p:cNvSpPr txBox="1"/>
          <p:nvPr/>
        </p:nvSpPr>
        <p:spPr>
          <a:xfrm>
            <a:off x="640080" y="5714999"/>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KPI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6. 개발 로드맵·PRD (계속)</a:t>
            </a:r>
          </a:p>
        </p:txBody>
      </p:sp>
      <p:graphicFrame>
        <p:nvGraphicFramePr>
          <p:cNvPr id="3" name="Table 2"/>
          <p:cNvGraphicFramePr>
            <a:graphicFrameLocks noGrp="1"/>
          </p:cNvGraphicFramePr>
          <p:nvPr/>
        </p:nvGraphicFramePr>
        <p:xfrm>
          <a:off x="640080" y="1417320"/>
          <a:ext cx="10908792" cy="1453895"/>
        </p:xfrm>
        <a:graphic>
          <a:graphicData uri="http://schemas.openxmlformats.org/drawingml/2006/table">
            <a:tbl>
              <a:tblPr firstRow="1" bandRow="1">
                <a:tableStyleId>{5C22544A-7EE6-4342-B048-85BDC9FD1C3A}</a:tableStyleId>
              </a:tblPr>
              <a:tblGrid>
                <a:gridCol w="5454396"/>
                <a:gridCol w="5454396"/>
              </a:tblGrid>
              <a:tr h="363473">
                <a:tc>
                  <a:txBody>
                    <a:bodyPr/>
                    <a:lstStyle/>
                    <a:p>
                      <a:pPr algn="ctr"/>
                      <a:r>
                        <a:rPr sz="1100" b="1">
                          <a:solidFill>
                            <a:srgbClr val="FFFFFF"/>
                          </a:solidFill>
                        </a:rPr>
                        <a:t>지표</a:t>
                      </a:r>
                    </a:p>
                  </a:txBody>
                  <a:tcPr>
                    <a:solidFill>
                      <a:srgbClr val="2B59C3"/>
                    </a:solidFill>
                  </a:tcPr>
                </a:tc>
                <a:tc>
                  <a:txBody>
                    <a:bodyPr/>
                    <a:lstStyle/>
                    <a:p>
                      <a:pPr algn="ctr"/>
                      <a:r>
                        <a:rPr sz="1100" b="1">
                          <a:solidFill>
                            <a:srgbClr val="FFFFFF"/>
                          </a:solidFill>
                        </a:rPr>
                        <a:t>목표(가정 포함)</a:t>
                      </a:r>
                    </a:p>
                  </a:txBody>
                  <a:tcPr>
                    <a:solidFill>
                      <a:srgbClr val="2B59C3"/>
                    </a:solidFill>
                  </a:tcPr>
                </a:tc>
              </a:tr>
              <a:tr h="363473">
                <a:tc>
                  <a:txBody>
                    <a:bodyPr/>
                    <a:lstStyle/>
                    <a:p>
                      <a:r>
                        <a:rPr sz="1100" b="0">
                          <a:solidFill>
                            <a:srgbClr val="1F2A37"/>
                          </a:solidFill>
                        </a:rPr>
                        <a:t>사용자 수</a:t>
                      </a:r>
                    </a:p>
                  </a:txBody>
                  <a:tcPr>
                    <a:solidFill>
                      <a:srgbClr val="FFFFFF"/>
                    </a:solidFill>
                  </a:tcPr>
                </a:tc>
                <a:tc>
                  <a:txBody>
                    <a:bodyPr/>
                    <a:lstStyle/>
                    <a:p>
                      <a:r>
                        <a:rPr sz="1100" b="0">
                          <a:solidFill>
                            <a:srgbClr val="1F2A37"/>
                          </a:solidFill>
                        </a:rPr>
                        <a:t>1,000명 (가정)</a:t>
                      </a:r>
                    </a:p>
                  </a:txBody>
                  <a:tcPr>
                    <a:solidFill>
                      <a:srgbClr val="FFFFFF"/>
                    </a:solidFill>
                  </a:tcPr>
                </a:tc>
              </a:tr>
              <a:tr h="363473">
                <a:tc>
                  <a:txBody>
                    <a:bodyPr/>
                    <a:lstStyle/>
                    <a:p>
                      <a:r>
                        <a:rPr sz="1100" b="0">
                          <a:solidFill>
                            <a:srgbClr val="1F2A37"/>
                          </a:solidFill>
                        </a:rPr>
                        <a:t>구독 전환율</a:t>
                      </a:r>
                    </a:p>
                  </a:txBody>
                  <a:tcPr>
                    <a:solidFill>
                      <a:srgbClr val="EEF2FB"/>
                    </a:solidFill>
                  </a:tcPr>
                </a:tc>
                <a:tc>
                  <a:txBody>
                    <a:bodyPr/>
                    <a:lstStyle/>
                    <a:p>
                      <a:r>
                        <a:rPr sz="1100" b="0">
                          <a:solidFill>
                            <a:srgbClr val="1F2A37"/>
                          </a:solidFill>
                        </a:rPr>
                        <a:t>10% (가정)</a:t>
                      </a:r>
                    </a:p>
                  </a:txBody>
                  <a:tcPr>
                    <a:solidFill>
                      <a:srgbClr val="EEF2FB"/>
                    </a:solidFill>
                  </a:tcPr>
                </a:tc>
              </a:tr>
              <a:tr h="363476">
                <a:tc>
                  <a:txBody>
                    <a:bodyPr/>
                    <a:lstStyle/>
                    <a:p>
                      <a:r>
                        <a:rPr sz="1100" b="0">
                          <a:solidFill>
                            <a:srgbClr val="1F2A37"/>
                          </a:solidFill>
                        </a:rPr>
                        <a:t>사용자 만족도</a:t>
                      </a:r>
                    </a:p>
                  </a:txBody>
                  <a:tcPr>
                    <a:solidFill>
                      <a:srgbClr val="FFFFFF"/>
                    </a:solidFill>
                  </a:tcPr>
                </a:tc>
                <a:tc>
                  <a:txBody>
                    <a:bodyPr/>
                    <a:lstStyle/>
                    <a:p>
                      <a:r>
                        <a:rPr sz="1100" b="0">
                          <a:solidFill>
                            <a:srgbClr val="1F2A37"/>
                          </a:solidFill>
                        </a:rPr>
                        <a:t>80% 이상 (가정)</a:t>
                      </a:r>
                    </a:p>
                  </a:txBody>
                  <a:tcPr>
                    <a:solidFill>
                      <a:srgbClr val="FFFFFF"/>
                    </a:solidFill>
                  </a:tcPr>
                </a:tc>
              </a:tr>
            </a:tbl>
          </a:graphicData>
        </a:graphic>
      </p:graphicFrame>
      <p:sp>
        <p:nvSpPr>
          <p:cNvPr id="4" name="TextBox 3"/>
          <p:cNvSpPr txBox="1"/>
          <p:nvPr/>
        </p:nvSpPr>
        <p:spPr>
          <a:xfrm>
            <a:off x="640080" y="3008375"/>
            <a:ext cx="10908792" cy="3218688"/>
          </a:xfrm>
          <a:prstGeom prst="rect">
            <a:avLst/>
          </a:prstGeom>
          <a:noFill/>
        </p:spPr>
        <p:txBody>
          <a:bodyPr wrap="square" anchor="t">
            <a:spAutoFit/>
          </a:bodyPr>
          <a:lstStyle/>
          <a:p>
            <a:pPr>
              <a:spcBef>
                <a:spcPts val="600"/>
              </a:spcBef>
              <a:spcAft>
                <a:spcPts val="400"/>
              </a:spcAft>
            </a:pPr>
            <a:r>
              <a:rPr sz="1700" b="1">
                <a:solidFill>
                  <a:srgbClr val="2B59C3"/>
                </a:solidFill>
              </a:rPr>
              <a:t>와이어프레임 (구조 스케치 — 실제 디자인 아님)</a:t>
            </a:r>
          </a:p>
          <a:p>
            <a:pPr>
              <a:spcAft>
                <a:spcPts val="400"/>
              </a:spcAft>
            </a:pPr>
            <a:r>
              <a:rPr sz="1500" b="1">
                <a:solidFill>
                  <a:srgbClr val="1F2A37"/>
                </a:solidFill>
              </a:rPr>
              <a:t>메인 화면</a:t>
            </a:r>
          </a:p>
          <a:p>
            <a:pPr>
              <a:spcAft>
                <a:spcPts val="400"/>
              </a:spcAft>
            </a:pPr>
            <a:r>
              <a:rPr sz="1500" b="0">
                <a:solidFill>
                  <a:srgbClr val="1F2A37"/>
                </a:solidFill>
              </a:rPr>
              <a:t>```</a:t>
            </a:r>
          </a:p>
          <a:p>
            <a:pPr>
              <a:spcAft>
                <a:spcPts val="400"/>
              </a:spcAft>
            </a:pPr>
            <a:r>
              <a:rPr sz="1500" b="0">
                <a:solidFill>
                  <a:srgbClr val="1F2A37"/>
                </a:solidFill>
              </a:rPr>
              <a:t>+-------------------+</a:t>
            </a:r>
          </a:p>
          <a:p>
            <a:pPr>
              <a:spcAft>
                <a:spcPts val="400"/>
              </a:spcAft>
            </a:pPr>
            <a:r>
              <a:rPr sz="1500" b="0">
                <a:solidFill>
                  <a:srgbClr val="1F2A37"/>
                </a:solidFill>
              </a:rPr>
              <a:t>|    AI 진로 설계    |</a:t>
            </a:r>
          </a:p>
          <a:p>
            <a:pPr>
              <a:spcAft>
                <a:spcPts val="400"/>
              </a:spcAft>
            </a:pPr>
            <a:r>
              <a:rPr sz="1500" b="0">
                <a:solidFill>
                  <a:srgbClr val="1F2A37"/>
                </a:solidFill>
              </a:rPr>
              <a:t>|  [상담 시작하기]   |</a:t>
            </a:r>
          </a:p>
          <a:p>
            <a:pPr>
              <a:spcAft>
                <a:spcPts val="400"/>
              </a:spcAft>
            </a:pPr>
            <a:r>
              <a:rPr sz="1500" b="0">
                <a:solidFill>
                  <a:srgbClr val="1F2A37"/>
                </a:solidFill>
              </a:rPr>
              <a:t>|  [진로 검사하기]   |</a:t>
            </a:r>
          </a:p>
          <a:p>
            <a:pPr>
              <a:spcAft>
                <a:spcPts val="400"/>
              </a:spcAft>
            </a:pPr>
            <a:r>
              <a:rPr sz="1500" b="0">
                <a:solidFill>
                  <a:srgbClr val="1F2A37"/>
                </a:solidFill>
              </a:rPr>
              <a:t>|  [피드백 남기기]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6. 개발 로드맵·PRD (계속)</a:t>
            </a:r>
          </a:p>
        </p:txBody>
      </p:sp>
      <p:sp>
        <p:nvSpPr>
          <p:cNvPr id="3" name="TextBox 2"/>
          <p:cNvSpPr txBox="1"/>
          <p:nvPr/>
        </p:nvSpPr>
        <p:spPr>
          <a:xfrm>
            <a:off x="640080" y="1417320"/>
            <a:ext cx="10908792" cy="4718304"/>
          </a:xfrm>
          <a:prstGeom prst="rect">
            <a:avLst/>
          </a:prstGeom>
          <a:noFill/>
        </p:spPr>
        <p:txBody>
          <a:bodyPr wrap="square" anchor="t">
            <a:spAutoFit/>
          </a:bodyPr>
          <a:lstStyle/>
          <a:p>
            <a:pPr>
              <a:spcAft>
                <a:spcPts val="400"/>
              </a:spcAft>
            </a:pPr>
            <a:r>
              <a:rPr sz="1500" b="0">
                <a:solidFill>
                  <a:srgbClr val="1F2A37"/>
                </a:solidFill>
              </a:rPr>
              <a:t>+-------------------+</a:t>
            </a:r>
          </a:p>
          <a:p>
            <a:pPr>
              <a:spcAft>
                <a:spcPts val="400"/>
              </a:spcAft>
            </a:pPr>
            <a:r>
              <a:rPr sz="1500" b="0">
                <a:solidFill>
                  <a:srgbClr val="1F2A37"/>
                </a:solidFill>
              </a:rPr>
              <a:t>```</a:t>
            </a:r>
          </a:p>
          <a:p>
            <a:pPr>
              <a:spcAft>
                <a:spcPts val="400"/>
              </a:spcAft>
            </a:pPr>
            <a:r>
              <a:rPr sz="1500" b="1">
                <a:solidFill>
                  <a:srgbClr val="1F2A37"/>
                </a:solidFill>
              </a:rPr>
              <a:t>핵심 기능 화면</a:t>
            </a:r>
          </a:p>
          <a:p>
            <a:pPr>
              <a:spcAft>
                <a:spcPts val="400"/>
              </a:spcAft>
            </a:pPr>
            <a:r>
              <a:rPr sz="1500" b="0">
                <a:solidFill>
                  <a:srgbClr val="1F2A37"/>
                </a:solidFill>
              </a:rPr>
              <a:t>```</a:t>
            </a:r>
          </a:p>
          <a:p>
            <a:pPr>
              <a:spcAft>
                <a:spcPts val="400"/>
              </a:spcAft>
            </a:pPr>
            <a:r>
              <a:rPr sz="1500" b="0">
                <a:solidFill>
                  <a:srgbClr val="1F2A37"/>
                </a:solidFill>
              </a:rPr>
              <a:t>+-------------------+</a:t>
            </a:r>
          </a:p>
          <a:p>
            <a:pPr>
              <a:spcAft>
                <a:spcPts val="400"/>
              </a:spcAft>
            </a:pPr>
            <a:r>
              <a:rPr sz="1500" b="0">
                <a:solidFill>
                  <a:srgbClr val="1F2A37"/>
                </a:solidFill>
              </a:rPr>
              <a:t>|   AI 상담 챗봇     |</a:t>
            </a:r>
          </a:p>
          <a:p>
            <a:pPr>
              <a:spcAft>
                <a:spcPts val="400"/>
              </a:spcAft>
            </a:pPr>
            <a:r>
              <a:rPr sz="1500" b="0">
                <a:solidFill>
                  <a:srgbClr val="1F2A37"/>
                </a:solidFill>
              </a:rPr>
              <a:t>|  [질문 입력]       |</a:t>
            </a:r>
          </a:p>
          <a:p>
            <a:pPr>
              <a:spcAft>
                <a:spcPts val="400"/>
              </a:spcAft>
            </a:pPr>
            <a:r>
              <a:rPr sz="1500" b="0">
                <a:solidFill>
                  <a:srgbClr val="1F2A37"/>
                </a:solidFill>
              </a:rPr>
              <a:t>|  [상담 결과 보기]  |</a:t>
            </a:r>
          </a:p>
          <a:p>
            <a:pPr>
              <a:spcAft>
                <a:spcPts val="400"/>
              </a:spcAft>
            </a:pPr>
            <a:r>
              <a:rPr sz="1500" b="0">
                <a:solidFill>
                  <a:srgbClr val="1F2A37"/>
                </a:solidFill>
              </a:rPr>
              <a:t>+-------------------+</a:t>
            </a:r>
          </a:p>
          <a:p>
            <a:pPr>
              <a:spcAft>
                <a:spcPts val="400"/>
              </a:spcAft>
            </a:pPr>
            <a:r>
              <a:rPr sz="1500" b="0">
                <a:solidFill>
                  <a:srgbClr val="1F2A37"/>
                </a:solidFill>
              </a:rPr>
              <a:t>```</a:t>
            </a:r>
          </a:p>
          <a:p>
            <a:pPr>
              <a:spcAft>
                <a:spcPts val="400"/>
              </a:spcAft>
            </a:pPr>
            <a:r>
              <a:rPr sz="1500" b="1">
                <a:solidFill>
                  <a:srgbClr val="1F2A37"/>
                </a:solidFill>
              </a:rPr>
              <a:t>결과/완료 화면</a:t>
            </a:r>
          </a:p>
          <a:p>
            <a:pPr>
              <a:spcAft>
                <a:spcPts val="400"/>
              </a:spcAft>
            </a:pPr>
            <a:r>
              <a:rPr sz="1500" b="0">
                <a:solidFill>
                  <a:srgbClr val="1F2A37"/>
                </a:solidFill>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6. 개발 로드맵·PRD (계속)</a:t>
            </a:r>
          </a:p>
        </p:txBody>
      </p:sp>
      <p:sp>
        <p:nvSpPr>
          <p:cNvPr id="3" name="TextBox 2"/>
          <p:cNvSpPr txBox="1"/>
          <p:nvPr/>
        </p:nvSpPr>
        <p:spPr>
          <a:xfrm>
            <a:off x="640080" y="1417320"/>
            <a:ext cx="10908792" cy="2359152"/>
          </a:xfrm>
          <a:prstGeom prst="rect">
            <a:avLst/>
          </a:prstGeom>
          <a:noFill/>
        </p:spPr>
        <p:txBody>
          <a:bodyPr wrap="square" anchor="t">
            <a:spAutoFit/>
          </a:bodyPr>
          <a:lstStyle/>
          <a:p>
            <a:pPr>
              <a:spcAft>
                <a:spcPts val="400"/>
              </a:spcAft>
            </a:pPr>
            <a:r>
              <a:rPr sz="1500" b="0">
                <a:solidFill>
                  <a:srgbClr val="1F2A37"/>
                </a:solidFill>
              </a:rPr>
              <a:t>+-------------------+</a:t>
            </a:r>
          </a:p>
          <a:p>
            <a:pPr>
              <a:spcAft>
                <a:spcPts val="400"/>
              </a:spcAft>
            </a:pPr>
            <a:r>
              <a:rPr sz="1500" b="0">
                <a:solidFill>
                  <a:srgbClr val="1F2A37"/>
                </a:solidFill>
              </a:rPr>
              <a:t>|   진로 경로 결과   |</a:t>
            </a:r>
          </a:p>
          <a:p>
            <a:pPr>
              <a:spcAft>
                <a:spcPts val="400"/>
              </a:spcAft>
            </a:pPr>
            <a:r>
              <a:rPr sz="1500" b="0">
                <a:solidFill>
                  <a:srgbClr val="1F2A37"/>
                </a:solidFill>
              </a:rPr>
              <a:t>|  [추천 경로 보기]  |</a:t>
            </a:r>
          </a:p>
          <a:p>
            <a:pPr>
              <a:spcAft>
                <a:spcPts val="400"/>
              </a:spcAft>
            </a:pPr>
            <a:r>
              <a:rPr sz="1500" b="0">
                <a:solidFill>
                  <a:srgbClr val="1F2A37"/>
                </a:solidFill>
              </a:rPr>
              <a:t>|  [피드백 남기기]   |</a:t>
            </a:r>
          </a:p>
          <a:p>
            <a:pPr>
              <a:spcAft>
                <a:spcPts val="400"/>
              </a:spcAft>
            </a:pPr>
            <a:r>
              <a:rPr sz="1500" b="0">
                <a:solidFill>
                  <a:srgbClr val="1F2A37"/>
                </a:solidFill>
              </a:rPr>
              <a:t>+-------------------+</a:t>
            </a:r>
          </a:p>
          <a:p>
            <a:pPr>
              <a:spcAft>
                <a:spcPts val="400"/>
              </a:spcAft>
            </a:pPr>
            <a:r>
              <a:rPr sz="1500" b="0">
                <a:solidFill>
                  <a:srgbClr val="1F2A37"/>
                </a:solidFill>
              </a:rPr>
              <a: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7. 발표 요약</a:t>
            </a:r>
          </a:p>
        </p:txBody>
      </p:sp>
      <p:sp>
        <p:nvSpPr>
          <p:cNvPr id="3" name="TextBox 2"/>
          <p:cNvSpPr txBox="1"/>
          <p:nvPr/>
        </p:nvSpPr>
        <p:spPr>
          <a:xfrm>
            <a:off x="640080" y="1417320"/>
            <a:ext cx="10908792" cy="1517904"/>
          </a:xfrm>
          <a:prstGeom prst="rect">
            <a:avLst/>
          </a:prstGeom>
          <a:noFill/>
        </p:spPr>
        <p:txBody>
          <a:bodyPr wrap="square" anchor="t">
            <a:spAutoFit/>
          </a:bodyPr>
          <a:lstStyle/>
          <a:p>
            <a:pPr>
              <a:spcAft>
                <a:spcPts val="400"/>
              </a:spcAft>
            </a:pPr>
            <a:r>
              <a:rPr sz="1500" b="0">
                <a:solidFill>
                  <a:srgbClr val="1F2A37"/>
                </a:solidFill>
              </a:rPr>
              <a:t>본 기획안의 핵심은 다음과 같다.</a:t>
            </a:r>
          </a:p>
          <a:p>
            <a:pPr>
              <a:spcAft>
                <a:spcPts val="400"/>
              </a:spcAft>
            </a:pPr>
            <a:r>
              <a:rPr sz="1500">
                <a:solidFill>
                  <a:srgbClr val="2B59C3"/>
                </a:solidFill>
              </a:rPr>
              <a:t>• </a:t>
            </a:r>
            <a:r>
              <a:rPr sz="1500" b="0">
                <a:solidFill>
                  <a:srgbClr val="1F2A37"/>
                </a:solidFill>
              </a:rPr>
              <a:t>정책 변화에 민감하게 반응하여 서비스 운영 전략을 조정해야 합니다.</a:t>
            </a:r>
          </a:p>
          <a:p>
            <a:pPr>
              <a:spcAft>
                <a:spcPts val="400"/>
              </a:spcAft>
            </a:pPr>
            <a:r>
              <a:rPr sz="1500">
                <a:solidFill>
                  <a:srgbClr val="2B59C3"/>
                </a:solidFill>
              </a:rPr>
              <a:t>• </a:t>
            </a:r>
            <a:r>
              <a:rPr sz="1500" b="0">
                <a:solidFill>
                  <a:srgbClr val="1F2A37"/>
                </a:solidFill>
              </a:rPr>
              <a:t>AI 기술의 신뢰성을 높이기 위한 지속적인 기술 개발과 사용자 교육이 필요합니다.</a:t>
            </a:r>
          </a:p>
          <a:p>
            <a:pPr>
              <a:spcAft>
                <a:spcPts val="400"/>
              </a:spcAft>
            </a:pPr>
            <a:r>
              <a:rPr sz="1500">
                <a:solidFill>
                  <a:srgbClr val="2B59C3"/>
                </a:solidFill>
              </a:rPr>
              <a:t>• </a:t>
            </a:r>
            <a:r>
              <a:rPr sz="1500" b="0">
                <a:solidFill>
                  <a:srgbClr val="1F2A37"/>
                </a:solidFill>
              </a:rPr>
              <a:t>다양한 가격대의 서비스를 제공하여 경제 상황에 따른 소비자 접근성을 높여야 합니다.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참고 — 기존 14섹션 기획서</a:t>
            </a:r>
          </a:p>
        </p:txBody>
      </p:sp>
      <p:sp>
        <p:nvSpPr>
          <p:cNvPr id="3" name="TextBox 2"/>
          <p:cNvSpPr txBox="1"/>
          <p:nvPr/>
        </p:nvSpPr>
        <p:spPr>
          <a:xfrm>
            <a:off x="640080" y="1417320"/>
            <a:ext cx="10908792" cy="685800"/>
          </a:xfrm>
          <a:prstGeom prst="rect">
            <a:avLst/>
          </a:prstGeom>
          <a:noFill/>
        </p:spPr>
        <p:txBody>
          <a:bodyPr wrap="square" anchor="t">
            <a:spAutoFit/>
          </a:bodyPr>
          <a:lstStyle/>
          <a:p>
            <a:pPr>
              <a:spcAft>
                <a:spcPts val="400"/>
              </a:spcAft>
            </a:pPr>
            <a:r>
              <a:rPr sz="1500" b="0">
                <a:solidFill>
                  <a:srgbClr val="1F2A37"/>
                </a:solidFill>
              </a:rPr>
              <a:t>아래는 동일 실행에서 생성된 서술형 기획서다(KOSENA 산출물과 중복 서술 포함).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AI 기반 대학생 진로 설계 서비스 기획서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프로젝트 개요</a:t>
            </a:r>
          </a:p>
        </p:txBody>
      </p:sp>
      <p:sp>
        <p:nvSpPr>
          <p:cNvPr id="3" name="TextBox 2"/>
          <p:cNvSpPr txBox="1"/>
          <p:nvPr/>
        </p:nvSpPr>
        <p:spPr>
          <a:xfrm>
            <a:off x="640080" y="1417320"/>
            <a:ext cx="10908792" cy="1271016"/>
          </a:xfrm>
          <a:prstGeom prst="rect">
            <a:avLst/>
          </a:prstGeom>
          <a:noFill/>
        </p:spPr>
        <p:txBody>
          <a:bodyPr wrap="square" anchor="t">
            <a:spAutoFit/>
          </a:bodyPr>
          <a:lstStyle/>
          <a:p>
            <a:pPr>
              <a:spcAft>
                <a:spcPts val="400"/>
              </a:spcAft>
            </a:pPr>
            <a:r>
              <a:rPr sz="1500" b="0">
                <a:solidFill>
                  <a:srgbClr val="1F2A37"/>
                </a:solidFill>
              </a:rPr>
              <a:t>AI 기반 대학생 진로 설계 서비스는 대학생이 자신의 전공, 관심사, 역량을 입력하면 맞춤형 진로 경로와 필요한 학습 및 경험을 설계해주는 혁신적인 AI 서비스입니다. 이 서비스는 특히 진로를 구체화하지 못한 대학교 2~3학년 학생들에게 유용합니다.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추진 배경</a:t>
            </a:r>
          </a:p>
        </p:txBody>
      </p:sp>
      <p:sp>
        <p:nvSpPr>
          <p:cNvPr id="3" name="TextBox 2"/>
          <p:cNvSpPr txBox="1"/>
          <p:nvPr/>
        </p:nvSpPr>
        <p:spPr>
          <a:xfrm>
            <a:off x="640080" y="1417320"/>
            <a:ext cx="10908792" cy="1271016"/>
          </a:xfrm>
          <a:prstGeom prst="rect">
            <a:avLst/>
          </a:prstGeom>
          <a:noFill/>
        </p:spPr>
        <p:txBody>
          <a:bodyPr wrap="square" anchor="t">
            <a:spAutoFit/>
          </a:bodyPr>
          <a:lstStyle/>
          <a:p>
            <a:pPr>
              <a:spcAft>
                <a:spcPts val="400"/>
              </a:spcAft>
            </a:pPr>
            <a:r>
              <a:rPr sz="1500" b="0">
                <a:solidFill>
                  <a:srgbClr val="1F2A37"/>
                </a:solidFill>
              </a:rPr>
              <a:t>대학생들은 진로에 대한 불확실성을 느끼고 있으며, 진로 정보가 흩어져 있어 어떤 경로를 선택해야 할지 판단하기 어려운 상황입니다. AI 기술의 발전과 함께 개인화된 진로 상담 서비스의 수요가 증가하고 있으며, 이러한 필요를 충족하기 위해 본 서비스의 개발이 필요합니다.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문제 정의</a:t>
            </a:r>
          </a:p>
        </p:txBody>
      </p:sp>
      <p:sp>
        <p:nvSpPr>
          <p:cNvPr id="3" name="TextBox 2"/>
          <p:cNvSpPr txBox="1"/>
          <p:nvPr/>
        </p:nvSpPr>
        <p:spPr>
          <a:xfrm>
            <a:off x="640080" y="1417320"/>
            <a:ext cx="10908792" cy="1271016"/>
          </a:xfrm>
          <a:prstGeom prst="rect">
            <a:avLst/>
          </a:prstGeom>
          <a:noFill/>
        </p:spPr>
        <p:txBody>
          <a:bodyPr wrap="square" anchor="t">
            <a:spAutoFit/>
          </a:bodyPr>
          <a:lstStyle/>
          <a:p>
            <a:pPr>
              <a:spcAft>
                <a:spcPts val="400"/>
              </a:spcAft>
            </a:pPr>
            <a:r>
              <a:rPr sz="1500" b="0">
                <a:solidFill>
                  <a:srgbClr val="1F2A37"/>
                </a:solidFill>
              </a:rPr>
              <a:t>대학생들은 진로 정보가 흩어져 있어 자신에게 맞는 경로와 준비 순서를 판단하기 어렵습니다. 또한, 전공과 관심사에 맞는 적절한 학습 및 경험을 설계할 수 있는 도구가 부족하며, AI를 통한 맞춤형 진로 상담이 부재하여 명확한 경로를 제시받지 못하고 있습니다.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목표 사용자</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본 서비스의 주요 목표 사용자는 진로를 구체화하지 못한 대학교 2~3학년 학생들입니다. 이들은 진로에 대한 불확실성을 느끼며, 자신에게 맞는 경로를 찾고자 하는 욕구가 강합니다.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시장 및 산업 분석</a:t>
            </a:r>
          </a:p>
        </p:txBody>
      </p:sp>
      <p:sp>
        <p:nvSpPr>
          <p:cNvPr id="3" name="TextBox 2"/>
          <p:cNvSpPr txBox="1"/>
          <p:nvPr/>
        </p:nvSpPr>
        <p:spPr>
          <a:xfrm>
            <a:off x="640080" y="1417320"/>
            <a:ext cx="10908792" cy="1271016"/>
          </a:xfrm>
          <a:prstGeom prst="rect">
            <a:avLst/>
          </a:prstGeom>
          <a:noFill/>
        </p:spPr>
        <p:txBody>
          <a:bodyPr wrap="square" anchor="t">
            <a:spAutoFit/>
          </a:bodyPr>
          <a:lstStyle/>
          <a:p>
            <a:pPr>
              <a:spcAft>
                <a:spcPts val="400"/>
              </a:spcAft>
            </a:pPr>
            <a:r>
              <a:rPr sz="1500" b="0">
                <a:solidFill>
                  <a:srgbClr val="1F2A37"/>
                </a:solidFill>
              </a:rPr>
              <a:t>AI 기반 진로 설계 서비스 시장은 빠르게 성장하고 있으며, 대학생들이 진로를 구체화하는 데 도움을 주는 혁신적인 솔루션으로 자리잡고 있습니다. AI 기술을 활용한 맞춤형 진로 상담 서비스의 수요가 증가하고 있으며, 데이터 기반의 진로 설계 및 역량 진단 서비스가 발전하고 있습니다.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PESTEL 분석</a:t>
            </a:r>
          </a:p>
        </p:txBody>
      </p:sp>
      <p:graphicFrame>
        <p:nvGraphicFramePr>
          <p:cNvPr id="3" name="Table 2"/>
          <p:cNvGraphicFramePr>
            <a:graphicFrameLocks noGrp="1"/>
          </p:cNvGraphicFramePr>
          <p:nvPr/>
        </p:nvGraphicFramePr>
        <p:xfrm>
          <a:off x="640080" y="1417320"/>
          <a:ext cx="10908792" cy="2441448"/>
        </p:xfrm>
        <a:graphic>
          <a:graphicData uri="http://schemas.openxmlformats.org/drawingml/2006/table">
            <a:tbl>
              <a:tblPr firstRow="1" bandRow="1">
                <a:tableStyleId>{5C22544A-7EE6-4342-B048-85BDC9FD1C3A}</a:tableStyleId>
              </a:tblPr>
              <a:tblGrid>
                <a:gridCol w="2181758"/>
                <a:gridCol w="2181758"/>
                <a:gridCol w="2181758"/>
                <a:gridCol w="2181758"/>
                <a:gridCol w="2181760"/>
              </a:tblGrid>
              <a:tr h="348778">
                <a:tc>
                  <a:txBody>
                    <a:bodyPr/>
                    <a:lstStyle/>
                    <a:p>
                      <a:pPr algn="ctr"/>
                      <a:r>
                        <a:rPr sz="1100" b="1">
                          <a:solidFill>
                            <a:srgbClr val="FFFFFF"/>
                          </a:solidFill>
                        </a:rPr>
                        <a:t>요인</a:t>
                      </a:r>
                    </a:p>
                  </a:txBody>
                  <a:tcPr>
                    <a:solidFill>
                      <a:srgbClr val="2B59C3"/>
                    </a:solidFill>
                  </a:tcPr>
                </a:tc>
                <a:tc>
                  <a:txBody>
                    <a:bodyPr/>
                    <a:lstStyle/>
                    <a:p>
                      <a:pPr algn="ctr"/>
                      <a:r>
                        <a:rPr sz="1100" b="1">
                          <a:solidFill>
                            <a:srgbClr val="FFFFFF"/>
                          </a:solidFill>
                        </a:rPr>
                        <a:t>주요 내용</a:t>
                      </a:r>
                    </a:p>
                  </a:txBody>
                  <a:tcPr>
                    <a:solidFill>
                      <a:srgbClr val="2B59C3"/>
                    </a:solidFill>
                  </a:tcPr>
                </a:tc>
                <a:tc>
                  <a:txBody>
                    <a:bodyPr/>
                    <a:lstStyle/>
                    <a:p>
                      <a:pPr algn="ctr"/>
                      <a:r>
                        <a:rPr sz="1100" b="1">
                          <a:solidFill>
                            <a:srgbClr val="FFFFFF"/>
                          </a:solidFill>
                        </a:rPr>
                        <a:t>기회</a:t>
                      </a:r>
                    </a:p>
                  </a:txBody>
                  <a:tcPr>
                    <a:solidFill>
                      <a:srgbClr val="2B59C3"/>
                    </a:solidFill>
                  </a:tcPr>
                </a:tc>
                <a:tc>
                  <a:txBody>
                    <a:bodyPr/>
                    <a:lstStyle/>
                    <a:p>
                      <a:pPr algn="ctr"/>
                      <a:r>
                        <a:rPr sz="1100" b="1">
                          <a:solidFill>
                            <a:srgbClr val="FFFFFF"/>
                          </a:solidFill>
                        </a:rPr>
                        <a:t>위협</a:t>
                      </a:r>
                    </a:p>
                  </a:txBody>
                  <a:tcPr>
                    <a:solidFill>
                      <a:srgbClr val="2B59C3"/>
                    </a:solidFill>
                  </a:tcPr>
                </a:tc>
                <a:tc>
                  <a:txBody>
                    <a:bodyPr/>
                    <a:lstStyle/>
                    <a:p>
                      <a:pPr algn="ctr"/>
                      <a:r>
                        <a:rPr sz="1100" b="1">
                          <a:solidFill>
                            <a:srgbClr val="FFFFFF"/>
                          </a:solidFill>
                        </a:rPr>
                        <a:t>대응</a:t>
                      </a:r>
                    </a:p>
                  </a:txBody>
                  <a:tcPr>
                    <a:solidFill>
                      <a:srgbClr val="2B59C3"/>
                    </a:solidFill>
                  </a:tcPr>
                </a:tc>
              </a:tr>
              <a:tr h="348778">
                <a:tc>
                  <a:txBody>
                    <a:bodyPr/>
                    <a:lstStyle/>
                    <a:p>
                      <a:r>
                        <a:rPr sz="1100" b="0">
                          <a:solidFill>
                            <a:srgbClr val="1F2A37"/>
                          </a:solidFill>
                        </a:rPr>
                        <a:t>Political</a:t>
                      </a:r>
                    </a:p>
                  </a:txBody>
                  <a:tcPr>
                    <a:solidFill>
                      <a:srgbClr val="FFFFFF"/>
                    </a:solidFill>
                  </a:tcPr>
                </a:tc>
                <a:tc>
                  <a:txBody>
                    <a:bodyPr/>
                    <a:lstStyle/>
                    <a:p>
                      <a:r>
                        <a:rPr sz="1100" b="0">
                          <a:solidFill>
                            <a:srgbClr val="1F2A37"/>
                          </a:solidFill>
                        </a:rPr>
                        <a:t>정부의 청년 일자리 정책과 관련이 깊음</a:t>
                      </a:r>
                    </a:p>
                  </a:txBody>
                  <a:tcPr>
                    <a:solidFill>
                      <a:srgbClr val="FFFFFF"/>
                    </a:solidFill>
                  </a:tcPr>
                </a:tc>
                <a:tc>
                  <a:txBody>
                    <a:bodyPr/>
                    <a:lstStyle/>
                    <a:p>
                      <a:r>
                        <a:rPr sz="1100" b="0">
                          <a:solidFill>
                            <a:srgbClr val="1F2A37"/>
                          </a:solidFill>
                        </a:rPr>
                        <a:t>정부 지원 정책과 협력하여 신뢰성 및 사용자 기반 확장</a:t>
                      </a:r>
                    </a:p>
                  </a:txBody>
                  <a:tcPr>
                    <a:solidFill>
                      <a:srgbClr val="FFFFFF"/>
                    </a:solidFill>
                  </a:tcPr>
                </a:tc>
                <a:tc>
                  <a:txBody>
                    <a:bodyPr/>
                    <a:lstStyle/>
                    <a:p>
                      <a:r>
                        <a:rPr sz="1100" b="0">
                          <a:solidFill>
                            <a:srgbClr val="1F2A37"/>
                          </a:solidFill>
                        </a:rPr>
                        <a:t>정치적 불안정이나 정책 변화가 서비스 운영에 영향</a:t>
                      </a:r>
                    </a:p>
                  </a:txBody>
                  <a:tcPr>
                    <a:solidFill>
                      <a:srgbClr val="FFFFFF"/>
                    </a:solidFill>
                  </a:tcPr>
                </a:tc>
                <a:tc>
                  <a:txBody>
                    <a:bodyPr/>
                    <a:lstStyle/>
                    <a:p>
                      <a:r>
                        <a:rPr sz="1100" b="0">
                          <a:solidFill>
                            <a:srgbClr val="1F2A37"/>
                          </a:solidFill>
                        </a:rPr>
                        <a:t>정책 변화에 민감하게 반응하고 정부와 협력</a:t>
                      </a:r>
                    </a:p>
                  </a:txBody>
                  <a:tcPr>
                    <a:solidFill>
                      <a:srgbClr val="FFFFFF"/>
                    </a:solidFill>
                  </a:tcPr>
                </a:tc>
              </a:tr>
              <a:tr h="348778">
                <a:tc>
                  <a:txBody>
                    <a:bodyPr/>
                    <a:lstStyle/>
                    <a:p>
                      <a:r>
                        <a:rPr sz="1100" b="0">
                          <a:solidFill>
                            <a:srgbClr val="1F2A37"/>
                          </a:solidFill>
                        </a:rPr>
                        <a:t>Economic</a:t>
                      </a:r>
                    </a:p>
                  </a:txBody>
                  <a:tcPr>
                    <a:solidFill>
                      <a:srgbClr val="EEF2FB"/>
                    </a:solidFill>
                  </a:tcPr>
                </a:tc>
                <a:tc>
                  <a:txBody>
                    <a:bodyPr/>
                    <a:lstStyle/>
                    <a:p>
                      <a:r>
                        <a:rPr sz="1100" b="0">
                          <a:solidFill>
                            <a:srgbClr val="1F2A37"/>
                          </a:solidFill>
                        </a:rPr>
                        <a:t>시장은 2026년부터 2035년까지 연평균 성장률 8.2% 예상</a:t>
                      </a:r>
                    </a:p>
                  </a:txBody>
                  <a:tcPr>
                    <a:solidFill>
                      <a:srgbClr val="EEF2FB"/>
                    </a:solidFill>
                  </a:tcPr>
                </a:tc>
                <a:tc>
                  <a:txBody>
                    <a:bodyPr/>
                    <a:lstStyle/>
                    <a:p>
                      <a:r>
                        <a:rPr sz="1100" b="0">
                          <a:solidFill>
                            <a:srgbClr val="1F2A37"/>
                          </a:solidFill>
                        </a:rPr>
                        <a:t>경제 성장에 따라 대학생들의 지출 증가 가능성</a:t>
                      </a:r>
                    </a:p>
                  </a:txBody>
                  <a:tcPr>
                    <a:solidFill>
                      <a:srgbClr val="EEF2FB"/>
                    </a:solidFill>
                  </a:tcPr>
                </a:tc>
                <a:tc>
                  <a:txBody>
                    <a:bodyPr/>
                    <a:lstStyle/>
                    <a:p>
                      <a:r>
                        <a:rPr sz="1100" b="0">
                          <a:solidFill>
                            <a:srgbClr val="1F2A37"/>
                          </a:solidFill>
                        </a:rPr>
                        <a:t>경제 불황이나 실업률 증가가 소비 여력 감소</a:t>
                      </a:r>
                    </a:p>
                  </a:txBody>
                  <a:tcPr>
                    <a:solidFill>
                      <a:srgbClr val="EEF2FB"/>
                    </a:solidFill>
                  </a:tcPr>
                </a:tc>
                <a:tc>
                  <a:txBody>
                    <a:bodyPr/>
                    <a:lstStyle/>
                    <a:p>
                      <a:r>
                        <a:rPr sz="1100" b="0">
                          <a:solidFill>
                            <a:srgbClr val="1F2A37"/>
                          </a:solidFill>
                        </a:rPr>
                        <a:t>가격 정책을 유연하게 조정하고 다양한 가격대 제공</a:t>
                      </a:r>
                    </a:p>
                  </a:txBody>
                  <a:tcPr>
                    <a:solidFill>
                      <a:srgbClr val="EEF2FB"/>
                    </a:solidFill>
                  </a:tcPr>
                </a:tc>
              </a:tr>
              <a:tr h="348778">
                <a:tc>
                  <a:txBody>
                    <a:bodyPr/>
                    <a:lstStyle/>
                    <a:p>
                      <a:r>
                        <a:rPr sz="1100" b="0">
                          <a:solidFill>
                            <a:srgbClr val="1F2A37"/>
                          </a:solidFill>
                        </a:rPr>
                        <a:t>Social</a:t>
                      </a:r>
                    </a:p>
                  </a:txBody>
                  <a:tcPr>
                    <a:solidFill>
                      <a:srgbClr val="FFFFFF"/>
                    </a:solidFill>
                  </a:tcPr>
                </a:tc>
                <a:tc>
                  <a:txBody>
                    <a:bodyPr/>
                    <a:lstStyle/>
                    <a:p>
                      <a:r>
                        <a:rPr sz="1100" b="0">
                          <a:solidFill>
                            <a:srgbClr val="1F2A37"/>
                          </a:solidFill>
                        </a:rPr>
                        <a:t>대학생들의 진로에 대한 불확실성 증가</a:t>
                      </a:r>
                    </a:p>
                  </a:txBody>
                  <a:tcPr>
                    <a:solidFill>
                      <a:srgbClr val="FFFFFF"/>
                    </a:solidFill>
                  </a:tcPr>
                </a:tc>
                <a:tc>
                  <a:txBody>
                    <a:bodyPr/>
                    <a:lstStyle/>
                    <a:p>
                      <a:r>
                        <a:rPr sz="1100" b="0">
                          <a:solidFill>
                            <a:srgbClr val="1F2A37"/>
                          </a:solidFill>
                        </a:rPr>
                        <a:t>맞춤형 서비스 제공을 통해 고객층 확대</a:t>
                      </a:r>
                    </a:p>
                  </a:txBody>
                  <a:tcPr>
                    <a:solidFill>
                      <a:srgbClr val="FFFFFF"/>
                    </a:solidFill>
                  </a:tcPr>
                </a:tc>
                <a:tc>
                  <a:txBody>
                    <a:bodyPr/>
                    <a:lstStyle/>
                    <a:p>
                      <a:r>
                        <a:rPr sz="1100" b="0">
                          <a:solidFill>
                            <a:srgbClr val="1F2A37"/>
                          </a:solidFill>
                        </a:rPr>
                        <a:t>사회적 기대에 부응하지 못할 경우 사용자 이탈</a:t>
                      </a:r>
                    </a:p>
                  </a:txBody>
                  <a:tcPr>
                    <a:solidFill>
                      <a:srgbClr val="FFFFFF"/>
                    </a:solidFill>
                  </a:tcPr>
                </a:tc>
                <a:tc>
                  <a:txBody>
                    <a:bodyPr/>
                    <a:lstStyle/>
                    <a:p>
                      <a:r>
                        <a:rPr sz="1100" b="0">
                          <a:solidFill>
                            <a:srgbClr val="1F2A37"/>
                          </a:solidFill>
                        </a:rPr>
                        <a:t>고객 피드백을 반영하여 서비스 품질 개선</a:t>
                      </a:r>
                    </a:p>
                  </a:txBody>
                  <a:tcPr>
                    <a:solidFill>
                      <a:srgbClr val="FFFFFF"/>
                    </a:solidFill>
                  </a:tcPr>
                </a:tc>
              </a:tr>
              <a:tr h="348778">
                <a:tc>
                  <a:txBody>
                    <a:bodyPr/>
                    <a:lstStyle/>
                    <a:p>
                      <a:r>
                        <a:rPr sz="1100" b="0">
                          <a:solidFill>
                            <a:srgbClr val="1F2A37"/>
                          </a:solidFill>
                        </a:rPr>
                        <a:t>Technological</a:t>
                      </a:r>
                    </a:p>
                  </a:txBody>
                  <a:tcPr>
                    <a:solidFill>
                      <a:srgbClr val="EEF2FB"/>
                    </a:solidFill>
                  </a:tcPr>
                </a:tc>
                <a:tc>
                  <a:txBody>
                    <a:bodyPr/>
                    <a:lstStyle/>
                    <a:p>
                      <a:r>
                        <a:rPr sz="1100" b="0">
                          <a:solidFill>
                            <a:srgbClr val="1F2A37"/>
                          </a:solidFill>
                        </a:rPr>
                        <a:t>AI 기술 발전으로 서비스 품질 향상</a:t>
                      </a:r>
                    </a:p>
                  </a:txBody>
                  <a:tcPr>
                    <a:solidFill>
                      <a:srgbClr val="EEF2FB"/>
                    </a:solidFill>
                  </a:tcPr>
                </a:tc>
                <a:tc>
                  <a:txBody>
                    <a:bodyPr/>
                    <a:lstStyle/>
                    <a:p>
                      <a:r>
                        <a:rPr sz="1100" b="0">
                          <a:solidFill>
                            <a:srgbClr val="1F2A37"/>
                          </a:solidFill>
                        </a:rPr>
                        <a:t>더욱 정교하고 개인화된 서비스 제공 가능</a:t>
                      </a:r>
                    </a:p>
                  </a:txBody>
                  <a:tcPr>
                    <a:solidFill>
                      <a:srgbClr val="EEF2FB"/>
                    </a:solidFill>
                  </a:tcPr>
                </a:tc>
                <a:tc>
                  <a:txBody>
                    <a:bodyPr/>
                    <a:lstStyle/>
                    <a:p>
                      <a:r>
                        <a:rPr sz="1100" b="0">
                          <a:solidFill>
                            <a:srgbClr val="1F2A37"/>
                          </a:solidFill>
                        </a:rPr>
                        <a:t>AI 기술 신뢰성 및 정확성 우려</a:t>
                      </a:r>
                    </a:p>
                  </a:txBody>
                  <a:tcPr>
                    <a:solidFill>
                      <a:srgbClr val="EEF2FB"/>
                    </a:solidFill>
                  </a:tcPr>
                </a:tc>
                <a:tc>
                  <a:txBody>
                    <a:bodyPr/>
                    <a:lstStyle/>
                    <a:p>
                      <a:r>
                        <a:rPr sz="1100" b="0">
                          <a:solidFill>
                            <a:srgbClr val="1F2A37"/>
                          </a:solidFill>
                        </a:rPr>
                        <a:t>지속적인 기술 개발과 사용자 교육을 통해 신뢰 구축</a:t>
                      </a:r>
                    </a:p>
                  </a:txBody>
                  <a:tcPr>
                    <a:solidFill>
                      <a:srgbClr val="EEF2FB"/>
                    </a:solidFill>
                  </a:tcPr>
                </a:tc>
              </a:tr>
              <a:tr h="348778">
                <a:tc>
                  <a:txBody>
                    <a:bodyPr/>
                    <a:lstStyle/>
                    <a:p>
                      <a:r>
                        <a:rPr sz="1100" b="0">
                          <a:solidFill>
                            <a:srgbClr val="1F2A37"/>
                          </a:solidFill>
                        </a:rPr>
                        <a:t>Environmental</a:t>
                      </a:r>
                    </a:p>
                  </a:txBody>
                  <a:tcPr>
                    <a:solidFill>
                      <a:srgbClr val="FFFFFF"/>
                    </a:solidFill>
                  </a:tcPr>
                </a:tc>
                <a:tc>
                  <a:txBody>
                    <a:bodyPr/>
                    <a:lstStyle/>
                    <a:p>
                      <a:r>
                        <a:rPr sz="1100" b="0">
                          <a:solidFill>
                            <a:srgbClr val="1F2A37"/>
                          </a:solidFill>
                        </a:rPr>
                        <a:t>일부 지역에서 연결 문제로 접근성 제한</a:t>
                      </a:r>
                    </a:p>
                  </a:txBody>
                  <a:tcPr>
                    <a:solidFill>
                      <a:srgbClr val="FFFFFF"/>
                    </a:solidFill>
                  </a:tcPr>
                </a:tc>
                <a:tc>
                  <a:txBody>
                    <a:bodyPr/>
                    <a:lstStyle/>
                    <a:p>
                      <a:r>
                        <a:rPr sz="1100" b="0">
                          <a:solidFill>
                            <a:srgbClr val="1F2A37"/>
                          </a:solidFill>
                        </a:rPr>
                        <a:t>디지털 인프라 부족 지역을 대상으로 한 서비스 개발</a:t>
                      </a:r>
                    </a:p>
                  </a:txBody>
                  <a:tcPr>
                    <a:solidFill>
                      <a:srgbClr val="FFFFFF"/>
                    </a:solidFill>
                  </a:tcPr>
                </a:tc>
                <a:tc>
                  <a:txBody>
                    <a:bodyPr/>
                    <a:lstStyle/>
                    <a:p>
                      <a:r>
                        <a:rPr sz="1100" b="0">
                          <a:solidFill>
                            <a:srgbClr val="1F2A37"/>
                          </a:solidFill>
                        </a:rPr>
                        <a:t>농촌 지역 사용자 채택 어려움</a:t>
                      </a:r>
                    </a:p>
                  </a:txBody>
                  <a:tcPr>
                    <a:solidFill>
                      <a:srgbClr val="FFFFFF"/>
                    </a:solidFill>
                  </a:tcPr>
                </a:tc>
                <a:tc>
                  <a:txBody>
                    <a:bodyPr/>
                    <a:lstStyle/>
                    <a:p>
                      <a:r>
                        <a:rPr sz="1100" b="0">
                          <a:solidFill>
                            <a:srgbClr val="1F2A37"/>
                          </a:solidFill>
                        </a:rPr>
                        <a:t>오프라인 서비스나 대안적 접근 방식 고려</a:t>
                      </a:r>
                    </a:p>
                  </a:txBody>
                  <a:tcPr>
                    <a:solidFill>
                      <a:srgbClr val="FFFFFF"/>
                    </a:solidFill>
                  </a:tcPr>
                </a:tc>
              </a:tr>
              <a:tr h="348780">
                <a:tc>
                  <a:txBody>
                    <a:bodyPr/>
                    <a:lstStyle/>
                    <a:p>
                      <a:r>
                        <a:rPr sz="1100" b="0">
                          <a:solidFill>
                            <a:srgbClr val="1F2A37"/>
                          </a:solidFill>
                        </a:rPr>
                        <a:t>Legal</a:t>
                      </a:r>
                    </a:p>
                  </a:txBody>
                  <a:tcPr>
                    <a:solidFill>
                      <a:srgbClr val="EEF2FB"/>
                    </a:solidFill>
                  </a:tcPr>
                </a:tc>
                <a:tc>
                  <a:txBody>
                    <a:bodyPr/>
                    <a:lstStyle/>
                    <a:p>
                      <a:r>
                        <a:rPr sz="1100" b="0">
                          <a:solidFill>
                            <a:srgbClr val="1F2A37"/>
                          </a:solidFill>
                        </a:rPr>
                        <a:t>개인정보 보호 및 데이터 사용 관련 법률 준수 필요</a:t>
                      </a:r>
                    </a:p>
                  </a:txBody>
                  <a:tcPr>
                    <a:solidFill>
                      <a:srgbClr val="EEF2FB"/>
                    </a:solidFill>
                  </a:tcPr>
                </a:tc>
                <a:tc>
                  <a:txBody>
                    <a:bodyPr/>
                    <a:lstStyle/>
                    <a:p>
                      <a:r>
                        <a:rPr sz="1100" b="0">
                          <a:solidFill>
                            <a:srgbClr val="1F2A37"/>
                          </a:solidFill>
                        </a:rPr>
                        <a:t>법률 준수로 사용자 신뢰 구축</a:t>
                      </a:r>
                    </a:p>
                  </a:txBody>
                  <a:tcPr>
                    <a:solidFill>
                      <a:srgbClr val="EEF2FB"/>
                    </a:solidFill>
                  </a:tcPr>
                </a:tc>
                <a:tc>
                  <a:txBody>
                    <a:bodyPr/>
                    <a:lstStyle/>
                    <a:p>
                      <a:r>
                        <a:rPr sz="1100" b="0">
                          <a:solidFill>
                            <a:srgbClr val="1F2A37"/>
                          </a:solidFill>
                        </a:rPr>
                        <a:t>법적 규제가 강화될 경우 추가 비용 발생</a:t>
                      </a:r>
                    </a:p>
                  </a:txBody>
                  <a:tcPr>
                    <a:solidFill>
                      <a:srgbClr val="EEF2FB"/>
                    </a:solidFill>
                  </a:tcPr>
                </a:tc>
                <a:tc>
                  <a:txBody>
                    <a:bodyPr/>
                    <a:lstStyle/>
                    <a:p>
                      <a:r>
                        <a:rPr sz="1100" b="0">
                          <a:solidFill>
                            <a:srgbClr val="1F2A37"/>
                          </a:solidFill>
                        </a:rPr>
                        <a:t>법률 자문을 통해 규제 변화에 신속 대응</a:t>
                      </a:r>
                    </a:p>
                  </a:txBody>
                  <a:tcPr>
                    <a:solidFill>
                      <a:srgbClr val="EEF2FB"/>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SWOT 분석</a:t>
            </a:r>
          </a:p>
        </p:txBody>
      </p:sp>
      <p:sp>
        <p:nvSpPr>
          <p:cNvPr id="3" name="TextBox 2"/>
          <p:cNvSpPr txBox="1"/>
          <p:nvPr/>
        </p:nvSpPr>
        <p:spPr>
          <a:xfrm>
            <a:off x="640080" y="1417320"/>
            <a:ext cx="10908792" cy="2596896"/>
          </a:xfrm>
          <a:prstGeom prst="rect">
            <a:avLst/>
          </a:prstGeom>
          <a:noFill/>
        </p:spPr>
        <p:txBody>
          <a:bodyPr wrap="square" anchor="t">
            <a:spAutoFit/>
          </a:bodyPr>
          <a:lstStyle/>
          <a:p>
            <a:pPr>
              <a:spcAft>
                <a:spcPts val="400"/>
              </a:spcAft>
            </a:pPr>
            <a:r>
              <a:rPr sz="1500">
                <a:solidFill>
                  <a:srgbClr val="2B59C3"/>
                </a:solidFill>
              </a:rPr>
              <a:t>• </a:t>
            </a:r>
            <a:r>
              <a:rPr sz="1500" b="1">
                <a:solidFill>
                  <a:srgbClr val="1F2A37"/>
                </a:solidFill>
              </a:rPr>
              <a:t>강점</a:t>
            </a:r>
            <a:r>
              <a:rPr sz="1500" b="0">
                <a:solidFill>
                  <a:srgbClr val="1F2A37"/>
                </a:solidFill>
              </a:rPr>
              <a:t>: AI 기반의 개인 맞춤형 진로 상담 서비스, 대학생 진로 정보 부족 문제 해결, 빠르게 성장하는 시장에서의 기회</a:t>
            </a:r>
          </a:p>
          <a:p>
            <a:pPr>
              <a:spcAft>
                <a:spcPts val="400"/>
              </a:spcAft>
            </a:pPr>
            <a:r>
              <a:rPr sz="1500">
                <a:solidFill>
                  <a:srgbClr val="2B59C3"/>
                </a:solidFill>
              </a:rPr>
              <a:t>• </a:t>
            </a:r>
            <a:r>
              <a:rPr sz="1500" b="1">
                <a:solidFill>
                  <a:srgbClr val="1F2A37"/>
                </a:solidFill>
              </a:rPr>
              <a:t>약점</a:t>
            </a:r>
            <a:r>
              <a:rPr sz="1500" b="0">
                <a:solidFill>
                  <a:srgbClr val="1F2A37"/>
                </a:solidFill>
              </a:rPr>
              <a:t>: AI 기술의 신뢰성 및 정확성에 대한 우려, 사용자 맞춤형 서비스의 한계로 인한 이탈 가능성, 경쟁 서비스와의 차별화 필요</a:t>
            </a:r>
          </a:p>
          <a:p>
            <a:pPr>
              <a:spcAft>
                <a:spcPts val="400"/>
              </a:spcAft>
            </a:pPr>
            <a:r>
              <a:rPr sz="1500">
                <a:solidFill>
                  <a:srgbClr val="2B59C3"/>
                </a:solidFill>
              </a:rPr>
              <a:t>• </a:t>
            </a:r>
            <a:r>
              <a:rPr sz="1500" b="1">
                <a:solidFill>
                  <a:srgbClr val="1F2A37"/>
                </a:solidFill>
              </a:rPr>
              <a:t>기회</a:t>
            </a:r>
            <a:r>
              <a:rPr sz="1500" b="0">
                <a:solidFill>
                  <a:srgbClr val="1F2A37"/>
                </a:solidFill>
              </a:rPr>
              <a:t>: AI 기술 발전으로 서비스 품질 향상, 대학생들의 진로 설계 관심 증가, 대학 및 기관과의 협력을 통한 시장 확장</a:t>
            </a:r>
          </a:p>
          <a:p>
            <a:pPr>
              <a:spcAft>
                <a:spcPts val="400"/>
              </a:spcAft>
            </a:pPr>
            <a:r>
              <a:rPr sz="1500">
                <a:solidFill>
                  <a:srgbClr val="2B59C3"/>
                </a:solidFill>
              </a:rPr>
              <a:t>• </a:t>
            </a:r>
            <a:r>
              <a:rPr sz="1500" b="1">
                <a:solidFill>
                  <a:srgbClr val="1F2A37"/>
                </a:solidFill>
              </a:rPr>
              <a:t>위협</a:t>
            </a:r>
            <a:r>
              <a:rPr sz="1500" b="0">
                <a:solidFill>
                  <a:srgbClr val="1F2A37"/>
                </a:solidFill>
              </a:rPr>
              <a:t>: 경쟁 서비스의 증가로 인한 시장 포화, 농촌 지역의 연결 문제로 인한 접근성 제한, 개인의 요구를 충족하지 못할 경우 사용자 이탈</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제안 서비스</a:t>
            </a:r>
          </a:p>
        </p:txBody>
      </p:sp>
      <p:sp>
        <p:nvSpPr>
          <p:cNvPr id="3" name="TextBox 2"/>
          <p:cNvSpPr txBox="1"/>
          <p:nvPr/>
        </p:nvSpPr>
        <p:spPr>
          <a:xfrm>
            <a:off x="640080" y="1417320"/>
            <a:ext cx="10908792" cy="1271016"/>
          </a:xfrm>
          <a:prstGeom prst="rect">
            <a:avLst/>
          </a:prstGeom>
          <a:noFill/>
        </p:spPr>
        <p:txBody>
          <a:bodyPr wrap="square" anchor="t">
            <a:spAutoFit/>
          </a:bodyPr>
          <a:lstStyle/>
          <a:p>
            <a:pPr>
              <a:spcAft>
                <a:spcPts val="400"/>
              </a:spcAft>
            </a:pPr>
            <a:r>
              <a:rPr sz="1500" b="0">
                <a:solidFill>
                  <a:srgbClr val="1F2A37"/>
                </a:solidFill>
              </a:rPr>
              <a:t>본 서비스는 대학생들이 자신의 전공과 관심사에 맞는 진로 경로를 설계하고 필요한 학습 및 경험을 계획할 수 있도록 돕는 AI 기반의 진로 설계 플랫폼입니다. 사용자는 AI를 통해 개인 맞춤형 진로 상담을 받고, 경로 선택에 대한 자신감을 얻을 수 있습니다.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핵심 기능</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서비스는 사용자가 입력한 전공, 관심사, 역량을 기반으로 맞춤형 진로 경로를 제시하며, 필요한 학습 및 경험을 설계하는 기능을 포함합니다. 또한, 전문 상담사와의 1:1 온라인 상담 서비스도 연계하여 제공할 예정입니다.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차별성</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경쟁사와의 차별화된 점은 AI 기술을 활용한 초개인화된 진로 설계 기능을 제공하며, 다양한 데이터 소스를 통합하여 보다 정확한 진로 정보를 제공합니다. 또한, 전문 상담사와의 상담 서비스를 통해 사용자 맞춤형 솔루션을 제공합니다.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수익 모델</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본 서비스는 기본 서비스는 무료로 제공하되, 프리미엄 기능(심층 분석, 개인 맞춤형 상담 등)을 월 구독료로 제공하거나 일회성 과금 모델을 통해 수익을 창출할 수 있습니다. 추가적으로 제휴 프로그램과 광고 수익도 고려하고 있습니다.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기대효과</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본 서비스는 대학생들이 진로에 대한 불확실성을 해소하고 명확한 목표를 설정하는 데 기여할 것입니다. 또한, AI 기반의 개인 맞춤형 진로 상담을 통해 사용자 만족도를 높이고, 지속 가능한 서비스로 자리잡을 것으로 기대됩니다.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추진 계획</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서비스 개발은 단계별로 진행되며, 초기 단계에서는 프로토타입을 개발하고 사용자 피드백을 반영하여 개선할 계획입니다. 이후 마케팅 전략을 통해 사용자 기반을 확장하고, 지속적인 서비스 개선을 통해 시장에서의 경쟁력을 강화할 것입니다.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위험요인 및 대응방안</a:t>
            </a:r>
          </a:p>
        </p:txBody>
      </p:sp>
      <p:sp>
        <p:nvSpPr>
          <p:cNvPr id="3" name="TextBox 2"/>
          <p:cNvSpPr txBox="1"/>
          <p:nvPr/>
        </p:nvSpPr>
        <p:spPr>
          <a:xfrm>
            <a:off x="640080" y="1417320"/>
            <a:ext cx="10908792" cy="3246120"/>
          </a:xfrm>
          <a:prstGeom prst="rect">
            <a:avLst/>
          </a:prstGeom>
          <a:noFill/>
        </p:spPr>
        <p:txBody>
          <a:bodyPr wrap="square" anchor="t">
            <a:spAutoFit/>
          </a:bodyPr>
          <a:lstStyle/>
          <a:p>
            <a:pPr>
              <a:spcAft>
                <a:spcPts val="400"/>
              </a:spcAft>
            </a:pPr>
            <a:r>
              <a:rPr sz="1500">
                <a:solidFill>
                  <a:srgbClr val="2B59C3"/>
                </a:solidFill>
              </a:rPr>
              <a:t>• </a:t>
            </a:r>
            <a:r>
              <a:rPr sz="1500" b="1">
                <a:solidFill>
                  <a:srgbClr val="1F2A37"/>
                </a:solidFill>
              </a:rPr>
              <a:t>기술</a:t>
            </a:r>
            <a:r>
              <a:rPr sz="1500" b="0">
                <a:solidFill>
                  <a:srgbClr val="1F2A37"/>
                </a:solidFill>
              </a:rPr>
              <a:t>: AI 기술의 신뢰성 및 정확성에 대한 우려 (중, 중) → 지속적인 기술 개발과 사용자 교육을 통해 신뢰 구축</a:t>
            </a:r>
          </a:p>
          <a:p>
            <a:pPr>
              <a:spcAft>
                <a:spcPts val="400"/>
              </a:spcAft>
            </a:pPr>
            <a:r>
              <a:rPr sz="1500">
                <a:solidFill>
                  <a:srgbClr val="2B59C3"/>
                </a:solidFill>
              </a:rPr>
              <a:t>• </a:t>
            </a:r>
            <a:r>
              <a:rPr sz="1500" b="1">
                <a:solidFill>
                  <a:srgbClr val="1F2A37"/>
                </a:solidFill>
              </a:rPr>
              <a:t>시장</a:t>
            </a:r>
            <a:r>
              <a:rPr sz="1500" b="0">
                <a:solidFill>
                  <a:srgbClr val="1F2A37"/>
                </a:solidFill>
              </a:rPr>
              <a:t>: 개인의 요구와 기대를 충족하지 못할 경우 사용자 이탈 가능성 (중, 중) → 고객 피드백을 반영하여 서비스 품질 개선</a:t>
            </a:r>
          </a:p>
          <a:p>
            <a:pPr>
              <a:spcAft>
                <a:spcPts val="400"/>
              </a:spcAft>
            </a:pPr>
            <a:r>
              <a:rPr sz="1500">
                <a:solidFill>
                  <a:srgbClr val="2B59C3"/>
                </a:solidFill>
              </a:rPr>
              <a:t>• </a:t>
            </a:r>
            <a:r>
              <a:rPr sz="1500" b="1">
                <a:solidFill>
                  <a:srgbClr val="1F2A37"/>
                </a:solidFill>
              </a:rPr>
              <a:t>시장</a:t>
            </a:r>
            <a:r>
              <a:rPr sz="1500" b="0">
                <a:solidFill>
                  <a:srgbClr val="1F2A37"/>
                </a:solidFill>
              </a:rPr>
              <a:t>: 경쟁 서비스의 증가로 인한 시장 포화 (중, 중) → 차별화된 서비스 제공 및 마케팅 전략 강화</a:t>
            </a:r>
          </a:p>
          <a:p>
            <a:pPr>
              <a:spcAft>
                <a:spcPts val="400"/>
              </a:spcAft>
            </a:pPr>
            <a:r>
              <a:rPr sz="1500">
                <a:solidFill>
                  <a:srgbClr val="2B59C3"/>
                </a:solidFill>
              </a:rPr>
              <a:t>• </a:t>
            </a:r>
            <a:r>
              <a:rPr sz="1500" b="1">
                <a:solidFill>
                  <a:srgbClr val="1F2A37"/>
                </a:solidFill>
              </a:rPr>
              <a:t>법규</a:t>
            </a:r>
            <a:r>
              <a:rPr sz="1500" b="0">
                <a:solidFill>
                  <a:srgbClr val="1F2A37"/>
                </a:solidFill>
              </a:rPr>
              <a:t>: 개인정보 보호 및 데이터 사용 관련 법률 준수 필요 (중, 중) → 법률 자문을 통해 규제 변화에 신속 대응</a:t>
            </a:r>
          </a:p>
          <a:p>
            <a:pPr>
              <a:spcAft>
                <a:spcPts val="400"/>
              </a:spcAft>
            </a:pPr>
            <a:r>
              <a:rPr sz="1500">
                <a:solidFill>
                  <a:srgbClr val="2B59C3"/>
                </a:solidFill>
              </a:rPr>
              <a:t>• </a:t>
            </a:r>
            <a:r>
              <a:rPr sz="1500" b="1">
                <a:solidFill>
                  <a:srgbClr val="1F2A37"/>
                </a:solidFill>
              </a:rPr>
              <a:t>운영</a:t>
            </a:r>
            <a:r>
              <a:rPr sz="1500" b="0">
                <a:solidFill>
                  <a:srgbClr val="1F2A37"/>
                </a:solidFill>
              </a:rPr>
              <a:t>: 농촌 지역 사용자 채택 어려움 (중, 중) → 접근성 문제 해결을 위해 오프라인 서비스나 대안적 접근 방식 고려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참고자료</a:t>
            </a:r>
          </a:p>
        </p:txBody>
      </p:sp>
      <p:sp>
        <p:nvSpPr>
          <p:cNvPr id="3" name="TextBox 2"/>
          <p:cNvSpPr txBox="1"/>
          <p:nvPr/>
        </p:nvSpPr>
        <p:spPr>
          <a:xfrm>
            <a:off x="640080" y="1417320"/>
            <a:ext cx="10908792" cy="4343400"/>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Career Compass - AI 기반 진로 나침반 | 맞춤형 진로 상담 — https://career.restyart.com</a:t>
            </a:r>
          </a:p>
          <a:p>
            <a:pPr>
              <a:spcAft>
                <a:spcPts val="400"/>
              </a:spcAft>
            </a:pPr>
            <a:r>
              <a:rPr sz="1500">
                <a:solidFill>
                  <a:srgbClr val="2B59C3"/>
                </a:solidFill>
              </a:rPr>
              <a:t>• </a:t>
            </a:r>
            <a:r>
              <a:rPr sz="1500" b="0">
                <a:solidFill>
                  <a:srgbClr val="1F2A37"/>
                </a:solidFill>
              </a:rPr>
              <a:t>인공지능 기반 진로/진학 서비스 프로토타입 개발 연구 — http://journal.dcs.or.kr/xml/40124/40124.pdf</a:t>
            </a:r>
          </a:p>
          <a:p>
            <a:pPr>
              <a:spcAft>
                <a:spcPts val="400"/>
              </a:spcAft>
            </a:pPr>
            <a:r>
              <a:rPr sz="1500">
                <a:solidFill>
                  <a:srgbClr val="2B59C3"/>
                </a:solidFill>
              </a:rPr>
              <a:t>• </a:t>
            </a:r>
            <a:r>
              <a:rPr sz="1500" b="0">
                <a:solidFill>
                  <a:srgbClr val="1F2A37"/>
                </a:solidFill>
              </a:rPr>
              <a:t>AI기반 맞춤형 전공·진로 탐색 서비스 「Young熊+」 새롭게 선보여 &lt; DKU ISSUE &lt; CAMPUS NEWS &lt; 기사본문 - DKU WEBZINE — https://webzine.dankook.ac.kr/news/articleView.html?idxno=465</a:t>
            </a:r>
          </a:p>
          <a:p>
            <a:pPr>
              <a:spcAft>
                <a:spcPts val="400"/>
              </a:spcAft>
            </a:pPr>
            <a:r>
              <a:rPr sz="1500">
                <a:solidFill>
                  <a:srgbClr val="2B59C3"/>
                </a:solidFill>
              </a:rPr>
              <a:t>• </a:t>
            </a:r>
            <a:r>
              <a:rPr sz="1500" b="0">
                <a:solidFill>
                  <a:srgbClr val="1F2A37"/>
                </a:solidFill>
              </a:rPr>
              <a:t>대학생을 위한 AI 융합 진로교육 프로그램 개발 및 적용 — https://www.kci.go.kr/kciportal/ci/sereArticleSearch/ciSereArtiView.kci?sereArticleSearchBean.artiId=ART003215903</a:t>
            </a:r>
          </a:p>
          <a:p>
            <a:pPr>
              <a:spcAft>
                <a:spcPts val="400"/>
              </a:spcAft>
            </a:pPr>
            <a:r>
              <a:rPr sz="1500">
                <a:solidFill>
                  <a:srgbClr val="2B59C3"/>
                </a:solidFill>
              </a:rPr>
              <a:t>• </a:t>
            </a:r>
            <a:r>
              <a:rPr sz="1500" b="0">
                <a:solidFill>
                  <a:srgbClr val="1F2A37"/>
                </a:solidFill>
              </a:rPr>
              <a:t>머 리 말 — https://www.krivet.re.kr/repository/bitstream/202405/6905/2/A22322_fulltext.pdf</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참고자료 (계속)</a:t>
            </a:r>
          </a:p>
        </p:txBody>
      </p:sp>
      <p:sp>
        <p:nvSpPr>
          <p:cNvPr id="3" name="TextBox 2"/>
          <p:cNvSpPr txBox="1"/>
          <p:nvPr/>
        </p:nvSpPr>
        <p:spPr>
          <a:xfrm>
            <a:off x="640080" y="1417320"/>
            <a:ext cx="10908792" cy="3044952"/>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진로지도 플랫폼 시장 규모, 점유율 | 연구 [2035] — https://www.businessresearchinsights.com/ko/market-reports/career-guidance-platform-market-118217</a:t>
            </a:r>
          </a:p>
          <a:p>
            <a:pPr>
              <a:spcAft>
                <a:spcPts val="400"/>
              </a:spcAft>
            </a:pPr>
            <a:r>
              <a:rPr sz="1500">
                <a:solidFill>
                  <a:srgbClr val="2B59C3"/>
                </a:solidFill>
              </a:rPr>
              <a:t>• </a:t>
            </a:r>
            <a:r>
              <a:rPr sz="1500" b="0">
                <a:solidFill>
                  <a:srgbClr val="1F2A37"/>
                </a:solidFill>
              </a:rPr>
              <a:t>대학생 진로설계 및 취업 지원을 위한 미래진로 빅데이터 정보 시스템 설계 — https://www.kci.go.kr/kciportal/ci/sereArticleSearch/ciSereArtiView.kci?sereArticleSearchBean.artiId=ART002243258</a:t>
            </a:r>
          </a:p>
          <a:p>
            <a:pPr>
              <a:spcAft>
                <a:spcPts val="400"/>
              </a:spcAft>
            </a:pPr>
            <a:r>
              <a:rPr sz="1500">
                <a:solidFill>
                  <a:srgbClr val="2B59C3"/>
                </a:solidFill>
              </a:rPr>
              <a:t>• </a:t>
            </a:r>
            <a:r>
              <a:rPr sz="1500" b="0">
                <a:solidFill>
                  <a:srgbClr val="1F2A37"/>
                </a:solidFill>
              </a:rPr>
              <a:t>대학생의 진로역량 개발을 위한 교육 요구도 분석 — http://audio.dn.naver.com/audio/ncr/1378_1/20120808145539092_PE087AXGH.pdf</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AI 활용 로그</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AI 활용 로그</a:t>
            </a:r>
          </a:p>
        </p:txBody>
      </p:sp>
      <p:sp>
        <p:nvSpPr>
          <p:cNvPr id="3" name="TextBox 2"/>
          <p:cNvSpPr txBox="1"/>
          <p:nvPr/>
        </p:nvSpPr>
        <p:spPr>
          <a:xfrm>
            <a:off x="640080" y="1417320"/>
            <a:ext cx="10908792" cy="2350008"/>
          </a:xfrm>
          <a:prstGeom prst="rect">
            <a:avLst/>
          </a:prstGeom>
          <a:noFill/>
        </p:spPr>
        <p:txBody>
          <a:bodyPr wrap="square" anchor="t">
            <a:spAutoFit/>
          </a:bodyPr>
          <a:lstStyle/>
          <a:p>
            <a:pPr>
              <a:spcAft>
                <a:spcPts val="400"/>
              </a:spcAft>
            </a:pPr>
            <a:r>
              <a:rPr sz="1500" b="0">
                <a:solidFill>
                  <a:srgbClr val="1F2A37"/>
                </a:solidFill>
              </a:rPr>
              <a:t>&gt; KOSENA 요구(p4): AI 응답을 그대로 쓰지 않고 </a:t>
            </a:r>
            <a:r>
              <a:rPr sz="1500" b="1">
                <a:solidFill>
                  <a:srgbClr val="1F2A37"/>
                </a:solidFill>
              </a:rPr>
              <a:t>검증·수정·재구성</a:t>
            </a:r>
            <a:r>
              <a:rPr sz="1500" b="0">
                <a:solidFill>
                  <a:srgbClr val="1F2A37"/>
                </a:solidFill>
              </a:rPr>
              <a:t>한 과정을 프롬프트·응답·채택 여부로 남긴다.</a:t>
            </a:r>
          </a:p>
          <a:p>
            <a:pPr>
              <a:spcAft>
                <a:spcPts val="400"/>
              </a:spcAft>
            </a:pPr>
            <a:r>
              <a:rPr sz="1500" b="0">
                <a:solidFill>
                  <a:srgbClr val="1F2A37"/>
                </a:solidFill>
              </a:rPr>
              <a:t>&gt; 총 18건 · 채택 16 · 미채택 2 · 표준 5단 구조 프롬프트 4건</a:t>
            </a:r>
          </a:p>
          <a:p>
            <a:pPr>
              <a:spcAft>
                <a:spcPts val="400"/>
              </a:spcAft>
            </a:pPr>
            <a:r>
              <a:rPr sz="1500" b="0">
                <a:solidFill>
                  <a:srgbClr val="1F2A37"/>
                </a:solidFill>
              </a:rPr>
              <a:t>&gt; </a:t>
            </a:r>
            <a:r>
              <a:rPr sz="1500" b="1">
                <a:solidFill>
                  <a:srgbClr val="1F2A37"/>
                </a:solidFill>
              </a:rPr>
              <a:t>무엇을 남기고 무엇을 안 남기는가</a:t>
            </a:r>
            <a:r>
              <a:rPr sz="1500" b="0">
                <a:solidFill>
                  <a:srgbClr val="1F2A37"/>
                </a:solidFill>
              </a:rPr>
              <a:t>: system 프롬프트(코드로 버전 고정)·입력 목록·응답 산출물·검증 결과·채택 여부를 남긴다. </a:t>
            </a:r>
            <a:r>
              <a:rPr sz="1500" b="1">
                <a:solidFill>
                  <a:srgbClr val="1F2A37"/>
                </a:solidFill>
              </a:rPr>
              <a:t>user 프롬프트 원문은 남기지 않는다</a:t>
            </a:r>
            <a:r>
              <a:rPr sz="1500" b="0">
                <a:solidFill>
                  <a:srgbClr val="1F2A37"/>
                </a:solidFill>
              </a:rPr>
              <a:t> — 앞 단계 결과를 기계적으로 이어 붙인 것이라 입력 목록과 중복이고, 웹검색 스니펫이 그대로 실려 로그가 비대해지기 때문이다.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AI 활용 로그 (계속)</a:t>
            </a:r>
          </a:p>
        </p:txBody>
      </p:sp>
      <p:graphicFrame>
        <p:nvGraphicFramePr>
          <p:cNvPr id="3" name="Table 2"/>
          <p:cNvGraphicFramePr>
            <a:graphicFrameLocks noGrp="1"/>
          </p:cNvGraphicFramePr>
          <p:nvPr/>
        </p:nvGraphicFramePr>
        <p:xfrm>
          <a:off x="640080" y="1417320"/>
          <a:ext cx="10908792" cy="6391656"/>
        </p:xfrm>
        <a:graphic>
          <a:graphicData uri="http://schemas.openxmlformats.org/drawingml/2006/table">
            <a:tbl>
              <a:tblPr firstRow="1" bandRow="1">
                <a:tableStyleId>{5C22544A-7EE6-4342-B048-85BDC9FD1C3A}</a:tableStyleId>
              </a:tblPr>
              <a:tblGrid>
                <a:gridCol w="1363599"/>
                <a:gridCol w="1363599"/>
                <a:gridCol w="1363599"/>
                <a:gridCol w="1363599"/>
                <a:gridCol w="1363599"/>
                <a:gridCol w="1363599"/>
                <a:gridCol w="1363599"/>
                <a:gridCol w="1363599"/>
              </a:tblGrid>
              <a:tr h="336402">
                <a:tc>
                  <a:txBody>
                    <a:bodyPr/>
                    <a:lstStyle/>
                    <a:p>
                      <a:pPr algn="ctr"/>
                      <a:r>
                        <a:rPr sz="1100" b="1">
                          <a:solidFill>
                            <a:srgbClr val="FFFFFF"/>
                          </a:solidFill>
                        </a:rPr>
                        <a:t>Agent</a:t>
                      </a:r>
                    </a:p>
                  </a:txBody>
                  <a:tcPr>
                    <a:solidFill>
                      <a:srgbClr val="2B59C3"/>
                    </a:solidFill>
                  </a:tcPr>
                </a:tc>
                <a:tc>
                  <a:txBody>
                    <a:bodyPr/>
                    <a:lstStyle/>
                    <a:p>
                      <a:pPr algn="ctr"/>
                      <a:r>
                        <a:rPr sz="1100" b="1">
                          <a:solidFill>
                            <a:srgbClr val="FFFFFF"/>
                          </a:solidFill>
                        </a:rPr>
                        <a:t>역할</a:t>
                      </a:r>
                    </a:p>
                  </a:txBody>
                  <a:tcPr>
                    <a:solidFill>
                      <a:srgbClr val="2B59C3"/>
                    </a:solidFill>
                  </a:tcPr>
                </a:tc>
                <a:tc>
                  <a:txBody>
                    <a:bodyPr/>
                    <a:lstStyle/>
                    <a:p>
                      <a:pPr algn="ctr"/>
                      <a:r>
                        <a:rPr sz="1100" b="1">
                          <a:solidFill>
                            <a:srgbClr val="FFFFFF"/>
                          </a:solidFill>
                        </a:rPr>
                        <a:t>프롬프트(5단)</a:t>
                      </a:r>
                    </a:p>
                  </a:txBody>
                  <a:tcPr>
                    <a:solidFill>
                      <a:srgbClr val="2B59C3"/>
                    </a:solidFill>
                  </a:tcPr>
                </a:tc>
                <a:tc>
                  <a:txBody>
                    <a:bodyPr/>
                    <a:lstStyle/>
                    <a:p>
                      <a:pPr algn="ctr"/>
                      <a:r>
                        <a:rPr sz="1100" b="1">
                          <a:solidFill>
                            <a:srgbClr val="FFFFFF"/>
                          </a:solidFill>
                        </a:rPr>
                        <a:t>입력</a:t>
                      </a:r>
                    </a:p>
                  </a:txBody>
                  <a:tcPr>
                    <a:solidFill>
                      <a:srgbClr val="2B59C3"/>
                    </a:solidFill>
                  </a:tcPr>
                </a:tc>
                <a:tc>
                  <a:txBody>
                    <a:bodyPr/>
                    <a:lstStyle/>
                    <a:p>
                      <a:pPr algn="ctr"/>
                      <a:r>
                        <a:rPr sz="1100" b="1">
                          <a:solidFill>
                            <a:srgbClr val="FFFFFF"/>
                          </a:solidFill>
                        </a:rPr>
                        <a:t>산출</a:t>
                      </a:r>
                    </a:p>
                  </a:txBody>
                  <a:tcPr>
                    <a:solidFill>
                      <a:srgbClr val="2B59C3"/>
                    </a:solidFill>
                  </a:tcPr>
                </a:tc>
                <a:tc>
                  <a:txBody>
                    <a:bodyPr/>
                    <a:lstStyle/>
                    <a:p>
                      <a:pPr algn="ctr"/>
                      <a:r>
                        <a:rPr sz="1100" b="1">
                          <a:solidFill>
                            <a:srgbClr val="FFFFFF"/>
                          </a:solidFill>
                        </a:rPr>
                        <a:t>상태</a:t>
                      </a:r>
                    </a:p>
                  </a:txBody>
                  <a:tcPr>
                    <a:solidFill>
                      <a:srgbClr val="2B59C3"/>
                    </a:solidFill>
                  </a:tcPr>
                </a:tc>
                <a:tc>
                  <a:txBody>
                    <a:bodyPr/>
                    <a:lstStyle/>
                    <a:p>
                      <a:pPr algn="ctr"/>
                      <a:r>
                        <a:rPr sz="1100" b="1">
                          <a:solidFill>
                            <a:srgbClr val="FFFFFF"/>
                          </a:solidFill>
                        </a:rPr>
                        <a:t>채택</a:t>
                      </a:r>
                    </a:p>
                  </a:txBody>
                  <a:tcPr>
                    <a:solidFill>
                      <a:srgbClr val="2B59C3"/>
                    </a:solidFill>
                  </a:tcPr>
                </a:tc>
                <a:tc>
                  <a:txBody>
                    <a:bodyPr/>
                    <a:lstStyle/>
                    <a:p>
                      <a:pPr algn="ctr"/>
                      <a:r>
                        <a:rPr sz="1100" b="1">
                          <a:solidFill>
                            <a:srgbClr val="FFFFFF"/>
                          </a:solidFill>
                        </a:rPr>
                        <a:t>비고</a:t>
                      </a:r>
                    </a:p>
                  </a:txBody>
                  <a:tcPr>
                    <a:solidFill>
                      <a:srgbClr val="2B59C3"/>
                    </a:solidFill>
                  </a:tcPr>
                </a:tc>
              </a:tr>
              <a:tr h="336402">
                <a:tc>
                  <a:txBody>
                    <a:bodyPr/>
                    <a:lstStyle/>
                    <a:p>
                      <a:r>
                        <a:rPr sz="1100" b="0">
                          <a:solidFill>
                            <a:srgbClr val="1F2A37"/>
                          </a:solidFill>
                        </a:rPr>
                        <a:t>`research`</a:t>
                      </a:r>
                    </a:p>
                  </a:txBody>
                  <a:tcPr>
                    <a:solidFill>
                      <a:srgbClr val="FFFFFF"/>
                    </a:solidFill>
                  </a:tcPr>
                </a:tc>
                <a:tc>
                  <a:txBody>
                    <a:bodyPr/>
                    <a:lstStyle/>
                    <a:p>
                      <a:r>
                        <a:rPr sz="1100" b="0">
                          <a:solidFill>
                            <a:srgbClr val="1F2A37"/>
                          </a:solidFill>
                        </a:rPr>
                        <a:t>research_analysis 담당</a:t>
                      </a:r>
                    </a:p>
                  </a:txBody>
                  <a:tcPr>
                    <a:solidFill>
                      <a:srgbClr val="FFFFFF"/>
                    </a:solidFill>
                  </a:tcPr>
                </a:tc>
                <a:tc>
                  <a:txBody>
                    <a:bodyPr/>
                    <a:lstStyle/>
                    <a:p>
                      <a:r>
                        <a:rPr sz="1100" b="0">
                          <a:solidFill>
                            <a:srgbClr val="1F2A37"/>
                          </a:solidFill>
                        </a:rPr>
                        <a:t>`RESEARCH_SYSTEM` —</a:t>
                      </a:r>
                    </a:p>
                  </a:txBody>
                  <a:tcPr>
                    <a:solidFill>
                      <a:srgbClr val="FFFFFF"/>
                    </a:solidFill>
                  </a:tcPr>
                </a:tc>
                <a:tc>
                  <a:txBody>
                    <a:bodyPr/>
                    <a:lstStyle/>
                    <a:p>
                      <a:r>
                        <a:rPr sz="1100" b="0">
                          <a:solidFill>
                            <a:srgbClr val="1F2A37"/>
                          </a:solidFill>
                        </a:rPr>
                        <a:t>structured_input, web_search</a:t>
                      </a:r>
                    </a:p>
                  </a:txBody>
                  <a:tcPr>
                    <a:solidFill>
                      <a:srgbClr val="FFFFFF"/>
                    </a:solidFill>
                  </a:tcPr>
                </a:tc>
                <a:tc>
                  <a:txBody>
                    <a:bodyPr/>
                    <a:lstStyle/>
                    <a:p>
                      <a:r>
                        <a:rPr sz="1100" b="0">
                          <a:solidFill>
                            <a:srgbClr val="1F2A37"/>
                          </a:solidFill>
                        </a:rPr>
                        <a:t>research_analysis</a:t>
                      </a:r>
                    </a:p>
                  </a:txBody>
                  <a:tcPr>
                    <a:solidFill>
                      <a:srgbClr val="FFFFFF"/>
                    </a:solidFill>
                  </a:tcPr>
                </a:tc>
                <a:tc>
                  <a:txBody>
                    <a:bodyPr/>
                    <a:lstStyle/>
                    <a:p>
                      <a:r>
                        <a:rPr sz="1100" b="0">
                          <a:solidFill>
                            <a:srgbClr val="1F2A37"/>
                          </a:solidFill>
                        </a:rPr>
                        <a:t>complete</a:t>
                      </a:r>
                    </a:p>
                  </a:txBody>
                  <a:tcPr>
                    <a:solidFill>
                      <a:srgbClr val="FFFFFF"/>
                    </a:solidFill>
                  </a:tcPr>
                </a:tc>
                <a:tc>
                  <a:txBody>
                    <a:bodyPr/>
                    <a:lstStyle/>
                    <a:p>
                      <a:r>
                        <a:rPr sz="1100" b="0">
                          <a:solidFill>
                            <a:srgbClr val="1F2A37"/>
                          </a:solidFill>
                        </a:rPr>
                        <a:t>채택</a:t>
                      </a:r>
                    </a:p>
                  </a:txBody>
                  <a:tcPr>
                    <a:solidFill>
                      <a:srgbClr val="FFFFFF"/>
                    </a:solidFill>
                  </a:tcPr>
                </a:tc>
                <a:tc>
                  <a:txBody>
                    <a:bodyPr/>
                    <a:lstStyle/>
                    <a:p/>
                  </a:txBody>
                  <a:tcPr>
                    <a:solidFill>
                      <a:srgbClr val="FFFFFF"/>
                    </a:solidFill>
                  </a:tcPr>
                </a:tc>
              </a:tr>
              <a:tr h="336402">
                <a:tc>
                  <a:txBody>
                    <a:bodyPr/>
                    <a:lstStyle/>
                    <a:p>
                      <a:r>
                        <a:rPr sz="1100" b="0">
                          <a:solidFill>
                            <a:srgbClr val="1F2A37"/>
                          </a:solidFill>
                        </a:rPr>
                        <a:t>`competitor`</a:t>
                      </a:r>
                    </a:p>
                  </a:txBody>
                  <a:tcPr>
                    <a:solidFill>
                      <a:srgbClr val="EEF2FB"/>
                    </a:solidFill>
                  </a:tcPr>
                </a:tc>
                <a:tc>
                  <a:txBody>
                    <a:bodyPr/>
                    <a:lstStyle/>
                    <a:p>
                      <a:r>
                        <a:rPr sz="1100" b="0">
                          <a:solidFill>
                            <a:srgbClr val="1F2A37"/>
                          </a:solidFill>
                        </a:rPr>
                        <a:t>competitor_analysis 담당</a:t>
                      </a:r>
                    </a:p>
                  </a:txBody>
                  <a:tcPr>
                    <a:solidFill>
                      <a:srgbClr val="EEF2FB"/>
                    </a:solidFill>
                  </a:tcPr>
                </a:tc>
                <a:tc>
                  <a:txBody>
                    <a:bodyPr/>
                    <a:lstStyle/>
                    <a:p>
                      <a:r>
                        <a:rPr sz="1100" b="0">
                          <a:solidFill>
                            <a:srgbClr val="1F2A37"/>
                          </a:solidFill>
                        </a:rPr>
                        <a:t>`COMPETITOR_SYSTEM` —</a:t>
                      </a:r>
                    </a:p>
                  </a:txBody>
                  <a:tcPr>
                    <a:solidFill>
                      <a:srgbClr val="EEF2FB"/>
                    </a:solidFill>
                  </a:tcPr>
                </a:tc>
                <a:tc>
                  <a:txBody>
                    <a:bodyPr/>
                    <a:lstStyle/>
                    <a:p>
                      <a:r>
                        <a:rPr sz="1100" b="0">
                          <a:solidFill>
                            <a:srgbClr val="1F2A37"/>
                          </a:solidFill>
                        </a:rPr>
                        <a:t>research_analysis</a:t>
                      </a:r>
                    </a:p>
                  </a:txBody>
                  <a:tcPr>
                    <a:solidFill>
                      <a:srgbClr val="EEF2FB"/>
                    </a:solidFill>
                  </a:tcPr>
                </a:tc>
                <a:tc>
                  <a:txBody>
                    <a:bodyPr/>
                    <a:lstStyle/>
                    <a:p>
                      <a:r>
                        <a:rPr sz="1100" b="0">
                          <a:solidFill>
                            <a:srgbClr val="1F2A37"/>
                          </a:solidFill>
                        </a:rPr>
                        <a:t>competitor_analysis</a:t>
                      </a:r>
                    </a:p>
                  </a:txBody>
                  <a:tcPr>
                    <a:solidFill>
                      <a:srgbClr val="EEF2FB"/>
                    </a:solidFill>
                  </a:tcPr>
                </a:tc>
                <a:tc>
                  <a:txBody>
                    <a:bodyPr/>
                    <a:lstStyle/>
                    <a:p>
                      <a:r>
                        <a:rPr sz="1100" b="0">
                          <a:solidFill>
                            <a:srgbClr val="1F2A37"/>
                          </a:solidFill>
                        </a:rPr>
                        <a:t>complete</a:t>
                      </a:r>
                    </a:p>
                  </a:txBody>
                  <a:tcPr>
                    <a:solidFill>
                      <a:srgbClr val="EEF2FB"/>
                    </a:solidFill>
                  </a:tcPr>
                </a:tc>
                <a:tc>
                  <a:txBody>
                    <a:bodyPr/>
                    <a:lstStyle/>
                    <a:p>
                      <a:r>
                        <a:rPr sz="1100" b="0">
                          <a:solidFill>
                            <a:srgbClr val="1F2A37"/>
                          </a:solidFill>
                        </a:rPr>
                        <a:t>채택</a:t>
                      </a:r>
                    </a:p>
                  </a:txBody>
                  <a:tcPr>
                    <a:solidFill>
                      <a:srgbClr val="EEF2FB"/>
                    </a:solidFill>
                  </a:tcPr>
                </a:tc>
                <a:tc>
                  <a:txBody>
                    <a:bodyPr/>
                    <a:lstStyle/>
                    <a:p/>
                  </a:txBody>
                  <a:tcPr>
                    <a:solidFill>
                      <a:srgbClr val="EEF2FB"/>
                    </a:solidFill>
                  </a:tcPr>
                </a:tc>
              </a:tr>
              <a:tr h="336402">
                <a:tc>
                  <a:txBody>
                    <a:bodyPr/>
                    <a:lstStyle/>
                    <a:p>
                      <a:r>
                        <a:rPr sz="1100" b="0">
                          <a:solidFill>
                            <a:srgbClr val="1F2A37"/>
                          </a:solidFill>
                        </a:rPr>
                        <a:t>`customer`</a:t>
                      </a:r>
                    </a:p>
                  </a:txBody>
                  <a:tcPr>
                    <a:solidFill>
                      <a:srgbClr val="FFFFFF"/>
                    </a:solidFill>
                  </a:tcPr>
                </a:tc>
                <a:tc>
                  <a:txBody>
                    <a:bodyPr/>
                    <a:lstStyle/>
                    <a:p>
                      <a:r>
                        <a:rPr sz="1100" b="0">
                          <a:solidFill>
                            <a:srgbClr val="1F2A37"/>
                          </a:solidFill>
                        </a:rPr>
                        <a:t>customer_analysis 담당</a:t>
                      </a:r>
                    </a:p>
                  </a:txBody>
                  <a:tcPr>
                    <a:solidFill>
                      <a:srgbClr val="FFFFFF"/>
                    </a:solidFill>
                  </a:tcPr>
                </a:tc>
                <a:tc>
                  <a:txBody>
                    <a:bodyPr/>
                    <a:lstStyle/>
                    <a:p>
                      <a:r>
                        <a:rPr sz="1100" b="0">
                          <a:solidFill>
                            <a:srgbClr val="1F2A37"/>
                          </a:solidFill>
                        </a:rPr>
                        <a:t>`CUSTOMER_SYSTEM` —</a:t>
                      </a:r>
                    </a:p>
                  </a:txBody>
                  <a:tcPr>
                    <a:solidFill>
                      <a:srgbClr val="FFFFFF"/>
                    </a:solidFill>
                  </a:tcPr>
                </a:tc>
                <a:tc>
                  <a:txBody>
                    <a:bodyPr/>
                    <a:lstStyle/>
                    <a:p>
                      <a:r>
                        <a:rPr sz="1100" b="0">
                          <a:solidFill>
                            <a:srgbClr val="1F2A37"/>
                          </a:solidFill>
                        </a:rPr>
                        <a:t>research_analysis</a:t>
                      </a:r>
                    </a:p>
                  </a:txBody>
                  <a:tcPr>
                    <a:solidFill>
                      <a:srgbClr val="FFFFFF"/>
                    </a:solidFill>
                  </a:tcPr>
                </a:tc>
                <a:tc>
                  <a:txBody>
                    <a:bodyPr/>
                    <a:lstStyle/>
                    <a:p>
                      <a:r>
                        <a:rPr sz="1100" b="0">
                          <a:solidFill>
                            <a:srgbClr val="1F2A37"/>
                          </a:solidFill>
                        </a:rPr>
                        <a:t>customer_analysis</a:t>
                      </a:r>
                    </a:p>
                  </a:txBody>
                  <a:tcPr>
                    <a:solidFill>
                      <a:srgbClr val="FFFFFF"/>
                    </a:solidFill>
                  </a:tcPr>
                </a:tc>
                <a:tc>
                  <a:txBody>
                    <a:bodyPr/>
                    <a:lstStyle/>
                    <a:p>
                      <a:r>
                        <a:rPr sz="1100" b="0">
                          <a:solidFill>
                            <a:srgbClr val="1F2A37"/>
                          </a:solidFill>
                        </a:rPr>
                        <a:t>complete</a:t>
                      </a:r>
                    </a:p>
                  </a:txBody>
                  <a:tcPr>
                    <a:solidFill>
                      <a:srgbClr val="FFFFFF"/>
                    </a:solidFill>
                  </a:tcPr>
                </a:tc>
                <a:tc>
                  <a:txBody>
                    <a:bodyPr/>
                    <a:lstStyle/>
                    <a:p>
                      <a:r>
                        <a:rPr sz="1100" b="0">
                          <a:solidFill>
                            <a:srgbClr val="1F2A37"/>
                          </a:solidFill>
                        </a:rPr>
                        <a:t>채택</a:t>
                      </a:r>
                    </a:p>
                  </a:txBody>
                  <a:tcPr>
                    <a:solidFill>
                      <a:srgbClr val="FFFFFF"/>
                    </a:solidFill>
                  </a:tcPr>
                </a:tc>
                <a:tc>
                  <a:txBody>
                    <a:bodyPr/>
                    <a:lstStyle/>
                    <a:p/>
                  </a:txBody>
                  <a:tcPr>
                    <a:solidFill>
                      <a:srgbClr val="FFFFFF"/>
                    </a:solidFill>
                  </a:tcPr>
                </a:tc>
              </a:tr>
              <a:tr h="336402">
                <a:tc>
                  <a:txBody>
                    <a:bodyPr/>
                    <a:lstStyle/>
                    <a:p>
                      <a:r>
                        <a:rPr sz="1100" b="0">
                          <a:solidFill>
                            <a:srgbClr val="1F2A37"/>
                          </a:solidFill>
                        </a:rPr>
                        <a:t>`pestel`</a:t>
                      </a:r>
                    </a:p>
                  </a:txBody>
                  <a:tcPr>
                    <a:solidFill>
                      <a:srgbClr val="EEF2FB"/>
                    </a:solidFill>
                  </a:tcPr>
                </a:tc>
                <a:tc>
                  <a:txBody>
                    <a:bodyPr/>
                    <a:lstStyle/>
                    <a:p>
                      <a:r>
                        <a:rPr sz="1100" b="0">
                          <a:solidFill>
                            <a:srgbClr val="1F2A37"/>
                          </a:solidFill>
                        </a:rPr>
                        <a:t>pestel_analysis 담당</a:t>
                      </a:r>
                    </a:p>
                  </a:txBody>
                  <a:tcPr>
                    <a:solidFill>
                      <a:srgbClr val="EEF2FB"/>
                    </a:solidFill>
                  </a:tcPr>
                </a:tc>
                <a:tc>
                  <a:txBody>
                    <a:bodyPr/>
                    <a:lstStyle/>
                    <a:p>
                      <a:r>
                        <a:rPr sz="1100" b="0">
                          <a:solidFill>
                            <a:srgbClr val="1F2A37"/>
                          </a:solidFill>
                        </a:rPr>
                        <a:t>`PESTEL_SYSTEM` —</a:t>
                      </a:r>
                    </a:p>
                  </a:txBody>
                  <a:tcPr>
                    <a:solidFill>
                      <a:srgbClr val="EEF2FB"/>
                    </a:solidFill>
                  </a:tcPr>
                </a:tc>
                <a:tc>
                  <a:txBody>
                    <a:bodyPr/>
                    <a:lstStyle/>
                    <a:p>
                      <a:r>
                        <a:rPr sz="1100" b="0">
                          <a:solidFill>
                            <a:srgbClr val="1F2A37"/>
                          </a:solidFill>
                        </a:rPr>
                        <a:t>research_analysis</a:t>
                      </a:r>
                    </a:p>
                  </a:txBody>
                  <a:tcPr>
                    <a:solidFill>
                      <a:srgbClr val="EEF2FB"/>
                    </a:solidFill>
                  </a:tcPr>
                </a:tc>
                <a:tc>
                  <a:txBody>
                    <a:bodyPr/>
                    <a:lstStyle/>
                    <a:p>
                      <a:r>
                        <a:rPr sz="1100" b="0">
                          <a:solidFill>
                            <a:srgbClr val="1F2A37"/>
                          </a:solidFill>
                        </a:rPr>
                        <a:t>pestel_analysis</a:t>
                      </a:r>
                    </a:p>
                  </a:txBody>
                  <a:tcPr>
                    <a:solidFill>
                      <a:srgbClr val="EEF2FB"/>
                    </a:solidFill>
                  </a:tcPr>
                </a:tc>
                <a:tc>
                  <a:txBody>
                    <a:bodyPr/>
                    <a:lstStyle/>
                    <a:p>
                      <a:r>
                        <a:rPr sz="1100" b="0">
                          <a:solidFill>
                            <a:srgbClr val="1F2A37"/>
                          </a:solidFill>
                        </a:rPr>
                        <a:t>complete</a:t>
                      </a:r>
                    </a:p>
                  </a:txBody>
                  <a:tcPr>
                    <a:solidFill>
                      <a:srgbClr val="EEF2FB"/>
                    </a:solidFill>
                  </a:tcPr>
                </a:tc>
                <a:tc>
                  <a:txBody>
                    <a:bodyPr/>
                    <a:lstStyle/>
                    <a:p>
                      <a:r>
                        <a:rPr sz="1100" b="0">
                          <a:solidFill>
                            <a:srgbClr val="1F2A37"/>
                          </a:solidFill>
                        </a:rPr>
                        <a:t>채택</a:t>
                      </a:r>
                    </a:p>
                  </a:txBody>
                  <a:tcPr>
                    <a:solidFill>
                      <a:srgbClr val="EEF2FB"/>
                    </a:solidFill>
                  </a:tcPr>
                </a:tc>
                <a:tc>
                  <a:txBody>
                    <a:bodyPr/>
                    <a:lstStyle/>
                    <a:p/>
                  </a:txBody>
                  <a:tcPr>
                    <a:solidFill>
                      <a:srgbClr val="EEF2FB"/>
                    </a:solidFill>
                  </a:tcPr>
                </a:tc>
              </a:tr>
              <a:tr h="336402">
                <a:tc>
                  <a:txBody>
                    <a:bodyPr/>
                    <a:lstStyle/>
                    <a:p>
                      <a:r>
                        <a:rPr sz="1100" b="0">
                          <a:solidFill>
                            <a:srgbClr val="1F2A37"/>
                          </a:solidFill>
                        </a:rPr>
                        <a:t>`swot`</a:t>
                      </a:r>
                    </a:p>
                  </a:txBody>
                  <a:tcPr>
                    <a:solidFill>
                      <a:srgbClr val="FFFFFF"/>
                    </a:solidFill>
                  </a:tcPr>
                </a:tc>
                <a:tc>
                  <a:txBody>
                    <a:bodyPr/>
                    <a:lstStyle/>
                    <a:p>
                      <a:r>
                        <a:rPr sz="1100" b="0">
                          <a:solidFill>
                            <a:srgbClr val="1F2A37"/>
                          </a:solidFill>
                        </a:rPr>
                        <a:t>swot_analysis 담당</a:t>
                      </a:r>
                    </a:p>
                  </a:txBody>
                  <a:tcPr>
                    <a:solidFill>
                      <a:srgbClr val="FFFFFF"/>
                    </a:solidFill>
                  </a:tcPr>
                </a:tc>
                <a:tc>
                  <a:txBody>
                    <a:bodyPr/>
                    <a:lstStyle/>
                    <a:p>
                      <a:r>
                        <a:rPr sz="1100" b="0">
                          <a:solidFill>
                            <a:srgbClr val="1F2A37"/>
                          </a:solidFill>
                        </a:rPr>
                        <a:t>`SWOT_SYSTEM` —</a:t>
                      </a:r>
                    </a:p>
                  </a:txBody>
                  <a:tcPr>
                    <a:solidFill>
                      <a:srgbClr val="FFFFFF"/>
                    </a:solidFill>
                  </a:tcPr>
                </a:tc>
                <a:tc>
                  <a:txBody>
                    <a:bodyPr/>
                    <a:lstStyle/>
                    <a:p>
                      <a:r>
                        <a:rPr sz="1100" b="0">
                          <a:solidFill>
                            <a:srgbClr val="1F2A37"/>
                          </a:solidFill>
                        </a:rPr>
                        <a:t>research_analysis, competitor_analysis</a:t>
                      </a:r>
                    </a:p>
                  </a:txBody>
                  <a:tcPr>
                    <a:solidFill>
                      <a:srgbClr val="FFFFFF"/>
                    </a:solidFill>
                  </a:tcPr>
                </a:tc>
                <a:tc>
                  <a:txBody>
                    <a:bodyPr/>
                    <a:lstStyle/>
                    <a:p>
                      <a:r>
                        <a:rPr sz="1100" b="0">
                          <a:solidFill>
                            <a:srgbClr val="1F2A37"/>
                          </a:solidFill>
                        </a:rPr>
                        <a:t>swot_analysis</a:t>
                      </a:r>
                    </a:p>
                  </a:txBody>
                  <a:tcPr>
                    <a:solidFill>
                      <a:srgbClr val="FFFFFF"/>
                    </a:solidFill>
                  </a:tcPr>
                </a:tc>
                <a:tc>
                  <a:txBody>
                    <a:bodyPr/>
                    <a:lstStyle/>
                    <a:p>
                      <a:r>
                        <a:rPr sz="1100" b="0">
                          <a:solidFill>
                            <a:srgbClr val="1F2A37"/>
                          </a:solidFill>
                        </a:rPr>
                        <a:t>complete</a:t>
                      </a:r>
                    </a:p>
                  </a:txBody>
                  <a:tcPr>
                    <a:solidFill>
                      <a:srgbClr val="FFFFFF"/>
                    </a:solidFill>
                  </a:tcPr>
                </a:tc>
                <a:tc>
                  <a:txBody>
                    <a:bodyPr/>
                    <a:lstStyle/>
                    <a:p>
                      <a:r>
                        <a:rPr sz="1100" b="0">
                          <a:solidFill>
                            <a:srgbClr val="1F2A37"/>
                          </a:solidFill>
                        </a:rPr>
                        <a:t>채택</a:t>
                      </a:r>
                    </a:p>
                  </a:txBody>
                  <a:tcPr>
                    <a:solidFill>
                      <a:srgbClr val="FFFFFF"/>
                    </a:solidFill>
                  </a:tcPr>
                </a:tc>
                <a:tc>
                  <a:txBody>
                    <a:bodyPr/>
                    <a:lstStyle/>
                    <a:p/>
                  </a:txBody>
                  <a:tcPr>
                    <a:solidFill>
                      <a:srgbClr val="FFFFFF"/>
                    </a:solidFill>
                  </a:tcPr>
                </a:tc>
              </a:tr>
              <a:tr h="336402">
                <a:tc>
                  <a:txBody>
                    <a:bodyPr/>
                    <a:lstStyle/>
                    <a:p>
                      <a:r>
                        <a:rPr sz="1100" b="0">
                          <a:solidFill>
                            <a:srgbClr val="1F2A37"/>
                          </a:solidFill>
                        </a:rPr>
                        <a:t>`business_model`</a:t>
                      </a:r>
                    </a:p>
                  </a:txBody>
                  <a:tcPr>
                    <a:solidFill>
                      <a:srgbClr val="EEF2FB"/>
                    </a:solidFill>
                  </a:tcPr>
                </a:tc>
                <a:tc>
                  <a:txBody>
                    <a:bodyPr/>
                    <a:lstStyle/>
                    <a:p>
                      <a:r>
                        <a:rPr sz="1100" b="0">
                          <a:solidFill>
                            <a:srgbClr val="1F2A37"/>
                          </a:solidFill>
                        </a:rPr>
                        <a:t>business_model_analysis 담당</a:t>
                      </a:r>
                    </a:p>
                  </a:txBody>
                  <a:tcPr>
                    <a:solidFill>
                      <a:srgbClr val="EEF2FB"/>
                    </a:solidFill>
                  </a:tcPr>
                </a:tc>
                <a:tc>
                  <a:txBody>
                    <a:bodyPr/>
                    <a:lstStyle/>
                    <a:p>
                      <a:r>
                        <a:rPr sz="1100" b="0">
                          <a:solidFill>
                            <a:srgbClr val="1F2A37"/>
                          </a:solidFill>
                        </a:rPr>
                        <a:t>`BIZMODEL_SYSTEM` —</a:t>
                      </a:r>
                    </a:p>
                  </a:txBody>
                  <a:tcPr>
                    <a:solidFill>
                      <a:srgbClr val="EEF2FB"/>
                    </a:solidFill>
                  </a:tcPr>
                </a:tc>
                <a:tc>
                  <a:txBody>
                    <a:bodyPr/>
                    <a:lstStyle/>
                    <a:p>
                      <a:r>
                        <a:rPr sz="1100" b="0">
                          <a:solidFill>
                            <a:srgbClr val="1F2A37"/>
                          </a:solidFill>
                        </a:rPr>
                        <a:t>research_analysis</a:t>
                      </a:r>
                    </a:p>
                  </a:txBody>
                  <a:tcPr>
                    <a:solidFill>
                      <a:srgbClr val="EEF2FB"/>
                    </a:solidFill>
                  </a:tcPr>
                </a:tc>
                <a:tc>
                  <a:txBody>
                    <a:bodyPr/>
                    <a:lstStyle/>
                    <a:p>
                      <a:r>
                        <a:rPr sz="1100" b="0">
                          <a:solidFill>
                            <a:srgbClr val="1F2A37"/>
                          </a:solidFill>
                        </a:rPr>
                        <a:t>business_model_analysis</a:t>
                      </a:r>
                    </a:p>
                  </a:txBody>
                  <a:tcPr>
                    <a:solidFill>
                      <a:srgbClr val="EEF2FB"/>
                    </a:solidFill>
                  </a:tcPr>
                </a:tc>
                <a:tc>
                  <a:txBody>
                    <a:bodyPr/>
                    <a:lstStyle/>
                    <a:p>
                      <a:r>
                        <a:rPr sz="1100" b="0">
                          <a:solidFill>
                            <a:srgbClr val="1F2A37"/>
                          </a:solidFill>
                        </a:rPr>
                        <a:t>complete</a:t>
                      </a:r>
                    </a:p>
                  </a:txBody>
                  <a:tcPr>
                    <a:solidFill>
                      <a:srgbClr val="EEF2FB"/>
                    </a:solidFill>
                  </a:tcPr>
                </a:tc>
                <a:tc>
                  <a:txBody>
                    <a:bodyPr/>
                    <a:lstStyle/>
                    <a:p>
                      <a:r>
                        <a:rPr sz="1100" b="0">
                          <a:solidFill>
                            <a:srgbClr val="1F2A37"/>
                          </a:solidFill>
                        </a:rPr>
                        <a:t>채택</a:t>
                      </a:r>
                    </a:p>
                  </a:txBody>
                  <a:tcPr>
                    <a:solidFill>
                      <a:srgbClr val="EEF2FB"/>
                    </a:solidFill>
                  </a:tcPr>
                </a:tc>
                <a:tc>
                  <a:txBody>
                    <a:bodyPr/>
                    <a:lstStyle/>
                    <a:p/>
                  </a:txBody>
                  <a:tcPr>
                    <a:solidFill>
                      <a:srgbClr val="EEF2FB"/>
                    </a:solidFill>
                  </a:tcPr>
                </a:tc>
              </a:tr>
              <a:tr h="336402">
                <a:tc>
                  <a:txBody>
                    <a:bodyPr/>
                    <a:lstStyle/>
                    <a:p>
                      <a:r>
                        <a:rPr sz="1100" b="0">
                          <a:solidFill>
                            <a:srgbClr val="1F2A37"/>
                          </a:solidFill>
                        </a:rPr>
                        <a:t>`risk`</a:t>
                      </a:r>
                    </a:p>
                  </a:txBody>
                  <a:tcPr>
                    <a:solidFill>
                      <a:srgbClr val="FFFFFF"/>
                    </a:solidFill>
                  </a:tcPr>
                </a:tc>
                <a:tc>
                  <a:txBody>
                    <a:bodyPr/>
                    <a:lstStyle/>
                    <a:p>
                      <a:r>
                        <a:rPr sz="1100" b="0">
                          <a:solidFill>
                            <a:srgbClr val="1F2A37"/>
                          </a:solidFill>
                        </a:rPr>
                        <a:t>risk_analysis 담당</a:t>
                      </a:r>
                    </a:p>
                  </a:txBody>
                  <a:tcPr>
                    <a:solidFill>
                      <a:srgbClr val="FFFFFF"/>
                    </a:solidFill>
                  </a:tcPr>
                </a:tc>
                <a:tc>
                  <a:txBody>
                    <a:bodyPr/>
                    <a:lstStyle/>
                    <a:p>
                      <a:r>
                        <a:rPr sz="1100" b="0">
                          <a:solidFill>
                            <a:srgbClr val="1F2A37"/>
                          </a:solidFill>
                        </a:rPr>
                        <a:t>`RISK_SYSTEM` —</a:t>
                      </a:r>
                    </a:p>
                  </a:txBody>
                  <a:tcPr>
                    <a:solidFill>
                      <a:srgbClr val="FFFFFF"/>
                    </a:solidFill>
                  </a:tcPr>
                </a:tc>
                <a:tc>
                  <a:txBody>
                    <a:bodyPr/>
                    <a:lstStyle/>
                    <a:p>
                      <a:r>
                        <a:rPr sz="1100" b="0">
                          <a:solidFill>
                            <a:srgbClr val="1F2A37"/>
                          </a:solidFill>
                        </a:rPr>
                        <a:t>research_analysis, pestel_analysis</a:t>
                      </a:r>
                    </a:p>
                  </a:txBody>
                  <a:tcPr>
                    <a:solidFill>
                      <a:srgbClr val="FFFFFF"/>
                    </a:solidFill>
                  </a:tcPr>
                </a:tc>
                <a:tc>
                  <a:txBody>
                    <a:bodyPr/>
                    <a:lstStyle/>
                    <a:p>
                      <a:r>
                        <a:rPr sz="1100" b="0">
                          <a:solidFill>
                            <a:srgbClr val="1F2A37"/>
                          </a:solidFill>
                        </a:rPr>
                        <a:t>risk_analysis</a:t>
                      </a:r>
                    </a:p>
                  </a:txBody>
                  <a:tcPr>
                    <a:solidFill>
                      <a:srgbClr val="FFFFFF"/>
                    </a:solidFill>
                  </a:tcPr>
                </a:tc>
                <a:tc>
                  <a:txBody>
                    <a:bodyPr/>
                    <a:lstStyle/>
                    <a:p>
                      <a:r>
                        <a:rPr sz="1100" b="0">
                          <a:solidFill>
                            <a:srgbClr val="1F2A37"/>
                          </a:solidFill>
                        </a:rPr>
                        <a:t>complete</a:t>
                      </a:r>
                    </a:p>
                  </a:txBody>
                  <a:tcPr>
                    <a:solidFill>
                      <a:srgbClr val="FFFFFF"/>
                    </a:solidFill>
                  </a:tcPr>
                </a:tc>
                <a:tc>
                  <a:txBody>
                    <a:bodyPr/>
                    <a:lstStyle/>
                    <a:p>
                      <a:r>
                        <a:rPr sz="1100" b="0">
                          <a:solidFill>
                            <a:srgbClr val="1F2A37"/>
                          </a:solidFill>
                        </a:rPr>
                        <a:t>채택</a:t>
                      </a:r>
                    </a:p>
                  </a:txBody>
                  <a:tcPr>
                    <a:solidFill>
                      <a:srgbClr val="FFFFFF"/>
                    </a:solidFill>
                  </a:tcPr>
                </a:tc>
                <a:tc>
                  <a:txBody>
                    <a:bodyPr/>
                    <a:lstStyle/>
                    <a:p/>
                  </a:txBody>
                  <a:tcPr>
                    <a:solidFill>
                      <a:srgbClr val="FFFFFF"/>
                    </a:solidFill>
                  </a:tcPr>
                </a:tc>
              </a:tr>
              <a:tr h="336402">
                <a:tc>
                  <a:txBody>
                    <a:bodyPr/>
                    <a:lstStyle/>
                    <a:p>
                      <a:r>
                        <a:rPr sz="1100" b="0">
                          <a:solidFill>
                            <a:srgbClr val="1F2A37"/>
                          </a:solidFill>
                        </a:rPr>
                        <a:t>`kosena_industry`</a:t>
                      </a:r>
                    </a:p>
                  </a:txBody>
                  <a:tcPr>
                    <a:solidFill>
                      <a:srgbClr val="EEF2FB"/>
                    </a:solidFill>
                  </a:tcPr>
                </a:tc>
                <a:tc>
                  <a:txBody>
                    <a:bodyPr/>
                    <a:lstStyle/>
                    <a:p>
                      <a:r>
                        <a:rPr sz="1100" b="0">
                          <a:solidFill>
                            <a:srgbClr val="1F2A37"/>
                          </a:solidFill>
                        </a:rPr>
                        <a:t>산업 분석 전략가</a:t>
                      </a:r>
                    </a:p>
                  </a:txBody>
                  <a:tcPr>
                    <a:solidFill>
                      <a:srgbClr val="EEF2FB"/>
                    </a:solidFill>
                  </a:tcPr>
                </a:tc>
                <a:tc>
                  <a:txBody>
                    <a:bodyPr/>
                    <a:lstStyle/>
                    <a:p>
                      <a:r>
                        <a:rPr sz="1100" b="0">
                          <a:solidFill>
                            <a:srgbClr val="1F2A37"/>
                          </a:solidFill>
                        </a:rPr>
                        <a:t>`KOSENA_INDUSTRY_SYSTEM` ✅</a:t>
                      </a:r>
                    </a:p>
                  </a:txBody>
                  <a:tcPr>
                    <a:solidFill>
                      <a:srgbClr val="EEF2FB"/>
                    </a:solidFill>
                  </a:tcPr>
                </a:tc>
                <a:tc>
                  <a:txBody>
                    <a:bodyPr/>
                    <a:lstStyle/>
                    <a:p>
                      <a:r>
                        <a:rPr sz="1100" b="0">
                          <a:solidFill>
                            <a:srgbClr val="1F2A37"/>
                          </a:solidFill>
                        </a:rPr>
                        <a:t>pestel_analysis, research_analysis, competitor_analysis, swot_analysis</a:t>
                      </a:r>
                    </a:p>
                  </a:txBody>
                  <a:tcPr>
                    <a:solidFill>
                      <a:srgbClr val="EEF2FB"/>
                    </a:solidFill>
                  </a:tcPr>
                </a:tc>
                <a:tc>
                  <a:txBody>
                    <a:bodyPr/>
                    <a:lstStyle/>
                    <a:p>
                      <a:r>
                        <a:rPr sz="1100" b="0">
                          <a:solidFill>
                            <a:srgbClr val="1F2A37"/>
                          </a:solidFill>
                        </a:rPr>
                        <a:t>`kosena`: critical_uncertainties, porter, value_chain, ksf, implications</a:t>
                      </a:r>
                    </a:p>
                  </a:txBody>
                  <a:tcPr>
                    <a:solidFill>
                      <a:srgbClr val="EEF2FB"/>
                    </a:solidFill>
                  </a:tcPr>
                </a:tc>
                <a:tc>
                  <a:txBody>
                    <a:bodyPr/>
                    <a:lstStyle/>
                    <a:p>
                      <a:r>
                        <a:rPr sz="1100" b="0">
                          <a:solidFill>
                            <a:srgbClr val="1F2A37"/>
                          </a:solidFill>
                        </a:rPr>
                        <a:t>complete</a:t>
                      </a:r>
                    </a:p>
                  </a:txBody>
                  <a:tcPr>
                    <a:solidFill>
                      <a:srgbClr val="EEF2FB"/>
                    </a:solidFill>
                  </a:tcPr>
                </a:tc>
                <a:tc>
                  <a:txBody>
                    <a:bodyPr/>
                    <a:lstStyle/>
                    <a:p>
                      <a:r>
                        <a:rPr sz="1100" b="0">
                          <a:solidFill>
                            <a:srgbClr val="1F2A37"/>
                          </a:solidFill>
                        </a:rPr>
                        <a:t>채택</a:t>
                      </a:r>
                    </a:p>
                  </a:txBody>
                  <a:tcPr>
                    <a:solidFill>
                      <a:srgbClr val="EEF2FB"/>
                    </a:solidFill>
                  </a:tcPr>
                </a:tc>
                <a:tc>
                  <a:txBody>
                    <a:bodyPr/>
                    <a:lstStyle/>
                    <a:p/>
                  </a:txBody>
                  <a:tcPr>
                    <a:solidFill>
                      <a:srgbClr val="EEF2FB"/>
                    </a:solidFill>
                  </a:tcPr>
                </a:tc>
              </a:tr>
              <a:tr h="336402">
                <a:tc>
                  <a:txBody>
                    <a:bodyPr/>
                    <a:lstStyle/>
                    <a:p>
                      <a:r>
                        <a:rPr sz="1100" b="0">
                          <a:solidFill>
                            <a:srgbClr val="1F2A37"/>
                          </a:solidFill>
                        </a:rPr>
                        <a:t>`kosena_model`</a:t>
                      </a:r>
                    </a:p>
                  </a:txBody>
                  <a:tcPr>
                    <a:solidFill>
                      <a:srgbClr val="FFFFFF"/>
                    </a:solidFill>
                  </a:tcPr>
                </a:tc>
                <a:tc>
                  <a:txBody>
                    <a:bodyPr/>
                    <a:lstStyle/>
                    <a:p>
                      <a:r>
                        <a:rPr sz="1100" b="0">
                          <a:solidFill>
                            <a:srgbClr val="1F2A37"/>
                          </a:solidFill>
                        </a:rPr>
                        <a:t>린 스타트업 코치</a:t>
                      </a:r>
                    </a:p>
                  </a:txBody>
                  <a:tcPr>
                    <a:solidFill>
                      <a:srgbClr val="FFFFFF"/>
                    </a:solidFill>
                  </a:tcPr>
                </a:tc>
                <a:tc>
                  <a:txBody>
                    <a:bodyPr/>
                    <a:lstStyle/>
                    <a:p>
                      <a:r>
                        <a:rPr sz="1100" b="0">
                          <a:solidFill>
                            <a:srgbClr val="1F2A37"/>
                          </a:solidFill>
                        </a:rPr>
                        <a:t>`KOSENA_MODEL_SYSTEM` ✅</a:t>
                      </a:r>
                    </a:p>
                  </a:txBody>
                  <a:tcPr>
                    <a:solidFill>
                      <a:srgbClr val="FFFFFF"/>
                    </a:solidFill>
                  </a:tcPr>
                </a:tc>
                <a:tc>
                  <a:txBody>
                    <a:bodyPr/>
                    <a:lstStyle/>
                    <a:p>
                      <a:r>
                        <a:rPr sz="1100" b="0">
                          <a:solidFill>
                            <a:srgbClr val="1F2A37"/>
                          </a:solidFill>
                        </a:rPr>
                        <a:t>research_analysis, customer_analysis, business_model_analysis, kosena.ksf, kosena.implications</a:t>
                      </a:r>
                    </a:p>
                  </a:txBody>
                  <a:tcPr>
                    <a:solidFill>
                      <a:srgbClr val="FFFFFF"/>
                    </a:solidFill>
                  </a:tcPr>
                </a:tc>
                <a:tc>
                  <a:txBody>
                    <a:bodyPr/>
                    <a:lstStyle/>
                    <a:p>
                      <a:r>
                        <a:rPr sz="1100" b="0">
                          <a:solidFill>
                            <a:srgbClr val="1F2A37"/>
                          </a:solidFill>
                        </a:rPr>
                        <a:t>`kosena`: hmw, ideas, shortlisted_concepts, selected_concept, lean_canvas, key_hypotheses</a:t>
                      </a:r>
                    </a:p>
                  </a:txBody>
                  <a:tcPr>
                    <a:solidFill>
                      <a:srgbClr val="FFFFFF"/>
                    </a:solidFill>
                  </a:tcPr>
                </a:tc>
                <a:tc>
                  <a:txBody>
                    <a:bodyPr/>
                    <a:lstStyle/>
                    <a:p>
                      <a:r>
                        <a:rPr sz="1100" b="0">
                          <a:solidFill>
                            <a:srgbClr val="1F2A37"/>
                          </a:solidFill>
                        </a:rPr>
                        <a:t>complete</a:t>
                      </a:r>
                    </a:p>
                  </a:txBody>
                  <a:tcPr>
                    <a:solidFill>
                      <a:srgbClr val="FFFFFF"/>
                    </a:solidFill>
                  </a:tcPr>
                </a:tc>
                <a:tc>
                  <a:txBody>
                    <a:bodyPr/>
                    <a:lstStyle/>
                    <a:p>
                      <a:r>
                        <a:rPr sz="1100" b="0">
                          <a:solidFill>
                            <a:srgbClr val="1F2A37"/>
                          </a:solidFill>
                        </a:rPr>
                        <a:t>채택</a:t>
                      </a:r>
                    </a:p>
                  </a:txBody>
                  <a:tcPr>
                    <a:solidFill>
                      <a:srgbClr val="FFFFFF"/>
                    </a:solidFill>
                  </a:tcPr>
                </a:tc>
                <a:tc>
                  <a:txBody>
                    <a:bodyPr/>
                    <a:lstStyle/>
                    <a:p/>
                  </a:txBody>
                  <a:tcPr>
                    <a:solidFill>
                      <a:srgbClr val="FFFFFF"/>
                    </a:solidFill>
                  </a:tcPr>
                </a:tc>
              </a:tr>
              <a:tr h="336402">
                <a:tc>
                  <a:txBody>
                    <a:bodyPr/>
                    <a:lstStyle/>
                    <a:p>
                      <a:r>
                        <a:rPr sz="1100" b="0">
                          <a:solidFill>
                            <a:srgbClr val="1F2A37"/>
                          </a:solidFill>
                        </a:rPr>
                        <a:t>`kosena_research`</a:t>
                      </a:r>
                    </a:p>
                  </a:txBody>
                  <a:tcPr>
                    <a:solidFill>
                      <a:srgbClr val="EEF2FB"/>
                    </a:solidFill>
                  </a:tcPr>
                </a:tc>
                <a:tc>
                  <a:txBody>
                    <a:bodyPr/>
                    <a:lstStyle/>
                    <a:p>
                      <a:r>
                        <a:rPr sz="1100" b="0">
                          <a:solidFill>
                            <a:srgbClr val="1F2A37"/>
                          </a:solidFill>
                        </a:rPr>
                        <a:t>데이터 기반 서비스 기획자</a:t>
                      </a:r>
                    </a:p>
                  </a:txBody>
                  <a:tcPr>
                    <a:solidFill>
                      <a:srgbClr val="EEF2FB"/>
                    </a:solidFill>
                  </a:tcPr>
                </a:tc>
                <a:tc>
                  <a:txBody>
                    <a:bodyPr/>
                    <a:lstStyle/>
                    <a:p>
                      <a:r>
                        <a:rPr sz="1100" b="0">
                          <a:solidFill>
                            <a:srgbClr val="1F2A37"/>
                          </a:solidFill>
                        </a:rPr>
                        <a:t>`KOSENA_RESEARCH_SYSTEM` ✅</a:t>
                      </a:r>
                    </a:p>
                  </a:txBody>
                  <a:tcPr>
                    <a:solidFill>
                      <a:srgbClr val="EEF2FB"/>
                    </a:solidFill>
                  </a:tcPr>
                </a:tc>
                <a:tc>
                  <a:txBody>
                    <a:bodyPr/>
                    <a:lstStyle/>
                    <a:p>
                      <a:r>
                        <a:rPr sz="1100" b="0">
                          <a:solidFill>
                            <a:srgbClr val="1F2A37"/>
                          </a:solidFill>
                        </a:rPr>
                        <a:t>research_analysis, customer_analysis, competitor_analysis</a:t>
                      </a:r>
                    </a:p>
                  </a:txBody>
                  <a:tcPr>
                    <a:solidFill>
                      <a:srgbClr val="EEF2FB"/>
                    </a:solidFill>
                  </a:tcPr>
                </a:tc>
                <a:tc>
                  <a:txBody>
                    <a:bodyPr/>
                    <a:lstStyle/>
                    <a:p>
                      <a:r>
                        <a:rPr sz="1100" b="0">
                          <a:solidFill>
                            <a:srgbClr val="1F2A37"/>
                          </a:solidFill>
                        </a:rPr>
                        <a:t>`kosena`: personas, cjm, market_sizing, competitor_groups, comparison_criteria, competitor_comparison, positioning_map</a:t>
                      </a:r>
                    </a:p>
                  </a:txBody>
                  <a:tcPr>
                    <a:solidFill>
                      <a:srgbClr val="EEF2FB"/>
                    </a:solidFill>
                  </a:tcPr>
                </a:tc>
                <a:tc>
                  <a:txBody>
                    <a:bodyPr/>
                    <a:lstStyle/>
                    <a:p>
                      <a:r>
                        <a:rPr sz="1100" b="0">
                          <a:solidFill>
                            <a:srgbClr val="1F2A37"/>
                          </a:solidFill>
                        </a:rPr>
                        <a:t>complete</a:t>
                      </a:r>
                    </a:p>
                  </a:txBody>
                  <a:tcPr>
                    <a:solidFill>
                      <a:srgbClr val="EEF2FB"/>
                    </a:solidFill>
                  </a:tcPr>
                </a:tc>
                <a:tc>
                  <a:txBody>
                    <a:bodyPr/>
                    <a:lstStyle/>
                    <a:p>
                      <a:r>
                        <a:rPr sz="1100" b="0">
                          <a:solidFill>
                            <a:srgbClr val="1F2A37"/>
                          </a:solidFill>
                        </a:rPr>
                        <a:t>채택</a:t>
                      </a:r>
                    </a:p>
                  </a:txBody>
                  <a:tcPr>
                    <a:solidFill>
                      <a:srgbClr val="EEF2FB"/>
                    </a:solidFill>
                  </a:tcPr>
                </a:tc>
                <a:tc>
                  <a:txBody>
                    <a:bodyPr/>
                    <a:lstStyle/>
                    <a:p/>
                  </a:txBody>
                  <a:tcPr>
                    <a:solidFill>
                      <a:srgbClr val="EEF2FB"/>
                    </a:solidFill>
                  </a:tcPr>
                </a:tc>
              </a:tr>
              <a:tr h="336402">
                <a:tc>
                  <a:txBody>
                    <a:bodyPr/>
                    <a:lstStyle/>
                    <a:p>
                      <a:r>
                        <a:rPr sz="1100" b="0">
                          <a:solidFill>
                            <a:srgbClr val="1F2A37"/>
                          </a:solidFill>
                        </a:rPr>
                        <a:t>`kosena_roadmap`</a:t>
                      </a:r>
                    </a:p>
                  </a:txBody>
                  <a:tcPr>
                    <a:solidFill>
                      <a:srgbClr val="FFFFFF"/>
                    </a:solidFill>
                  </a:tcPr>
                </a:tc>
                <a:tc>
                  <a:txBody>
                    <a:bodyPr/>
                    <a:lstStyle/>
                    <a:p>
                      <a:r>
                        <a:rPr sz="1100" b="0">
                          <a:solidFill>
                            <a:srgbClr val="1F2A37"/>
                          </a:solidFill>
                        </a:rPr>
                        <a:t>프로덕트 오너</a:t>
                      </a:r>
                    </a:p>
                  </a:txBody>
                  <a:tcPr>
                    <a:solidFill>
                      <a:srgbClr val="FFFFFF"/>
                    </a:solidFill>
                  </a:tcPr>
                </a:tc>
                <a:tc>
                  <a:txBody>
                    <a:bodyPr/>
                    <a:lstStyle/>
                    <a:p>
                      <a:r>
                        <a:rPr sz="1100" b="0">
                          <a:solidFill>
                            <a:srgbClr val="1F2A37"/>
                          </a:solidFill>
                        </a:rPr>
                        <a:t>`KOSENA_ROADMAP_SYSTEM` ✅</a:t>
                      </a:r>
                    </a:p>
                  </a:txBody>
                  <a:tcPr>
                    <a:solidFill>
                      <a:srgbClr val="FFFFFF"/>
                    </a:solidFill>
                  </a:tcPr>
                </a:tc>
                <a:tc>
                  <a:txBody>
                    <a:bodyPr/>
                    <a:lstStyle/>
                    <a:p>
                      <a:r>
                        <a:rPr sz="1100" b="0">
                          <a:solidFill>
                            <a:srgbClr val="1F2A37"/>
                          </a:solidFill>
                        </a:rPr>
                        <a:t>customer_analysis, business_model_analysis, risk_analysis, kosena.lean_canvas, kosena.personas</a:t>
                      </a:r>
                    </a:p>
                  </a:txBody>
                  <a:tcPr>
                    <a:solidFill>
                      <a:srgbClr val="FFFFFF"/>
                    </a:solidFill>
                  </a:tcPr>
                </a:tc>
                <a:tc>
                  <a:txBody>
                    <a:bodyPr/>
                    <a:lstStyle/>
                    <a:p>
                      <a:r>
                        <a:rPr sz="1100" b="0">
                          <a:solidFill>
                            <a:srgbClr val="1F2A37"/>
                          </a:solidFill>
                        </a:rPr>
                        <a:t>`kosena`: vpc, core_features, use_cases, moscow, kano, mvp_scope, epics, milestones, kpis, wireframes</a:t>
                      </a:r>
                    </a:p>
                  </a:txBody>
                  <a:tcPr>
                    <a:solidFill>
                      <a:srgbClr val="FFFFFF"/>
                    </a:solidFill>
                  </a:tcPr>
                </a:tc>
                <a:tc>
                  <a:txBody>
                    <a:bodyPr/>
                    <a:lstStyle/>
                    <a:p>
                      <a:r>
                        <a:rPr sz="1100" b="0">
                          <a:solidFill>
                            <a:srgbClr val="1F2A37"/>
                          </a:solidFill>
                        </a:rPr>
                        <a:t>complete</a:t>
                      </a:r>
                    </a:p>
                  </a:txBody>
                  <a:tcPr>
                    <a:solidFill>
                      <a:srgbClr val="FFFFFF"/>
                    </a:solidFill>
                  </a:tcPr>
                </a:tc>
                <a:tc>
                  <a:txBody>
                    <a:bodyPr/>
                    <a:lstStyle/>
                    <a:p>
                      <a:r>
                        <a:rPr sz="1100" b="0">
                          <a:solidFill>
                            <a:srgbClr val="1F2A37"/>
                          </a:solidFill>
                        </a:rPr>
                        <a:t>채택</a:t>
                      </a:r>
                    </a:p>
                  </a:txBody>
                  <a:tcPr>
                    <a:solidFill>
                      <a:srgbClr val="FFFFFF"/>
                    </a:solidFill>
                  </a:tcPr>
                </a:tc>
                <a:tc>
                  <a:txBody>
                    <a:bodyPr/>
                    <a:lstStyle/>
                    <a:p/>
                  </a:txBody>
                  <a:tcPr>
                    <a:solidFill>
                      <a:srgbClr val="FFFFFF"/>
                    </a:solidFill>
                  </a:tcPr>
                </a:tc>
              </a:tr>
              <a:tr h="336402">
                <a:tc>
                  <a:txBody>
                    <a:bodyPr/>
                    <a:lstStyle/>
                    <a:p>
                      <a:r>
                        <a:rPr sz="1100" b="0">
                          <a:solidFill>
                            <a:srgbClr val="1F2A37"/>
                          </a:solidFill>
                        </a:rPr>
                        <a:t>`research_gap`</a:t>
                      </a:r>
                    </a:p>
                  </a:txBody>
                  <a:tcPr>
                    <a:solidFill>
                      <a:srgbClr val="EEF2FB"/>
                    </a:solidFill>
                  </a:tcPr>
                </a:tc>
                <a:tc>
                  <a:txBody>
                    <a:bodyPr/>
                    <a:lstStyle/>
                    <a:p>
                      <a:r>
                        <a:rPr sz="1100" b="0">
                          <a:solidFill>
                            <a:srgbClr val="1F2A37"/>
                          </a:solidFill>
                        </a:rPr>
                        <a:t>근거 공백 보강 조사자</a:t>
                      </a:r>
                    </a:p>
                  </a:txBody>
                  <a:tcPr>
                    <a:solidFill>
                      <a:srgbClr val="EEF2FB"/>
                    </a:solidFill>
                  </a:tcPr>
                </a:tc>
                <a:tc>
                  <a:txBody>
                    <a:bodyPr/>
                    <a:lstStyle/>
                    <a:p>
                      <a:r>
                        <a:rPr sz="1100" b="0">
                          <a:solidFill>
                            <a:srgbClr val="1F2A37"/>
                          </a:solidFill>
                        </a:rPr>
                        <a:t>`RESEARCH_GAP_SYSTEM` —</a:t>
                      </a:r>
                    </a:p>
                  </a:txBody>
                  <a:tcPr>
                    <a:solidFill>
                      <a:srgbClr val="EEF2FB"/>
                    </a:solidFill>
                  </a:tcPr>
                </a:tc>
                <a:tc>
                  <a:txBody>
                    <a:bodyPr/>
                    <a:lstStyle/>
                    <a:p>
                      <a:r>
                        <a:rPr sz="1100" b="0">
                          <a:solidFill>
                            <a:srgbClr val="1F2A37"/>
                          </a:solidFill>
                        </a:rPr>
                        <a:t>evidence_gaps</a:t>
                      </a:r>
                    </a:p>
                  </a:txBody>
                  <a:tcPr>
                    <a:solidFill>
                      <a:srgbClr val="EEF2FB"/>
                    </a:solidFill>
                  </a:tcPr>
                </a:tc>
                <a:tc>
                  <a:txBody>
                    <a:bodyPr/>
                    <a:lstStyle/>
                    <a:p>
                      <a:r>
                        <a:rPr sz="1100" b="0">
                          <a:solidFill>
                            <a:srgbClr val="1F2A37"/>
                          </a:solidFill>
                        </a:rPr>
                        <a:t>`evidence_registry`: evidence_registry, dynamic_research</a:t>
                      </a:r>
                    </a:p>
                  </a:txBody>
                  <a:tcPr>
                    <a:solidFill>
                      <a:srgbClr val="EEF2FB"/>
                    </a:solidFill>
                  </a:tcPr>
                </a:tc>
                <a:tc>
                  <a:txBody>
                    <a:bodyPr/>
                    <a:lstStyle/>
                    <a:p>
                      <a:r>
                        <a:rPr sz="1100" b="0">
                          <a:solidFill>
                            <a:srgbClr val="1F2A37"/>
                          </a:solidFill>
                        </a:rPr>
                        <a:t>complete</a:t>
                      </a:r>
                    </a:p>
                  </a:txBody>
                  <a:tcPr>
                    <a:solidFill>
                      <a:srgbClr val="EEF2FB"/>
                    </a:solidFill>
                  </a:tcPr>
                </a:tc>
                <a:tc>
                  <a:txBody>
                    <a:bodyPr/>
                    <a:lstStyle/>
                    <a:p>
                      <a:r>
                        <a:rPr sz="1100" b="0">
                          <a:solidFill>
                            <a:srgbClr val="1F2A37"/>
                          </a:solidFill>
                        </a:rPr>
                        <a:t>채택</a:t>
                      </a:r>
                    </a:p>
                  </a:txBody>
                  <a:tcPr>
                    <a:solidFill>
                      <a:srgbClr val="EEF2FB"/>
                    </a:solidFill>
                  </a:tcPr>
                </a:tc>
                <a:tc>
                  <a:txBody>
                    <a:bodyPr/>
                    <a:lstStyle/>
                    <a:p/>
                  </a:txBody>
                  <a:tcPr>
                    <a:solidFill>
                      <a:srgbClr val="EEF2FB"/>
                    </a:solidFill>
                  </a:tcPr>
                </a:tc>
              </a:tr>
              <a:tr h="336402">
                <a:tc>
                  <a:txBody>
                    <a:bodyPr/>
                    <a:lstStyle/>
                    <a:p>
                      <a:r>
                        <a:rPr sz="1100" b="0">
                          <a:solidFill>
                            <a:srgbClr val="1F2A37"/>
                          </a:solidFill>
                        </a:rPr>
                        <a:t>`draft`</a:t>
                      </a:r>
                    </a:p>
                  </a:txBody>
                  <a:tcPr>
                    <a:solidFill>
                      <a:srgbClr val="FFFFFF"/>
                    </a:solidFill>
                  </a:tcPr>
                </a:tc>
                <a:tc>
                  <a:txBody>
                    <a:bodyPr/>
                    <a:lstStyle/>
                    <a:p>
                      <a:r>
                        <a:rPr sz="1100" b="0">
                          <a:solidFill>
                            <a:srgbClr val="1F2A37"/>
                          </a:solidFill>
                        </a:rPr>
                        <a:t>기획서 작성자</a:t>
                      </a:r>
                    </a:p>
                  </a:txBody>
                  <a:tcPr>
                    <a:solidFill>
                      <a:srgbClr val="FFFFFF"/>
                    </a:solidFill>
                  </a:tcPr>
                </a:tc>
                <a:tc>
                  <a:txBody>
                    <a:bodyPr/>
                    <a:lstStyle/>
                    <a:p>
                      <a:r>
                        <a:rPr sz="1100" b="0">
                          <a:solidFill>
                            <a:srgbClr val="1F2A37"/>
                          </a:solidFill>
                        </a:rPr>
                        <a:t>`DRAFT_WRITER_SYSTEM` —</a:t>
                      </a:r>
                    </a:p>
                  </a:txBody>
                  <a:tcPr>
                    <a:solidFill>
                      <a:srgbClr val="FFFFFF"/>
                    </a:solidFill>
                  </a:tcPr>
                </a:tc>
                <a:tc>
                  <a:txBody>
                    <a:bodyPr/>
                    <a:lstStyle/>
                    <a:p>
                      <a:r>
                        <a:rPr sz="1100" b="0">
                          <a:solidFill>
                            <a:srgbClr val="1F2A37"/>
                          </a:solidFill>
                        </a:rPr>
                        <a:t>research_analysis, competitor_analysis, customer_analysis, swot_analysis, business_model_analysis, risk_analysis, pestel_analysis</a:t>
                      </a:r>
                    </a:p>
                  </a:txBody>
                  <a:tcPr>
                    <a:solidFill>
                      <a:srgbClr val="FFFFFF"/>
                    </a:solidFill>
                  </a:tcPr>
                </a:tc>
                <a:tc>
                  <a:txBody>
                    <a:bodyPr/>
                    <a:lstStyle/>
                    <a:p>
                      <a:r>
                        <a:rPr sz="1100" b="0">
                          <a:solidFill>
                            <a:srgbClr val="1F2A37"/>
                          </a:solidFill>
                        </a:rPr>
                        <a:t>`draft`: draft</a:t>
                      </a:r>
                    </a:p>
                  </a:txBody>
                  <a:tcPr>
                    <a:solidFill>
                      <a:srgbClr val="FFFFFF"/>
                    </a:solidFill>
                  </a:tcPr>
                </a:tc>
                <a:tc>
                  <a:txBody>
                    <a:bodyPr/>
                    <a:lstStyle/>
                    <a:p>
                      <a:r>
                        <a:rPr sz="1100" b="0">
                          <a:solidFill>
                            <a:srgbClr val="1F2A37"/>
                          </a:solidFill>
                        </a:rPr>
                        <a:t>complete</a:t>
                      </a:r>
                    </a:p>
                  </a:txBody>
                  <a:tcPr>
                    <a:solidFill>
                      <a:srgbClr val="FFFFFF"/>
                    </a:solidFill>
                  </a:tcPr>
                </a:tc>
                <a:tc>
                  <a:txBody>
                    <a:bodyPr/>
                    <a:lstStyle/>
                    <a:p>
                      <a:r>
                        <a:rPr sz="1100" b="0">
                          <a:solidFill>
                            <a:srgbClr val="1F2A37"/>
                          </a:solidFill>
                        </a:rPr>
                        <a:t>채택</a:t>
                      </a:r>
                    </a:p>
                  </a:txBody>
                  <a:tcPr>
                    <a:solidFill>
                      <a:srgbClr val="FFFFFF"/>
                    </a:solidFill>
                  </a:tcPr>
                </a:tc>
                <a:tc>
                  <a:txBody>
                    <a:bodyPr/>
                    <a:lstStyle/>
                    <a:p/>
                  </a:txBody>
                  <a:tcPr>
                    <a:solidFill>
                      <a:srgbClr val="FFFFFF"/>
                    </a:solidFill>
                  </a:tcPr>
                </a:tc>
              </a:tr>
              <a:tr h="336402">
                <a:tc>
                  <a:txBody>
                    <a:bodyPr/>
                    <a:lstStyle/>
                    <a:p>
                      <a:r>
                        <a:rPr sz="1100" b="0">
                          <a:solidFill>
                            <a:srgbClr val="1F2A37"/>
                          </a:solidFill>
                        </a:rPr>
                        <a:t>`reviewer`</a:t>
                      </a:r>
                    </a:p>
                  </a:txBody>
                  <a:tcPr>
                    <a:solidFill>
                      <a:srgbClr val="EEF2FB"/>
                    </a:solidFill>
                  </a:tcPr>
                </a:tc>
                <a:tc>
                  <a:txBody>
                    <a:bodyPr/>
                    <a:lstStyle/>
                    <a:p>
                      <a:r>
                        <a:rPr sz="1100" b="0">
                          <a:solidFill>
                            <a:srgbClr val="1F2A37"/>
                          </a:solidFill>
                        </a:rPr>
                        <a:t>기획서 심사자</a:t>
                      </a:r>
                    </a:p>
                  </a:txBody>
                  <a:tcPr>
                    <a:solidFill>
                      <a:srgbClr val="EEF2FB"/>
                    </a:solidFill>
                  </a:tcPr>
                </a:tc>
                <a:tc>
                  <a:txBody>
                    <a:bodyPr/>
                    <a:lstStyle/>
                    <a:p>
                      <a:r>
                        <a:rPr sz="1100" b="0">
                          <a:solidFill>
                            <a:srgbClr val="1F2A37"/>
                          </a:solidFill>
                        </a:rPr>
                        <a:t>`REVIEWER_SYSTEM` —</a:t>
                      </a:r>
                    </a:p>
                  </a:txBody>
                  <a:tcPr>
                    <a:solidFill>
                      <a:srgbClr val="EEF2FB"/>
                    </a:solidFill>
                  </a:tcPr>
                </a:tc>
                <a:tc>
                  <a:txBody>
                    <a:bodyPr/>
                    <a:lstStyle/>
                    <a:p>
                      <a:r>
                        <a:rPr sz="1100" b="0">
                          <a:solidFill>
                            <a:srgbClr val="1F2A37"/>
                          </a:solidFill>
                        </a:rPr>
                        <a:t>draft</a:t>
                      </a:r>
                    </a:p>
                  </a:txBody>
                  <a:tcPr>
                    <a:solidFill>
                      <a:srgbClr val="EEF2FB"/>
                    </a:solidFill>
                  </a:tcPr>
                </a:tc>
                <a:tc>
                  <a:txBody>
                    <a:bodyPr/>
                    <a:lstStyle/>
                    <a:p>
                      <a:r>
                        <a:rPr sz="1100" b="0">
                          <a:solidFill>
                            <a:srgbClr val="1F2A37"/>
                          </a:solidFill>
                        </a:rPr>
                        <a:t>`review_result`: review_result, initial_review_result</a:t>
                      </a:r>
                    </a:p>
                  </a:txBody>
                  <a:tcPr>
                    <a:solidFill>
                      <a:srgbClr val="EEF2FB"/>
                    </a:solidFill>
                  </a:tcPr>
                </a:tc>
                <a:tc>
                  <a:txBody>
                    <a:bodyPr/>
                    <a:lstStyle/>
                    <a:p>
                      <a:r>
                        <a:rPr sz="1100" b="0">
                          <a:solidFill>
                            <a:srgbClr val="1F2A37"/>
                          </a:solidFill>
                        </a:rPr>
                        <a:t>complete</a:t>
                      </a:r>
                    </a:p>
                  </a:txBody>
                  <a:tcPr>
                    <a:solidFill>
                      <a:srgbClr val="EEF2FB"/>
                    </a:solidFill>
                  </a:tcPr>
                </a:tc>
                <a:tc>
                  <a:txBody>
                    <a:bodyPr/>
                    <a:lstStyle/>
                    <a:p>
                      <a:r>
                        <a:rPr sz="1100" b="0">
                          <a:solidFill>
                            <a:srgbClr val="1F2A37"/>
                          </a:solidFill>
                        </a:rPr>
                        <a:t>채택</a:t>
                      </a:r>
                    </a:p>
                  </a:txBody>
                  <a:tcPr>
                    <a:solidFill>
                      <a:srgbClr val="EEF2FB"/>
                    </a:solidFill>
                  </a:tcPr>
                </a:tc>
                <a:tc>
                  <a:txBody>
                    <a:bodyPr/>
                    <a:lstStyle/>
                    <a:p/>
                  </a:txBody>
                  <a:tcPr>
                    <a:solidFill>
                      <a:srgbClr val="EEF2FB"/>
                    </a:solidFill>
                  </a:tcPr>
                </a:tc>
              </a:tr>
              <a:tr h="336402">
                <a:tc>
                  <a:txBody>
                    <a:bodyPr/>
                    <a:lstStyle/>
                    <a:p>
                      <a:r>
                        <a:rPr sz="1100" b="0">
                          <a:solidFill>
                            <a:srgbClr val="1F2A37"/>
                          </a:solidFill>
                        </a:rPr>
                        <a:t>`polish`</a:t>
                      </a:r>
                    </a:p>
                  </a:txBody>
                  <a:tcPr>
                    <a:solidFill>
                      <a:srgbClr val="FFFFFF"/>
                    </a:solidFill>
                  </a:tcPr>
                </a:tc>
                <a:tc>
                  <a:txBody>
                    <a:bodyPr/>
                    <a:lstStyle/>
                    <a:p>
                      <a:r>
                        <a:rPr sz="1100" b="0">
                          <a:solidFill>
                            <a:srgbClr val="1F2A37"/>
                          </a:solidFill>
                        </a:rPr>
                        <a:t>일관성 편집자</a:t>
                      </a:r>
                    </a:p>
                  </a:txBody>
                  <a:tcPr>
                    <a:solidFill>
                      <a:srgbClr val="FFFFFF"/>
                    </a:solidFill>
                  </a:tcPr>
                </a:tc>
                <a:tc>
                  <a:txBody>
                    <a:bodyPr/>
                    <a:lstStyle/>
                    <a:p>
                      <a:r>
                        <a:rPr sz="1100" b="0">
                          <a:solidFill>
                            <a:srgbClr val="1F2A37"/>
                          </a:solidFill>
                        </a:rPr>
                        <a:t>`EDITOR_SYSTEM` —</a:t>
                      </a:r>
                    </a:p>
                  </a:txBody>
                  <a:tcPr>
                    <a:solidFill>
                      <a:srgbClr val="FFFFFF"/>
                    </a:solidFill>
                  </a:tcPr>
                </a:tc>
                <a:tc>
                  <a:txBody>
                    <a:bodyPr/>
                    <a:lstStyle/>
                    <a:p>
                      <a:r>
                        <a:rPr sz="1100" b="0">
                          <a:solidFill>
                            <a:srgbClr val="1F2A37"/>
                          </a:solidFill>
                        </a:rPr>
                        <a:t>final_draft</a:t>
                      </a:r>
                    </a:p>
                  </a:txBody>
                  <a:tcPr>
                    <a:solidFill>
                      <a:srgbClr val="FFFFFF"/>
                    </a:solidFill>
                  </a:tcPr>
                </a:tc>
                <a:tc>
                  <a:txBody>
                    <a:bodyPr/>
                    <a:lstStyle/>
                    <a:p>
                      <a:r>
                        <a:rPr sz="1100" b="0">
                          <a:solidFill>
                            <a:srgbClr val="1F2A37"/>
                          </a:solidFill>
                        </a:rPr>
                        <a:t>`final_draft`: final_draft</a:t>
                      </a:r>
                    </a:p>
                  </a:txBody>
                  <a:tcPr>
                    <a:solidFill>
                      <a:srgbClr val="FFFFFF"/>
                    </a:solidFill>
                  </a:tcPr>
                </a:tc>
                <a:tc>
                  <a:txBody>
                    <a:bodyPr/>
                    <a:lstStyle/>
                    <a:p>
                      <a:r>
                        <a:rPr sz="1100" b="0">
                          <a:solidFill>
                            <a:srgbClr val="1F2A37"/>
                          </a:solidFill>
                        </a:rPr>
                        <a:t>complete</a:t>
                      </a:r>
                    </a:p>
                  </a:txBody>
                  <a:tcPr>
                    <a:solidFill>
                      <a:srgbClr val="FFFFFF"/>
                    </a:solidFill>
                  </a:tcPr>
                </a:tc>
                <a:tc>
                  <a:txBody>
                    <a:bodyPr/>
                    <a:lstStyle/>
                    <a:p>
                      <a:r>
                        <a:rPr sz="1100" b="1">
                          <a:solidFill>
                            <a:srgbClr val="1F2A37"/>
                          </a:solidFill>
                        </a:rPr>
                        <a:t>미채택</a:t>
                      </a:r>
                    </a:p>
                  </a:txBody>
                  <a:tcPr>
                    <a:solidFill>
                      <a:srgbClr val="FFFFFF"/>
                    </a:solidFill>
                  </a:tcPr>
                </a:tc>
                <a:tc>
                  <a:txBody>
                    <a:bodyPr/>
                    <a:lstStyle/>
                    <a:p>
                      <a:r>
                        <a:rPr sz="1100" b="0">
                          <a:solidFill>
                            <a:srgbClr val="1F2A37"/>
                          </a:solidFill>
                        </a:rPr>
                        <a:t>편집 생략: 내용 이슈만·구조 정상(revision=section)</a:t>
                      </a:r>
                    </a:p>
                  </a:txBody>
                  <a:tcPr>
                    <a:solidFill>
                      <a:srgbClr val="FFFFFF"/>
                    </a:solidFill>
                  </a:tcPr>
                </a:tc>
              </a:tr>
              <a:tr h="336402">
                <a:tc>
                  <a:txBody>
                    <a:bodyPr/>
                    <a:lstStyle/>
                    <a:p>
                      <a:r>
                        <a:rPr sz="1100" b="0">
                          <a:solidFill>
                            <a:srgbClr val="1F2A37"/>
                          </a:solidFill>
                        </a:rPr>
                        <a:t>`final_reviewer`</a:t>
                      </a:r>
                    </a:p>
                  </a:txBody>
                  <a:tcPr>
                    <a:solidFill>
                      <a:srgbClr val="EEF2FB"/>
                    </a:solidFill>
                  </a:tcPr>
                </a:tc>
                <a:tc>
                  <a:txBody>
                    <a:bodyPr/>
                    <a:lstStyle/>
                    <a:p>
                      <a:r>
                        <a:rPr sz="1100" b="0">
                          <a:solidFill>
                            <a:srgbClr val="1F2A37"/>
                          </a:solidFill>
                        </a:rPr>
                        <a:t>최종본 심사자</a:t>
                      </a:r>
                    </a:p>
                  </a:txBody>
                  <a:tcPr>
                    <a:solidFill>
                      <a:srgbClr val="EEF2FB"/>
                    </a:solidFill>
                  </a:tcPr>
                </a:tc>
                <a:tc>
                  <a:txBody>
                    <a:bodyPr/>
                    <a:lstStyle/>
                    <a:p>
                      <a:r>
                        <a:rPr sz="1100" b="0">
                          <a:solidFill>
                            <a:srgbClr val="1F2A37"/>
                          </a:solidFill>
                        </a:rPr>
                        <a:t>`REVIEWER_SYSTEM` —</a:t>
                      </a:r>
                    </a:p>
                  </a:txBody>
                  <a:tcPr>
                    <a:solidFill>
                      <a:srgbClr val="EEF2FB"/>
                    </a:solidFill>
                  </a:tcPr>
                </a:tc>
                <a:tc>
                  <a:txBody>
                    <a:bodyPr/>
                    <a:lstStyle/>
                    <a:p>
                      <a:r>
                        <a:rPr sz="1100" b="0">
                          <a:solidFill>
                            <a:srgbClr val="1F2A37"/>
                          </a:solidFill>
                        </a:rPr>
                        <a:t>final_draft</a:t>
                      </a:r>
                    </a:p>
                  </a:txBody>
                  <a:tcPr>
                    <a:solidFill>
                      <a:srgbClr val="EEF2FB"/>
                    </a:solidFill>
                  </a:tcPr>
                </a:tc>
                <a:tc>
                  <a:txBody>
                    <a:bodyPr/>
                    <a:lstStyle/>
                    <a:p>
                      <a:r>
                        <a:rPr sz="1100" b="0">
                          <a:solidFill>
                            <a:srgbClr val="1F2A37"/>
                          </a:solidFill>
                        </a:rPr>
                        <a:t>`final_review_result`: final_review_result, best_version</a:t>
                      </a:r>
                    </a:p>
                  </a:txBody>
                  <a:tcPr>
                    <a:solidFill>
                      <a:srgbClr val="EEF2FB"/>
                    </a:solidFill>
                  </a:tcPr>
                </a:tc>
                <a:tc>
                  <a:txBody>
                    <a:bodyPr/>
                    <a:lstStyle/>
                    <a:p>
                      <a:r>
                        <a:rPr sz="1100" b="0">
                          <a:solidFill>
                            <a:srgbClr val="1F2A37"/>
                          </a:solidFill>
                        </a:rPr>
                        <a:t>complete</a:t>
                      </a:r>
                    </a:p>
                  </a:txBody>
                  <a:tcPr>
                    <a:solidFill>
                      <a:srgbClr val="EEF2FB"/>
                    </a:solidFill>
                  </a:tcPr>
                </a:tc>
                <a:tc>
                  <a:txBody>
                    <a:bodyPr/>
                    <a:lstStyle/>
                    <a:p>
                      <a:r>
                        <a:rPr sz="1100" b="0">
                          <a:solidFill>
                            <a:srgbClr val="1F2A37"/>
                          </a:solidFill>
                        </a:rPr>
                        <a:t>채택</a:t>
                      </a:r>
                    </a:p>
                  </a:txBody>
                  <a:tcPr>
                    <a:solidFill>
                      <a:srgbClr val="EEF2FB"/>
                    </a:solidFill>
                  </a:tcPr>
                </a:tc>
                <a:tc>
                  <a:txBody>
                    <a:bodyPr/>
                    <a:lstStyle/>
                    <a:p/>
                  </a:txBody>
                  <a:tcPr>
                    <a:solidFill>
                      <a:srgbClr val="EEF2FB"/>
                    </a:solidFill>
                  </a:tcPr>
                </a:tc>
              </a:tr>
              <a:tr h="336402">
                <a:tc>
                  <a:txBody>
                    <a:bodyPr/>
                    <a:lstStyle/>
                    <a:p>
                      <a:r>
                        <a:rPr sz="1100" b="0">
                          <a:solidFill>
                            <a:srgbClr val="1F2A37"/>
                          </a:solidFill>
                        </a:rPr>
                        <a:t>`verify`</a:t>
                      </a:r>
                    </a:p>
                  </a:txBody>
                  <a:tcPr>
                    <a:solidFill>
                      <a:srgbClr val="FFFFFF"/>
                    </a:solidFill>
                  </a:tcPr>
                </a:tc>
                <a:tc>
                  <a:txBody>
                    <a:bodyPr/>
                    <a:lstStyle/>
                    <a:p>
                      <a:r>
                        <a:rPr sz="1100" b="0">
                          <a:solidFill>
                            <a:srgbClr val="1F2A37"/>
                          </a:solidFill>
                        </a:rPr>
                        <a:t>근거 일치성 검증자</a:t>
                      </a:r>
                    </a:p>
                  </a:txBody>
                  <a:tcPr>
                    <a:solidFill>
                      <a:srgbClr val="FFFFFF"/>
                    </a:solidFill>
                  </a:tcPr>
                </a:tc>
                <a:tc>
                  <a:txBody>
                    <a:bodyPr/>
                    <a:lstStyle/>
                    <a:p>
                      <a:r>
                        <a:rPr sz="1100" b="0">
                          <a:solidFill>
                            <a:srgbClr val="1F2A37"/>
                          </a:solidFill>
                        </a:rPr>
                        <a:t>`VERIFY_SYSTEM` —</a:t>
                      </a:r>
                    </a:p>
                  </a:txBody>
                  <a:tcPr>
                    <a:solidFill>
                      <a:srgbClr val="FFFFFF"/>
                    </a:solidFill>
                  </a:tcPr>
                </a:tc>
                <a:tc>
                  <a:txBody>
                    <a:bodyPr/>
                    <a:lstStyle/>
                    <a:p>
                      <a:r>
                        <a:rPr sz="1100" b="0">
                          <a:solidFill>
                            <a:srgbClr val="1F2A37"/>
                          </a:solidFill>
                        </a:rPr>
                        <a:t>final_draft, evidence_registry</a:t>
                      </a:r>
                    </a:p>
                  </a:txBody>
                  <a:tcPr>
                    <a:solidFill>
                      <a:srgbClr val="FFFFFF"/>
                    </a:solidFill>
                  </a:tcPr>
                </a:tc>
                <a:tc>
                  <a:txBody>
                    <a:bodyPr/>
                    <a:lstStyle/>
                    <a:p>
                      <a:r>
                        <a:rPr sz="1100" b="0">
                          <a:solidFill>
                            <a:srgbClr val="1F2A37"/>
                          </a:solidFill>
                        </a:rPr>
                        <a:t>`verification_result`: verification_result</a:t>
                      </a:r>
                    </a:p>
                  </a:txBody>
                  <a:tcPr>
                    <a:solidFill>
                      <a:srgbClr val="FFFFFF"/>
                    </a:solidFill>
                  </a:tcPr>
                </a:tc>
                <a:tc>
                  <a:txBody>
                    <a:bodyPr/>
                    <a:lstStyle/>
                    <a:p>
                      <a:r>
                        <a:rPr sz="1100" b="0">
                          <a:solidFill>
                            <a:srgbClr val="1F2A37"/>
                          </a:solidFill>
                        </a:rPr>
                        <a:t>complete</a:t>
                      </a:r>
                    </a:p>
                  </a:txBody>
                  <a:tcPr>
                    <a:solidFill>
                      <a:srgbClr val="FFFFFF"/>
                    </a:solidFill>
                  </a:tcPr>
                </a:tc>
                <a:tc>
                  <a:txBody>
                    <a:bodyPr/>
                    <a:lstStyle/>
                    <a:p>
                      <a:r>
                        <a:rPr sz="1100" b="0">
                          <a:solidFill>
                            <a:srgbClr val="1F2A37"/>
                          </a:solidFill>
                        </a:rPr>
                        <a:t>채택</a:t>
                      </a:r>
                    </a:p>
                  </a:txBody>
                  <a:tcPr>
                    <a:solidFill>
                      <a:srgbClr val="FFFFFF"/>
                    </a:solidFill>
                  </a:tcPr>
                </a:tc>
                <a:tc>
                  <a:txBody>
                    <a:bodyPr/>
                    <a:lstStyle/>
                    <a:p/>
                  </a:txBody>
                  <a:tcPr>
                    <a:solidFill>
                      <a:srgbClr val="FFFFFF"/>
                    </a:solidFill>
                  </a:tcPr>
                </a:tc>
              </a:tr>
              <a:tr h="336420">
                <a:tc>
                  <a:txBody>
                    <a:bodyPr/>
                    <a:lstStyle/>
                    <a:p>
                      <a:r>
                        <a:rPr sz="1100" b="0">
                          <a:solidFill>
                            <a:srgbClr val="1F2A37"/>
                          </a:solidFill>
                        </a:rPr>
                        <a:t>`section_revise`</a:t>
                      </a:r>
                    </a:p>
                  </a:txBody>
                  <a:tcPr>
                    <a:solidFill>
                      <a:srgbClr val="EEF2FB"/>
                    </a:solidFill>
                  </a:tcPr>
                </a:tc>
                <a:tc>
                  <a:txBody>
                    <a:bodyPr/>
                    <a:lstStyle/>
                    <a:p>
                      <a:r>
                        <a:rPr sz="1100" b="0">
                          <a:solidFill>
                            <a:srgbClr val="1F2A37"/>
                          </a:solidFill>
                        </a:rPr>
                        <a:t>기획서 재작성</a:t>
                      </a:r>
                    </a:p>
                  </a:txBody>
                  <a:tcPr>
                    <a:solidFill>
                      <a:srgbClr val="EEF2FB"/>
                    </a:solidFill>
                  </a:tcPr>
                </a:tc>
                <a:tc>
                  <a:txBody>
                    <a:bodyPr/>
                    <a:lstStyle/>
                    <a:p>
                      <a:r>
                        <a:rPr sz="1100" b="0">
                          <a:solidFill>
                            <a:srgbClr val="1F2A37"/>
                          </a:solidFill>
                        </a:rPr>
                        <a:t>`SECTION_REVISER_SYSTEM` —</a:t>
                      </a:r>
                    </a:p>
                  </a:txBody>
                  <a:tcPr>
                    <a:solidFill>
                      <a:srgbClr val="EEF2FB"/>
                    </a:solidFill>
                  </a:tcPr>
                </a:tc>
                <a:tc>
                  <a:txBody>
                    <a:bodyPr/>
                    <a:lstStyle/>
                    <a:p>
                      <a:r>
                        <a:rPr sz="1100" b="0">
                          <a:solidFill>
                            <a:srgbClr val="1F2A37"/>
                          </a:solidFill>
                        </a:rPr>
                        <a:t>review_result.issues, final_draft</a:t>
                      </a:r>
                    </a:p>
                  </a:txBody>
                  <a:tcPr>
                    <a:solidFill>
                      <a:srgbClr val="EEF2FB"/>
                    </a:solidFill>
                  </a:tcPr>
                </a:tc>
                <a:tc>
                  <a:txBody>
                    <a:bodyPr/>
                    <a:lstStyle/>
                    <a:p>
                      <a:r>
                        <a:rPr sz="1100" b="0">
                          <a:solidFill>
                            <a:srgbClr val="1F2A37"/>
                          </a:solidFill>
                        </a:rPr>
                        <a:t>`final_draft`: final_draft</a:t>
                      </a:r>
                    </a:p>
                  </a:txBody>
                  <a:tcPr>
                    <a:solidFill>
                      <a:srgbClr val="EEF2FB"/>
                    </a:solidFill>
                  </a:tcPr>
                </a:tc>
                <a:tc>
                  <a:txBody>
                    <a:bodyPr/>
                    <a:lstStyle/>
                    <a:p>
                      <a:r>
                        <a:rPr sz="1100" b="0">
                          <a:solidFill>
                            <a:srgbClr val="1F2A37"/>
                          </a:solidFill>
                        </a:rPr>
                        <a:t>complete</a:t>
                      </a:r>
                    </a:p>
                  </a:txBody>
                  <a:tcPr>
                    <a:solidFill>
                      <a:srgbClr val="EEF2FB"/>
                    </a:solidFill>
                  </a:tcPr>
                </a:tc>
                <a:tc>
                  <a:txBody>
                    <a:bodyPr/>
                    <a:lstStyle/>
                    <a:p>
                      <a:r>
                        <a:rPr sz="1100" b="1">
                          <a:solidFill>
                            <a:srgbClr val="1F2A37"/>
                          </a:solidFill>
                        </a:rPr>
                        <a:t>미채택</a:t>
                      </a:r>
                    </a:p>
                  </a:txBody>
                  <a:tcPr>
                    <a:solidFill>
                      <a:srgbClr val="EEF2FB"/>
                    </a:solidFill>
                  </a:tcPr>
                </a:tc>
                <a:tc>
                  <a:txBody>
                    <a:bodyPr/>
                    <a:lstStyle/>
                    <a:p>
                      <a:r>
                        <a:rPr sz="1100" b="0">
                          <a:solidFill>
                            <a:srgbClr val="1F2A37"/>
                          </a:solidFill>
                        </a:rPr>
                        <a:t>재작성본이 초안보다 낮게 평가되어 초안을 채택(select_best)</a:t>
                      </a:r>
                    </a:p>
                  </a:txBody>
                  <a:tcPr>
                    <a:solidFill>
                      <a:srgbClr val="EEF2FB"/>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검증 절차</a:t>
            </a:r>
          </a:p>
        </p:txBody>
      </p:sp>
      <p:sp>
        <p:nvSpPr>
          <p:cNvPr id="3" name="TextBox 2"/>
          <p:cNvSpPr txBox="1"/>
          <p:nvPr/>
        </p:nvSpPr>
        <p:spPr>
          <a:xfrm>
            <a:off x="640080" y="1417320"/>
            <a:ext cx="10908792" cy="3246120"/>
          </a:xfrm>
          <a:prstGeom prst="rect">
            <a:avLst/>
          </a:prstGeom>
          <a:noFill/>
        </p:spPr>
        <p:txBody>
          <a:bodyPr wrap="square" anchor="t">
            <a:spAutoFit/>
          </a:bodyPr>
          <a:lstStyle/>
          <a:p>
            <a:pPr>
              <a:spcAft>
                <a:spcPts val="400"/>
              </a:spcAft>
            </a:pPr>
            <a:r>
              <a:rPr sz="1500">
                <a:solidFill>
                  <a:srgbClr val="2B59C3"/>
                </a:solidFill>
              </a:rPr>
              <a:t>• </a:t>
            </a:r>
            <a:r>
              <a:rPr sz="1500" b="0">
                <a:solidFill>
                  <a:srgbClr val="1F2A37"/>
                </a:solidFill>
              </a:rPr>
              <a:t>모든 Agent 출력은 `_validate()` 로 </a:t>
            </a:r>
            <a:r>
              <a:rPr sz="1500" b="1">
                <a:solidFill>
                  <a:srgbClr val="1F2A37"/>
                </a:solidFill>
              </a:rPr>
              <a:t>스키마를 강제</a:t>
            </a:r>
            <a:r>
              <a:rPr sz="1500" b="0">
                <a:solidFill>
                  <a:srgbClr val="1F2A37"/>
                </a:solidFill>
              </a:rPr>
              <a:t>한다(누락 키는 중립값, 더미 문구 차단).</a:t>
            </a:r>
          </a:p>
          <a:p>
            <a:pPr>
              <a:spcAft>
                <a:spcPts val="400"/>
              </a:spcAft>
            </a:pPr>
            <a:r>
              <a:rPr sz="1500">
                <a:solidFill>
                  <a:srgbClr val="2B59C3"/>
                </a:solidFill>
              </a:rPr>
              <a:t>• </a:t>
            </a:r>
            <a:r>
              <a:rPr sz="1500" b="0">
                <a:solidFill>
                  <a:srgbClr val="1F2A37"/>
                </a:solidFill>
              </a:rPr>
              <a:t>LLM 실패는 예외로 터뜨리지 않고 fallback 으로 흡수하되 `status` 에 </a:t>
            </a:r>
            <a:r>
              <a:rPr sz="1500" b="1">
                <a:solidFill>
                  <a:srgbClr val="1F2A37"/>
                </a:solidFill>
              </a:rPr>
              <a:t>정직하게 표기</a:t>
            </a:r>
            <a:r>
              <a:rPr sz="1500" b="0">
                <a:solidFill>
                  <a:srgbClr val="1F2A37"/>
                </a:solidFill>
              </a:rPr>
              <a:t>한다.</a:t>
            </a:r>
          </a:p>
          <a:p>
            <a:pPr>
              <a:spcAft>
                <a:spcPts val="400"/>
              </a:spcAft>
            </a:pPr>
            <a:r>
              <a:rPr sz="1500">
                <a:solidFill>
                  <a:srgbClr val="2B59C3"/>
                </a:solidFill>
              </a:rPr>
              <a:t>• </a:t>
            </a:r>
            <a:r>
              <a:rPr sz="1500" b="0">
                <a:solidFill>
                  <a:srgbClr val="1F2A37"/>
                </a:solidFill>
              </a:rPr>
              <a:t>Reviewer 가 구조화 issue(`target_section_id`·`severity`)로 지목하면 해당 섹션만 재작성한다.</a:t>
            </a:r>
          </a:p>
          <a:p>
            <a:pPr>
              <a:spcAft>
                <a:spcPts val="400"/>
              </a:spcAft>
            </a:pPr>
            <a:r>
              <a:rPr sz="1500">
                <a:solidFill>
                  <a:srgbClr val="2B59C3"/>
                </a:solidFill>
              </a:rPr>
              <a:t>• </a:t>
            </a:r>
            <a:r>
              <a:rPr sz="1500" b="0">
                <a:solidFill>
                  <a:srgbClr val="1F2A37"/>
                </a:solidFill>
              </a:rPr>
              <a:t>재작성본이 초안보다 낮게 평가되면 </a:t>
            </a:r>
            <a:r>
              <a:rPr sz="1500" b="1">
                <a:solidFill>
                  <a:srgbClr val="1F2A37"/>
                </a:solidFill>
              </a:rPr>
              <a:t>초안을 되돌려 채택</a:t>
            </a:r>
            <a:r>
              <a:rPr sz="1500" b="0">
                <a:solidFill>
                  <a:srgbClr val="1F2A37"/>
                </a:solidFill>
              </a:rPr>
              <a:t>한다(`select_best`) — AI 응답을 그대로 쓰지 않는다는 가장 분명한 증거다.</a:t>
            </a:r>
          </a:p>
          <a:p>
            <a:pPr>
              <a:spcAft>
                <a:spcPts val="400"/>
              </a:spcAft>
            </a:pPr>
            <a:r>
              <a:rPr sz="1500">
                <a:solidFill>
                  <a:srgbClr val="2B59C3"/>
                </a:solidFill>
              </a:rPr>
              <a:t>• </a:t>
            </a:r>
            <a:r>
              <a:rPr sz="1500" b="0">
                <a:solidFill>
                  <a:srgbClr val="1F2A37"/>
                </a:solidFill>
              </a:rPr>
              <a:t>최종 문서의 주장은 수집한 근거와 대조 검증한다(`verify`, 주장별 `evidence_ids`).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부록 — 근거 출처</a:t>
            </a:r>
          </a:p>
        </p:txBody>
      </p:sp>
      <p:sp>
        <p:nvSpPr>
          <p:cNvPr id="3" name="TextBox 2"/>
          <p:cNvSpPr txBox="1"/>
          <p:nvPr/>
        </p:nvSpPr>
        <p:spPr>
          <a:xfrm>
            <a:off x="640080" y="1417320"/>
            <a:ext cx="10908792" cy="2642615"/>
          </a:xfrm>
          <a:prstGeom prst="rect">
            <a:avLst/>
          </a:prstGeom>
          <a:noFill/>
        </p:spPr>
        <p:txBody>
          <a:bodyPr wrap="square" anchor="t">
            <a:spAutoFit/>
          </a:bodyPr>
          <a:lstStyle/>
          <a:p>
            <a:pPr>
              <a:spcAft>
                <a:spcPts val="400"/>
              </a:spcAft>
            </a:pPr>
            <a:r>
              <a:rPr sz="1500" b="0">
                <a:solidFill>
                  <a:srgbClr val="1F2A37"/>
                </a:solidFill>
              </a:rPr>
              <a:t>&gt; </a:t>
            </a:r>
            <a:r>
              <a:rPr sz="1500" b="1">
                <a:solidFill>
                  <a:srgbClr val="1F2A37"/>
                </a:solidFill>
              </a:rPr>
              <a:t>검색 기준일: 2026-07-28</a:t>
            </a:r>
            <a:r>
              <a:rPr sz="1500" b="0">
                <a:solidFill>
                  <a:srgbClr val="1F2A37"/>
                </a:solidFill>
              </a:rPr>
              <a:t> · 아래 근거는 그 시점의 웹 검색 결과이며, 이후 변경된 내용은 반영되지 않는다.</a:t>
            </a:r>
          </a:p>
          <a:p>
            <a:pPr>
              <a:spcAft>
                <a:spcPts val="400"/>
              </a:spcAft>
            </a:pPr>
            <a:r>
              <a:rPr sz="1500" b="0">
                <a:solidFill>
                  <a:srgbClr val="1F2A37"/>
                </a:solidFill>
              </a:rPr>
              <a:t>&gt; 도메인 규칙으로 분류한 출처 유형에 따라 </a:t>
            </a:r>
            <a:r>
              <a:rPr sz="1500" b="1">
                <a:solidFill>
                  <a:srgbClr val="1F2A37"/>
                </a:solidFill>
              </a:rPr>
              <a:t>정부·공공 → 학술 → 언론 → 커뮤니티 순으로 정렬</a:t>
            </a:r>
            <a:r>
              <a:rPr sz="1500" b="0">
                <a:solidFill>
                  <a:srgbClr val="1F2A37"/>
                </a:solidFill>
              </a:rPr>
              <a:t>했다(우선 수집이 아니라 우선 정렬이다 — 검색은 공식기관 도메인을 따로 겨냥하지 않는다). 출처 유형은 </a:t>
            </a:r>
            <a:r>
              <a:rPr sz="1500" b="1">
                <a:solidFill>
                  <a:srgbClr val="1F2A37"/>
                </a:solidFill>
              </a:rPr>
              <a:t>권위성 힌트일 뿐 신뢰도 판정이 아니며</a:t>
            </a:r>
            <a:r>
              <a:rPr sz="1500" b="0">
                <a:solidFill>
                  <a:srgbClr val="1F2A37"/>
                </a:solidFill>
              </a:rPr>
              <a:t>, 기업 공식 사이트는 판단을 보류해 '기타'로 남는다.</a:t>
            </a:r>
          </a:p>
          <a:p>
            <a:pPr>
              <a:spcAft>
                <a:spcPts val="400"/>
              </a:spcAft>
            </a:pPr>
            <a:r>
              <a:rPr sz="1500" b="0">
                <a:solidFill>
                  <a:srgbClr val="1F2A37"/>
                </a:solidFill>
              </a:rPr>
              <a:t>&gt; ⚠️ 이 목록은 </a:t>
            </a:r>
            <a:r>
              <a:rPr sz="1500" b="1">
                <a:solidFill>
                  <a:srgbClr val="1F2A37"/>
                </a:solidFill>
              </a:rPr>
              <a:t>실행 전체에서 수집한 출처</a:t>
            </a:r>
            <a:r>
              <a:rPr sz="1500" b="0">
                <a:solidFill>
                  <a:srgbClr val="1F2A37"/>
                </a:solidFill>
              </a:rPr>
              <a:t>다 — KOSENA 항목별 근거 연결은 미구현이다.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부록 — 근거 출처 (계속)</a:t>
            </a:r>
          </a:p>
        </p:txBody>
      </p:sp>
      <p:graphicFrame>
        <p:nvGraphicFramePr>
          <p:cNvPr id="3" name="Table 2"/>
          <p:cNvGraphicFramePr>
            <a:graphicFrameLocks noGrp="1"/>
          </p:cNvGraphicFramePr>
          <p:nvPr/>
        </p:nvGraphicFramePr>
        <p:xfrm>
          <a:off x="640080" y="1417320"/>
          <a:ext cx="10908792" cy="6720840"/>
        </p:xfrm>
        <a:graphic>
          <a:graphicData uri="http://schemas.openxmlformats.org/drawingml/2006/table">
            <a:tbl>
              <a:tblPr firstRow="1" bandRow="1">
                <a:tableStyleId>{5C22544A-7EE6-4342-B048-85BDC9FD1C3A}</a:tableStyleId>
              </a:tblPr>
              <a:tblGrid>
                <a:gridCol w="1818132"/>
                <a:gridCol w="1818132"/>
                <a:gridCol w="1818132"/>
                <a:gridCol w="1818132"/>
                <a:gridCol w="1818132"/>
                <a:gridCol w="1818132"/>
              </a:tblGrid>
              <a:tr h="336042">
                <a:tc>
                  <a:txBody>
                    <a:bodyPr/>
                    <a:lstStyle/>
                    <a:p>
                      <a:pPr algn="ctr"/>
                      <a:r>
                        <a:rPr sz="1100" b="1">
                          <a:solidFill>
                            <a:srgbClr val="FFFFFF"/>
                          </a:solidFill>
                        </a:rPr>
                        <a:t>ID</a:t>
                      </a:r>
                    </a:p>
                  </a:txBody>
                  <a:tcPr>
                    <a:solidFill>
                      <a:srgbClr val="2B59C3"/>
                    </a:solidFill>
                  </a:tcPr>
                </a:tc>
                <a:tc>
                  <a:txBody>
                    <a:bodyPr/>
                    <a:lstStyle/>
                    <a:p>
                      <a:pPr algn="ctr"/>
                      <a:r>
                        <a:rPr sz="1100" b="1">
                          <a:solidFill>
                            <a:srgbClr val="FFFFFF"/>
                          </a:solidFill>
                        </a:rPr>
                        <a:t>유형</a:t>
                      </a:r>
                    </a:p>
                  </a:txBody>
                  <a:tcPr>
                    <a:solidFill>
                      <a:srgbClr val="2B59C3"/>
                    </a:solidFill>
                  </a:tcPr>
                </a:tc>
                <a:tc>
                  <a:txBody>
                    <a:bodyPr/>
                    <a:lstStyle/>
                    <a:p>
                      <a:pPr algn="ctr"/>
                      <a:r>
                        <a:rPr sz="1100" b="1">
                          <a:solidFill>
                            <a:srgbClr val="FFFFFF"/>
                          </a:solidFill>
                        </a:rPr>
                        <a:t>제목</a:t>
                      </a:r>
                    </a:p>
                  </a:txBody>
                  <a:tcPr>
                    <a:solidFill>
                      <a:srgbClr val="2B59C3"/>
                    </a:solidFill>
                  </a:tcPr>
                </a:tc>
                <a:tc>
                  <a:txBody>
                    <a:bodyPr/>
                    <a:lstStyle/>
                    <a:p>
                      <a:pPr algn="ctr"/>
                      <a:r>
                        <a:rPr sz="1100" b="1">
                          <a:solidFill>
                            <a:srgbClr val="FFFFFF"/>
                          </a:solidFill>
                        </a:rPr>
                        <a:t>발행일</a:t>
                      </a:r>
                    </a:p>
                  </a:txBody>
                  <a:tcPr>
                    <a:solidFill>
                      <a:srgbClr val="2B59C3"/>
                    </a:solidFill>
                  </a:tcPr>
                </a:tc>
                <a:tc>
                  <a:txBody>
                    <a:bodyPr/>
                    <a:lstStyle/>
                    <a:p>
                      <a:pPr algn="ctr"/>
                      <a:r>
                        <a:rPr sz="1100" b="1">
                          <a:solidFill>
                            <a:srgbClr val="FFFFFF"/>
                          </a:solidFill>
                        </a:rPr>
                        <a:t>조회일</a:t>
                      </a:r>
                    </a:p>
                  </a:txBody>
                  <a:tcPr>
                    <a:solidFill>
                      <a:srgbClr val="2B59C3"/>
                    </a:solidFill>
                  </a:tcPr>
                </a:tc>
                <a:tc>
                  <a:txBody>
                    <a:bodyPr/>
                    <a:lstStyle/>
                    <a:p>
                      <a:pPr algn="ctr"/>
                      <a:r>
                        <a:rPr sz="1100" b="1">
                          <a:solidFill>
                            <a:srgbClr val="FFFFFF"/>
                          </a:solidFill>
                        </a:rPr>
                        <a:t>인용된 주장 수</a:t>
                      </a:r>
                    </a:p>
                  </a:txBody>
                  <a:tcPr>
                    <a:solidFill>
                      <a:srgbClr val="2B59C3"/>
                    </a:solidFill>
                  </a:tcPr>
                </a:tc>
              </a:tr>
              <a:tr h="336042">
                <a:tc>
                  <a:txBody>
                    <a:bodyPr/>
                    <a:lstStyle/>
                    <a:p>
                      <a:r>
                        <a:rPr sz="1100" b="0">
                          <a:solidFill>
                            <a:srgbClr val="1F2A37"/>
                          </a:solidFill>
                        </a:rPr>
                        <a:t>ev4</a:t>
                      </a:r>
                    </a:p>
                  </a:txBody>
                  <a:tcPr>
                    <a:solidFill>
                      <a:srgbClr val="FFFFFF"/>
                    </a:solidFill>
                  </a:tcPr>
                </a:tc>
                <a:tc>
                  <a:txBody>
                    <a:bodyPr/>
                    <a:lstStyle/>
                    <a:p>
                      <a:r>
                        <a:rPr sz="1100" b="0">
                          <a:solidFill>
                            <a:srgbClr val="1F2A37"/>
                          </a:solidFill>
                        </a:rPr>
                        <a:t>정부·공공</a:t>
                      </a:r>
                    </a:p>
                  </a:txBody>
                  <a:tcPr>
                    <a:solidFill>
                      <a:srgbClr val="FFFFFF"/>
                    </a:solidFill>
                  </a:tcPr>
                </a:tc>
                <a:tc>
                  <a:txBody>
                    <a:bodyPr/>
                    <a:lstStyle/>
                    <a:p>
                      <a:r>
                        <a:rPr sz="1100" b="0">
                          <a:solidFill>
                            <a:srgbClr val="1F2A37"/>
                          </a:solidFill>
                        </a:rPr>
                        <a:t>대학생을 위한 AI 융합 진로교육 프로그램 개발 및 적용</a:t>
                      </a:r>
                    </a:p>
                  </a:txBody>
                  <a:tcPr>
                    <a:solidFill>
                      <a:srgbClr val="FFFFFF"/>
                    </a:solidFill>
                  </a:tcPr>
                </a:tc>
                <a:tc>
                  <a:txBody>
                    <a:bodyPr/>
                    <a:lstStyle/>
                    <a:p>
                      <a:r>
                        <a:rPr sz="1100" b="0">
                          <a:solidFill>
                            <a:srgbClr val="1F2A37"/>
                          </a:solidFill>
                        </a:rPr>
                        <a:t>미상</a:t>
                      </a:r>
                    </a:p>
                  </a:txBody>
                  <a:tcPr>
                    <a:solidFill>
                      <a:srgbClr val="FFFFFF"/>
                    </a:solidFill>
                  </a:tcPr>
                </a:tc>
                <a:tc>
                  <a:txBody>
                    <a:bodyPr/>
                    <a:lstStyle/>
                    <a:p>
                      <a:r>
                        <a:rPr sz="1100" b="0">
                          <a:solidFill>
                            <a:srgbClr val="1F2A37"/>
                          </a:solidFill>
                        </a:rPr>
                        <a:t>2026-07-28</a:t>
                      </a:r>
                    </a:p>
                  </a:txBody>
                  <a:tcPr>
                    <a:solidFill>
                      <a:srgbClr val="FFFFFF"/>
                    </a:solidFill>
                  </a:tcPr>
                </a:tc>
                <a:tc>
                  <a:txBody>
                    <a:bodyPr/>
                    <a:lstStyle/>
                    <a:p>
                      <a:r>
                        <a:rPr sz="1100" b="0">
                          <a:solidFill>
                            <a:srgbClr val="1F2A37"/>
                          </a:solidFill>
                        </a:rPr>
                        <a:t>0</a:t>
                      </a:r>
                    </a:p>
                  </a:txBody>
                  <a:tcPr>
                    <a:solidFill>
                      <a:srgbClr val="FFFFFF"/>
                    </a:solidFill>
                  </a:tcPr>
                </a:tc>
              </a:tr>
              <a:tr h="336042">
                <a:tc>
                  <a:txBody>
                    <a:bodyPr/>
                    <a:lstStyle/>
                    <a:p>
                      <a:r>
                        <a:rPr sz="1100" b="0">
                          <a:solidFill>
                            <a:srgbClr val="1F2A37"/>
                          </a:solidFill>
                        </a:rPr>
                        <a:t>ev7</a:t>
                      </a:r>
                    </a:p>
                  </a:txBody>
                  <a:tcPr>
                    <a:solidFill>
                      <a:srgbClr val="EEF2FB"/>
                    </a:solidFill>
                  </a:tcPr>
                </a:tc>
                <a:tc>
                  <a:txBody>
                    <a:bodyPr/>
                    <a:lstStyle/>
                    <a:p>
                      <a:r>
                        <a:rPr sz="1100" b="0">
                          <a:solidFill>
                            <a:srgbClr val="1F2A37"/>
                          </a:solidFill>
                        </a:rPr>
                        <a:t>정부·공공</a:t>
                      </a:r>
                    </a:p>
                  </a:txBody>
                  <a:tcPr>
                    <a:solidFill>
                      <a:srgbClr val="EEF2FB"/>
                    </a:solidFill>
                  </a:tcPr>
                </a:tc>
                <a:tc>
                  <a:txBody>
                    <a:bodyPr/>
                    <a:lstStyle/>
                    <a:p>
                      <a:r>
                        <a:rPr sz="1100" b="0">
                          <a:solidFill>
                            <a:srgbClr val="1F2A37"/>
                          </a:solidFill>
                        </a:rPr>
                        <a:t>대학생 진로설계 및 취업 지원을 위한 미래진로 빅데이터 정보 시스템 설계</a:t>
                      </a:r>
                    </a:p>
                  </a:txBody>
                  <a:tcPr>
                    <a:solidFill>
                      <a:srgbClr val="EEF2FB"/>
                    </a:solidFill>
                  </a:tcPr>
                </a:tc>
                <a:tc>
                  <a:txBody>
                    <a:bodyPr/>
                    <a:lstStyle/>
                    <a:p>
                      <a:r>
                        <a:rPr sz="1100" b="0">
                          <a:solidFill>
                            <a:srgbClr val="1F2A37"/>
                          </a:solidFill>
                        </a:rPr>
                        <a:t>미상</a:t>
                      </a:r>
                    </a:p>
                  </a:txBody>
                  <a:tcPr>
                    <a:solidFill>
                      <a:srgbClr val="EEF2FB"/>
                    </a:solidFill>
                  </a:tcPr>
                </a:tc>
                <a:tc>
                  <a:txBody>
                    <a:bodyPr/>
                    <a:lstStyle/>
                    <a:p>
                      <a:r>
                        <a:rPr sz="1100" b="0">
                          <a:solidFill>
                            <a:srgbClr val="1F2A37"/>
                          </a:solidFill>
                        </a:rPr>
                        <a:t>2026-07-28</a:t>
                      </a:r>
                    </a:p>
                  </a:txBody>
                  <a:tcPr>
                    <a:solidFill>
                      <a:srgbClr val="EEF2FB"/>
                    </a:solidFill>
                  </a:tcPr>
                </a:tc>
                <a:tc>
                  <a:txBody>
                    <a:bodyPr/>
                    <a:lstStyle/>
                    <a:p>
                      <a:r>
                        <a:rPr sz="1100" b="0">
                          <a:solidFill>
                            <a:srgbClr val="1F2A37"/>
                          </a:solidFill>
                        </a:rPr>
                        <a:t>0</a:t>
                      </a:r>
                    </a:p>
                  </a:txBody>
                  <a:tcPr>
                    <a:solidFill>
                      <a:srgbClr val="EEF2FB"/>
                    </a:solidFill>
                  </a:tcPr>
                </a:tc>
              </a:tr>
              <a:tr h="336042">
                <a:tc>
                  <a:txBody>
                    <a:bodyPr/>
                    <a:lstStyle/>
                    <a:p>
                      <a:r>
                        <a:rPr sz="1100" b="0">
                          <a:solidFill>
                            <a:srgbClr val="1F2A37"/>
                          </a:solidFill>
                        </a:rPr>
                        <a:t>ev18</a:t>
                      </a:r>
                    </a:p>
                  </a:txBody>
                  <a:tcPr>
                    <a:solidFill>
                      <a:srgbClr val="FFFFFF"/>
                    </a:solidFill>
                  </a:tcPr>
                </a:tc>
                <a:tc>
                  <a:txBody>
                    <a:bodyPr/>
                    <a:lstStyle/>
                    <a:p>
                      <a:r>
                        <a:rPr sz="1100" b="0">
                          <a:solidFill>
                            <a:srgbClr val="1F2A37"/>
                          </a:solidFill>
                        </a:rPr>
                        <a:t>정부·공공</a:t>
                      </a:r>
                    </a:p>
                  </a:txBody>
                  <a:tcPr>
                    <a:solidFill>
                      <a:srgbClr val="FFFFFF"/>
                    </a:solidFill>
                  </a:tcPr>
                </a:tc>
                <a:tc>
                  <a:txBody>
                    <a:bodyPr/>
                    <a:lstStyle/>
                    <a:p>
                      <a:r>
                        <a:rPr sz="1100" b="0">
                          <a:solidFill>
                            <a:srgbClr val="1F2A37"/>
                          </a:solidFill>
                        </a:rPr>
                        <a:t>서울런에서 AI 진로설계 받고 전문 상담까지…멘토링 3종 신설</a:t>
                      </a:r>
                    </a:p>
                  </a:txBody>
                  <a:tcPr>
                    <a:solidFill>
                      <a:srgbClr val="FFFFFF"/>
                    </a:solidFill>
                  </a:tcPr>
                </a:tc>
                <a:tc>
                  <a:txBody>
                    <a:bodyPr/>
                    <a:lstStyle/>
                    <a:p>
                      <a:r>
                        <a:rPr sz="1100" b="0">
                          <a:solidFill>
                            <a:srgbClr val="1F2A37"/>
                          </a:solidFill>
                        </a:rPr>
                        <a:t>Fri, 03 Apr 2026 00:00:00 GMT</a:t>
                      </a:r>
                    </a:p>
                  </a:txBody>
                  <a:tcPr>
                    <a:solidFill>
                      <a:srgbClr val="FFFFFF"/>
                    </a:solidFill>
                  </a:tcPr>
                </a:tc>
                <a:tc>
                  <a:txBody>
                    <a:bodyPr/>
                    <a:lstStyle/>
                    <a:p>
                      <a:r>
                        <a:rPr sz="1100" b="0">
                          <a:solidFill>
                            <a:srgbClr val="1F2A37"/>
                          </a:solidFill>
                        </a:rPr>
                        <a:t>2026-07-28</a:t>
                      </a:r>
                    </a:p>
                  </a:txBody>
                  <a:tcPr>
                    <a:solidFill>
                      <a:srgbClr val="FFFFFF"/>
                    </a:solidFill>
                  </a:tcPr>
                </a:tc>
                <a:tc>
                  <a:txBody>
                    <a:bodyPr/>
                    <a:lstStyle/>
                    <a:p>
                      <a:r>
                        <a:rPr sz="1100" b="0">
                          <a:solidFill>
                            <a:srgbClr val="1F2A37"/>
                          </a:solidFill>
                        </a:rPr>
                        <a:t>2</a:t>
                      </a:r>
                    </a:p>
                  </a:txBody>
                  <a:tcPr>
                    <a:solidFill>
                      <a:srgbClr val="FFFFFF"/>
                    </a:solidFill>
                  </a:tcPr>
                </a:tc>
              </a:tr>
              <a:tr h="336042">
                <a:tc>
                  <a:txBody>
                    <a:bodyPr/>
                    <a:lstStyle/>
                    <a:p>
                      <a:r>
                        <a:rPr sz="1100" b="0">
                          <a:solidFill>
                            <a:srgbClr val="1F2A37"/>
                          </a:solidFill>
                        </a:rPr>
                        <a:t>ev3</a:t>
                      </a:r>
                    </a:p>
                  </a:txBody>
                  <a:tcPr>
                    <a:solidFill>
                      <a:srgbClr val="EEF2FB"/>
                    </a:solidFill>
                  </a:tcPr>
                </a:tc>
                <a:tc>
                  <a:txBody>
                    <a:bodyPr/>
                    <a:lstStyle/>
                    <a:p>
                      <a:r>
                        <a:rPr sz="1100" b="0">
                          <a:solidFill>
                            <a:srgbClr val="1F2A37"/>
                          </a:solidFill>
                        </a:rPr>
                        <a:t>학술·연구</a:t>
                      </a:r>
                    </a:p>
                  </a:txBody>
                  <a:tcPr>
                    <a:solidFill>
                      <a:srgbClr val="EEF2FB"/>
                    </a:solidFill>
                  </a:tcPr>
                </a:tc>
                <a:tc>
                  <a:txBody>
                    <a:bodyPr/>
                    <a:lstStyle/>
                    <a:p>
                      <a:r>
                        <a:rPr sz="1100" b="0">
                          <a:solidFill>
                            <a:srgbClr val="1F2A37"/>
                          </a:solidFill>
                        </a:rPr>
                        <a:t>AI기반 맞춤형 전공·진로 탐색 서비스 「Young熊+」 새롭게 선보여 &lt; DKU ISSUE &lt; CAMPUS NEWS &lt; 기사본문 - DKU WEBZINE</a:t>
                      </a:r>
                    </a:p>
                  </a:txBody>
                  <a:tcPr>
                    <a:solidFill>
                      <a:srgbClr val="EEF2FB"/>
                    </a:solidFill>
                  </a:tcPr>
                </a:tc>
                <a:tc>
                  <a:txBody>
                    <a:bodyPr/>
                    <a:lstStyle/>
                    <a:p>
                      <a:r>
                        <a:rPr sz="1100" b="0">
                          <a:solidFill>
                            <a:srgbClr val="1F2A37"/>
                          </a:solidFill>
                        </a:rPr>
                        <a:t>미상</a:t>
                      </a:r>
                    </a:p>
                  </a:txBody>
                  <a:tcPr>
                    <a:solidFill>
                      <a:srgbClr val="EEF2FB"/>
                    </a:solidFill>
                  </a:tcPr>
                </a:tc>
                <a:tc>
                  <a:txBody>
                    <a:bodyPr/>
                    <a:lstStyle/>
                    <a:p>
                      <a:r>
                        <a:rPr sz="1100" b="0">
                          <a:solidFill>
                            <a:srgbClr val="1F2A37"/>
                          </a:solidFill>
                        </a:rPr>
                        <a:t>2026-07-28</a:t>
                      </a:r>
                    </a:p>
                  </a:txBody>
                  <a:tcPr>
                    <a:solidFill>
                      <a:srgbClr val="EEF2FB"/>
                    </a:solidFill>
                  </a:tcPr>
                </a:tc>
                <a:tc>
                  <a:txBody>
                    <a:bodyPr/>
                    <a:lstStyle/>
                    <a:p>
                      <a:r>
                        <a:rPr sz="1100" b="0">
                          <a:solidFill>
                            <a:srgbClr val="1F2A37"/>
                          </a:solidFill>
                        </a:rPr>
                        <a:t>0</a:t>
                      </a:r>
                    </a:p>
                  </a:txBody>
                  <a:tcPr>
                    <a:solidFill>
                      <a:srgbClr val="EEF2FB"/>
                    </a:solidFill>
                  </a:tcPr>
                </a:tc>
              </a:tr>
              <a:tr h="336042">
                <a:tc>
                  <a:txBody>
                    <a:bodyPr/>
                    <a:lstStyle/>
                    <a:p>
                      <a:r>
                        <a:rPr sz="1100" b="0">
                          <a:solidFill>
                            <a:srgbClr val="1F2A37"/>
                          </a:solidFill>
                        </a:rPr>
                        <a:t>ev5</a:t>
                      </a:r>
                    </a:p>
                  </a:txBody>
                  <a:tcPr>
                    <a:solidFill>
                      <a:srgbClr val="FFFFFF"/>
                    </a:solidFill>
                  </a:tcPr>
                </a:tc>
                <a:tc>
                  <a:txBody>
                    <a:bodyPr/>
                    <a:lstStyle/>
                    <a:p>
                      <a:r>
                        <a:rPr sz="1100" b="0">
                          <a:solidFill>
                            <a:srgbClr val="1F2A37"/>
                          </a:solidFill>
                        </a:rPr>
                        <a:t>학술·연구</a:t>
                      </a:r>
                    </a:p>
                  </a:txBody>
                  <a:tcPr>
                    <a:solidFill>
                      <a:srgbClr val="FFFFFF"/>
                    </a:solidFill>
                  </a:tcPr>
                </a:tc>
                <a:tc>
                  <a:txBody>
                    <a:bodyPr/>
                    <a:lstStyle/>
                    <a:p>
                      <a:r>
                        <a:rPr sz="1100" b="0">
                          <a:solidFill>
                            <a:srgbClr val="1F2A37"/>
                          </a:solidFill>
                        </a:rPr>
                        <a:t>머 리 말</a:t>
                      </a:r>
                    </a:p>
                  </a:txBody>
                  <a:tcPr>
                    <a:solidFill>
                      <a:srgbClr val="FFFFFF"/>
                    </a:solidFill>
                  </a:tcPr>
                </a:tc>
                <a:tc>
                  <a:txBody>
                    <a:bodyPr/>
                    <a:lstStyle/>
                    <a:p>
                      <a:r>
                        <a:rPr sz="1100" b="0">
                          <a:solidFill>
                            <a:srgbClr val="1F2A37"/>
                          </a:solidFill>
                        </a:rPr>
                        <a:t>미상</a:t>
                      </a:r>
                    </a:p>
                  </a:txBody>
                  <a:tcPr>
                    <a:solidFill>
                      <a:srgbClr val="FFFFFF"/>
                    </a:solidFill>
                  </a:tcPr>
                </a:tc>
                <a:tc>
                  <a:txBody>
                    <a:bodyPr/>
                    <a:lstStyle/>
                    <a:p>
                      <a:r>
                        <a:rPr sz="1100" b="0">
                          <a:solidFill>
                            <a:srgbClr val="1F2A37"/>
                          </a:solidFill>
                        </a:rPr>
                        <a:t>2026-07-28</a:t>
                      </a:r>
                    </a:p>
                  </a:txBody>
                  <a:tcPr>
                    <a:solidFill>
                      <a:srgbClr val="FFFFFF"/>
                    </a:solidFill>
                  </a:tcPr>
                </a:tc>
                <a:tc>
                  <a:txBody>
                    <a:bodyPr/>
                    <a:lstStyle/>
                    <a:p>
                      <a:r>
                        <a:rPr sz="1100" b="0">
                          <a:solidFill>
                            <a:srgbClr val="1F2A37"/>
                          </a:solidFill>
                        </a:rPr>
                        <a:t>0</a:t>
                      </a:r>
                    </a:p>
                  </a:txBody>
                  <a:tcPr>
                    <a:solidFill>
                      <a:srgbClr val="FFFFFF"/>
                    </a:solidFill>
                  </a:tcPr>
                </a:tc>
              </a:tr>
              <a:tr h="336042">
                <a:tc>
                  <a:txBody>
                    <a:bodyPr/>
                    <a:lstStyle/>
                    <a:p>
                      <a:r>
                        <a:rPr sz="1100" b="0">
                          <a:solidFill>
                            <a:srgbClr val="1F2A37"/>
                          </a:solidFill>
                        </a:rPr>
                        <a:t>ev10</a:t>
                      </a:r>
                    </a:p>
                  </a:txBody>
                  <a:tcPr>
                    <a:solidFill>
                      <a:srgbClr val="EEF2FB"/>
                    </a:solidFill>
                  </a:tcPr>
                </a:tc>
                <a:tc>
                  <a:txBody>
                    <a:bodyPr/>
                    <a:lstStyle/>
                    <a:p>
                      <a:r>
                        <a:rPr sz="1100" b="0">
                          <a:solidFill>
                            <a:srgbClr val="1F2A37"/>
                          </a:solidFill>
                        </a:rPr>
                        <a:t>학술·연구</a:t>
                      </a:r>
                    </a:p>
                  </a:txBody>
                  <a:tcPr>
                    <a:solidFill>
                      <a:srgbClr val="EEF2FB"/>
                    </a:solidFill>
                  </a:tcPr>
                </a:tc>
                <a:tc>
                  <a:txBody>
                    <a:bodyPr/>
                    <a:lstStyle/>
                    <a:p>
                      <a:r>
                        <a:rPr sz="1100" b="0">
                          <a:solidFill>
                            <a:srgbClr val="1F2A37"/>
                          </a:solidFill>
                        </a:rPr>
                        <a:t>대학생의 진로준비도가 초기 노동시장 성과에 미치는 영향 분석</a:t>
                      </a:r>
                    </a:p>
                  </a:txBody>
                  <a:tcPr>
                    <a:solidFill>
                      <a:srgbClr val="EEF2FB"/>
                    </a:solidFill>
                  </a:tcPr>
                </a:tc>
                <a:tc>
                  <a:txBody>
                    <a:bodyPr/>
                    <a:lstStyle/>
                    <a:p>
                      <a:r>
                        <a:rPr sz="1100" b="0">
                          <a:solidFill>
                            <a:srgbClr val="1F2A37"/>
                          </a:solidFill>
                        </a:rPr>
                        <a:t>미상</a:t>
                      </a:r>
                    </a:p>
                  </a:txBody>
                  <a:tcPr>
                    <a:solidFill>
                      <a:srgbClr val="EEF2FB"/>
                    </a:solidFill>
                  </a:tcPr>
                </a:tc>
                <a:tc>
                  <a:txBody>
                    <a:bodyPr/>
                    <a:lstStyle/>
                    <a:p>
                      <a:r>
                        <a:rPr sz="1100" b="0">
                          <a:solidFill>
                            <a:srgbClr val="1F2A37"/>
                          </a:solidFill>
                        </a:rPr>
                        <a:t>2026-07-28</a:t>
                      </a:r>
                    </a:p>
                  </a:txBody>
                  <a:tcPr>
                    <a:solidFill>
                      <a:srgbClr val="EEF2FB"/>
                    </a:solidFill>
                  </a:tcPr>
                </a:tc>
                <a:tc>
                  <a:txBody>
                    <a:bodyPr/>
                    <a:lstStyle/>
                    <a:p>
                      <a:r>
                        <a:rPr sz="1100" b="0">
                          <a:solidFill>
                            <a:srgbClr val="1F2A37"/>
                          </a:solidFill>
                        </a:rPr>
                        <a:t>0</a:t>
                      </a:r>
                    </a:p>
                  </a:txBody>
                  <a:tcPr>
                    <a:solidFill>
                      <a:srgbClr val="EEF2FB"/>
                    </a:solidFill>
                  </a:tcPr>
                </a:tc>
              </a:tr>
              <a:tr h="336042">
                <a:tc>
                  <a:txBody>
                    <a:bodyPr/>
                    <a:lstStyle/>
                    <a:p>
                      <a:r>
                        <a:rPr sz="1100" b="0">
                          <a:solidFill>
                            <a:srgbClr val="1F2A37"/>
                          </a:solidFill>
                        </a:rPr>
                        <a:t>ev16</a:t>
                      </a:r>
                    </a:p>
                  </a:txBody>
                  <a:tcPr>
                    <a:solidFill>
                      <a:srgbClr val="FFFFFF"/>
                    </a:solidFill>
                  </a:tcPr>
                </a:tc>
                <a:tc>
                  <a:txBody>
                    <a:bodyPr/>
                    <a:lstStyle/>
                    <a:p>
                      <a:r>
                        <a:rPr sz="1100" b="0">
                          <a:solidFill>
                            <a:srgbClr val="1F2A37"/>
                          </a:solidFill>
                        </a:rPr>
                        <a:t>학술·연구</a:t>
                      </a:r>
                    </a:p>
                  </a:txBody>
                  <a:tcPr>
                    <a:solidFill>
                      <a:srgbClr val="FFFFFF"/>
                    </a:solidFill>
                  </a:tcPr>
                </a:tc>
                <a:tc>
                  <a:txBody>
                    <a:bodyPr/>
                    <a:lstStyle/>
                    <a:p>
                      <a:r>
                        <a:rPr sz="1100" b="0">
                          <a:solidFill>
                            <a:srgbClr val="1F2A37"/>
                          </a:solidFill>
                        </a:rPr>
                        <a:t>보고서·자료</a:t>
                      </a:r>
                    </a:p>
                  </a:txBody>
                  <a:tcPr>
                    <a:solidFill>
                      <a:srgbClr val="FFFFFF"/>
                    </a:solidFill>
                  </a:tcPr>
                </a:tc>
                <a:tc>
                  <a:txBody>
                    <a:bodyPr/>
                    <a:lstStyle/>
                    <a:p>
                      <a:r>
                        <a:rPr sz="1100" b="0">
                          <a:solidFill>
                            <a:srgbClr val="1F2A37"/>
                          </a:solidFill>
                        </a:rPr>
                        <a:t>연구</a:t>
                      </a:r>
                    </a:p>
                  </a:txBody>
                  <a:tcPr>
                    <a:solidFill>
                      <a:srgbClr val="FFFFFF"/>
                    </a:solidFill>
                  </a:tcPr>
                </a:tc>
                <a:tc>
                  <a:txBody>
                    <a:bodyPr/>
                    <a:lstStyle/>
                    <a:p>
                      <a:r>
                        <a:rPr sz="1100" b="0">
                          <a:solidFill>
                            <a:srgbClr val="1F2A37"/>
                          </a:solidFill>
                        </a:rPr>
                        <a:t>한국직업능력연구원</a:t>
                      </a:r>
                    </a:p>
                  </a:txBody>
                  <a:tcPr>
                    <a:solidFill>
                      <a:srgbClr val="FFFFFF"/>
                    </a:solidFill>
                  </a:tcPr>
                </a:tc>
                <a:tc>
                  <a:txBody>
                    <a:bodyPr/>
                    <a:lstStyle/>
                    <a:p>
                      <a:r>
                        <a:rPr sz="1100" b="0">
                          <a:solidFill>
                            <a:srgbClr val="1F2A37"/>
                          </a:solidFill>
                        </a:rPr>
                        <a:t>미상</a:t>
                      </a:r>
                    </a:p>
                  </a:txBody>
                  <a:tcPr>
                    <a:solidFill>
                      <a:srgbClr val="FFFFFF"/>
                    </a:solidFill>
                  </a:tcPr>
                </a:tc>
              </a:tr>
              <a:tr h="336042">
                <a:tc>
                  <a:txBody>
                    <a:bodyPr/>
                    <a:lstStyle/>
                    <a:p>
                      <a:r>
                        <a:rPr sz="1100" b="0">
                          <a:solidFill>
                            <a:srgbClr val="1F2A37"/>
                          </a:solidFill>
                        </a:rPr>
                        <a:t>ev1</a:t>
                      </a:r>
                    </a:p>
                  </a:txBody>
                  <a:tcPr>
                    <a:solidFill>
                      <a:srgbClr val="EEF2FB"/>
                    </a:solidFill>
                  </a:tcPr>
                </a:tc>
                <a:tc>
                  <a:txBody>
                    <a:bodyPr/>
                    <a:lstStyle/>
                    <a:p>
                      <a:r>
                        <a:rPr sz="1100" b="0">
                          <a:solidFill>
                            <a:srgbClr val="1F2A37"/>
                          </a:solidFill>
                        </a:rPr>
                        <a:t>기타</a:t>
                      </a:r>
                    </a:p>
                  </a:txBody>
                  <a:tcPr>
                    <a:solidFill>
                      <a:srgbClr val="EEF2FB"/>
                    </a:solidFill>
                  </a:tcPr>
                </a:tc>
                <a:tc>
                  <a:txBody>
                    <a:bodyPr/>
                    <a:lstStyle/>
                    <a:p>
                      <a:r>
                        <a:rPr sz="1100" b="0">
                          <a:solidFill>
                            <a:srgbClr val="1F2A37"/>
                          </a:solidFill>
                        </a:rPr>
                        <a:t>Career Compass - AI 기반 진로 나침반</a:t>
                      </a:r>
                    </a:p>
                  </a:txBody>
                  <a:tcPr>
                    <a:solidFill>
                      <a:srgbClr val="EEF2FB"/>
                    </a:solidFill>
                  </a:tcPr>
                </a:tc>
                <a:tc>
                  <a:txBody>
                    <a:bodyPr/>
                    <a:lstStyle/>
                    <a:p>
                      <a:r>
                        <a:rPr sz="1100" b="0">
                          <a:solidFill>
                            <a:srgbClr val="1F2A37"/>
                          </a:solidFill>
                        </a:rPr>
                        <a:t>맞춤형 진로 상담</a:t>
                      </a:r>
                    </a:p>
                  </a:txBody>
                  <a:tcPr>
                    <a:solidFill>
                      <a:srgbClr val="EEF2FB"/>
                    </a:solidFill>
                  </a:tcPr>
                </a:tc>
                <a:tc>
                  <a:txBody>
                    <a:bodyPr/>
                    <a:lstStyle/>
                    <a:p>
                      <a:r>
                        <a:rPr sz="1100" b="0">
                          <a:solidFill>
                            <a:srgbClr val="1F2A37"/>
                          </a:solidFill>
                        </a:rPr>
                        <a:t>미상</a:t>
                      </a:r>
                    </a:p>
                  </a:txBody>
                  <a:tcPr>
                    <a:solidFill>
                      <a:srgbClr val="EEF2FB"/>
                    </a:solidFill>
                  </a:tcPr>
                </a:tc>
                <a:tc>
                  <a:txBody>
                    <a:bodyPr/>
                    <a:lstStyle/>
                    <a:p>
                      <a:r>
                        <a:rPr sz="1100" b="0">
                          <a:solidFill>
                            <a:srgbClr val="1F2A37"/>
                          </a:solidFill>
                        </a:rPr>
                        <a:t>2026-07-28</a:t>
                      </a:r>
                    </a:p>
                  </a:txBody>
                  <a:tcPr>
                    <a:solidFill>
                      <a:srgbClr val="EEF2FB"/>
                    </a:solidFill>
                  </a:tcPr>
                </a:tc>
              </a:tr>
              <a:tr h="336042">
                <a:tc>
                  <a:txBody>
                    <a:bodyPr/>
                    <a:lstStyle/>
                    <a:p>
                      <a:r>
                        <a:rPr sz="1100" b="0">
                          <a:solidFill>
                            <a:srgbClr val="1F2A37"/>
                          </a:solidFill>
                        </a:rPr>
                        <a:t>ev2</a:t>
                      </a:r>
                    </a:p>
                  </a:txBody>
                  <a:tcPr>
                    <a:solidFill>
                      <a:srgbClr val="FFFFFF"/>
                    </a:solidFill>
                  </a:tcPr>
                </a:tc>
                <a:tc>
                  <a:txBody>
                    <a:bodyPr/>
                    <a:lstStyle/>
                    <a:p>
                      <a:r>
                        <a:rPr sz="1100" b="0">
                          <a:solidFill>
                            <a:srgbClr val="1F2A37"/>
                          </a:solidFill>
                        </a:rPr>
                        <a:t>기타</a:t>
                      </a:r>
                    </a:p>
                  </a:txBody>
                  <a:tcPr>
                    <a:solidFill>
                      <a:srgbClr val="FFFFFF"/>
                    </a:solidFill>
                  </a:tcPr>
                </a:tc>
                <a:tc>
                  <a:txBody>
                    <a:bodyPr/>
                    <a:lstStyle/>
                    <a:p>
                      <a:r>
                        <a:rPr sz="1100" b="0">
                          <a:solidFill>
                            <a:srgbClr val="1F2A37"/>
                          </a:solidFill>
                        </a:rPr>
                        <a:t>인공지능 기반 진로/진학 서비스 프로토타입 개발 연구</a:t>
                      </a:r>
                    </a:p>
                  </a:txBody>
                  <a:tcPr>
                    <a:solidFill>
                      <a:srgbClr val="FFFFFF"/>
                    </a:solidFill>
                  </a:tcPr>
                </a:tc>
                <a:tc>
                  <a:txBody>
                    <a:bodyPr/>
                    <a:lstStyle/>
                    <a:p>
                      <a:r>
                        <a:rPr sz="1100" b="0">
                          <a:solidFill>
                            <a:srgbClr val="1F2A37"/>
                          </a:solidFill>
                        </a:rPr>
                        <a:t>미상</a:t>
                      </a:r>
                    </a:p>
                  </a:txBody>
                  <a:tcPr>
                    <a:solidFill>
                      <a:srgbClr val="FFFFFF"/>
                    </a:solidFill>
                  </a:tcPr>
                </a:tc>
                <a:tc>
                  <a:txBody>
                    <a:bodyPr/>
                    <a:lstStyle/>
                    <a:p>
                      <a:r>
                        <a:rPr sz="1100" b="0">
                          <a:solidFill>
                            <a:srgbClr val="1F2A37"/>
                          </a:solidFill>
                        </a:rPr>
                        <a:t>2026-07-28</a:t>
                      </a:r>
                    </a:p>
                  </a:txBody>
                  <a:tcPr>
                    <a:solidFill>
                      <a:srgbClr val="FFFFFF"/>
                    </a:solidFill>
                  </a:tcPr>
                </a:tc>
                <a:tc>
                  <a:txBody>
                    <a:bodyPr/>
                    <a:lstStyle/>
                    <a:p>
                      <a:r>
                        <a:rPr sz="1100" b="0">
                          <a:solidFill>
                            <a:srgbClr val="1F2A37"/>
                          </a:solidFill>
                        </a:rPr>
                        <a:t>0</a:t>
                      </a:r>
                    </a:p>
                  </a:txBody>
                  <a:tcPr>
                    <a:solidFill>
                      <a:srgbClr val="FFFFFF"/>
                    </a:solidFill>
                  </a:tcPr>
                </a:tc>
              </a:tr>
              <a:tr h="336042">
                <a:tc>
                  <a:txBody>
                    <a:bodyPr/>
                    <a:lstStyle/>
                    <a:p>
                      <a:r>
                        <a:rPr sz="1100" b="0">
                          <a:solidFill>
                            <a:srgbClr val="1F2A37"/>
                          </a:solidFill>
                        </a:rPr>
                        <a:t>ev6</a:t>
                      </a:r>
                    </a:p>
                  </a:txBody>
                  <a:tcPr>
                    <a:solidFill>
                      <a:srgbClr val="EEF2FB"/>
                    </a:solidFill>
                  </a:tcPr>
                </a:tc>
                <a:tc>
                  <a:txBody>
                    <a:bodyPr/>
                    <a:lstStyle/>
                    <a:p>
                      <a:r>
                        <a:rPr sz="1100" b="0">
                          <a:solidFill>
                            <a:srgbClr val="1F2A37"/>
                          </a:solidFill>
                        </a:rPr>
                        <a:t>기타</a:t>
                      </a:r>
                    </a:p>
                  </a:txBody>
                  <a:tcPr>
                    <a:solidFill>
                      <a:srgbClr val="EEF2FB"/>
                    </a:solidFill>
                  </a:tcPr>
                </a:tc>
                <a:tc>
                  <a:txBody>
                    <a:bodyPr/>
                    <a:lstStyle/>
                    <a:p>
                      <a:r>
                        <a:rPr sz="1100" b="0">
                          <a:solidFill>
                            <a:srgbClr val="1F2A37"/>
                          </a:solidFill>
                        </a:rPr>
                        <a:t>진로지도 플랫폼 시장 규모, 점유율</a:t>
                      </a:r>
                    </a:p>
                  </a:txBody>
                  <a:tcPr>
                    <a:solidFill>
                      <a:srgbClr val="EEF2FB"/>
                    </a:solidFill>
                  </a:tcPr>
                </a:tc>
                <a:tc>
                  <a:txBody>
                    <a:bodyPr/>
                    <a:lstStyle/>
                    <a:p>
                      <a:r>
                        <a:rPr sz="1100" b="0">
                          <a:solidFill>
                            <a:srgbClr val="1F2A37"/>
                          </a:solidFill>
                        </a:rPr>
                        <a:t>연구 [2035]</a:t>
                      </a:r>
                    </a:p>
                  </a:txBody>
                  <a:tcPr>
                    <a:solidFill>
                      <a:srgbClr val="EEF2FB"/>
                    </a:solidFill>
                  </a:tcPr>
                </a:tc>
                <a:tc>
                  <a:txBody>
                    <a:bodyPr/>
                    <a:lstStyle/>
                    <a:p>
                      <a:r>
                        <a:rPr sz="1100" b="0">
                          <a:solidFill>
                            <a:srgbClr val="1F2A37"/>
                          </a:solidFill>
                        </a:rPr>
                        <a:t>미상</a:t>
                      </a:r>
                    </a:p>
                  </a:txBody>
                  <a:tcPr>
                    <a:solidFill>
                      <a:srgbClr val="EEF2FB"/>
                    </a:solidFill>
                  </a:tcPr>
                </a:tc>
                <a:tc>
                  <a:txBody>
                    <a:bodyPr/>
                    <a:lstStyle/>
                    <a:p>
                      <a:r>
                        <a:rPr sz="1100" b="0">
                          <a:solidFill>
                            <a:srgbClr val="1F2A37"/>
                          </a:solidFill>
                        </a:rPr>
                        <a:t>2026-07-28</a:t>
                      </a:r>
                    </a:p>
                  </a:txBody>
                  <a:tcPr>
                    <a:solidFill>
                      <a:srgbClr val="EEF2FB"/>
                    </a:solidFill>
                  </a:tcPr>
                </a:tc>
              </a:tr>
              <a:tr h="336042">
                <a:tc>
                  <a:txBody>
                    <a:bodyPr/>
                    <a:lstStyle/>
                    <a:p>
                      <a:r>
                        <a:rPr sz="1100" b="0">
                          <a:solidFill>
                            <a:srgbClr val="1F2A37"/>
                          </a:solidFill>
                        </a:rPr>
                        <a:t>ev8</a:t>
                      </a:r>
                    </a:p>
                  </a:txBody>
                  <a:tcPr>
                    <a:solidFill>
                      <a:srgbClr val="FFFFFF"/>
                    </a:solidFill>
                  </a:tcPr>
                </a:tc>
                <a:tc>
                  <a:txBody>
                    <a:bodyPr/>
                    <a:lstStyle/>
                    <a:p>
                      <a:r>
                        <a:rPr sz="1100" b="0">
                          <a:solidFill>
                            <a:srgbClr val="1F2A37"/>
                          </a:solidFill>
                        </a:rPr>
                        <a:t>기타</a:t>
                      </a:r>
                    </a:p>
                  </a:txBody>
                  <a:tcPr>
                    <a:solidFill>
                      <a:srgbClr val="FFFFFF"/>
                    </a:solidFill>
                  </a:tcPr>
                </a:tc>
                <a:tc>
                  <a:txBody>
                    <a:bodyPr/>
                    <a:lstStyle/>
                    <a:p>
                      <a:r>
                        <a:rPr sz="1100" b="0">
                          <a:solidFill>
                            <a:srgbClr val="1F2A37"/>
                          </a:solidFill>
                        </a:rPr>
                        <a:t>대학생의 진로역량 개발을 위한 교육 요구도 분석</a:t>
                      </a:r>
                    </a:p>
                  </a:txBody>
                  <a:tcPr>
                    <a:solidFill>
                      <a:srgbClr val="FFFFFF"/>
                    </a:solidFill>
                  </a:tcPr>
                </a:tc>
                <a:tc>
                  <a:txBody>
                    <a:bodyPr/>
                    <a:lstStyle/>
                    <a:p>
                      <a:r>
                        <a:rPr sz="1100" b="0">
                          <a:solidFill>
                            <a:srgbClr val="1F2A37"/>
                          </a:solidFill>
                        </a:rPr>
                        <a:t>미상</a:t>
                      </a:r>
                    </a:p>
                  </a:txBody>
                  <a:tcPr>
                    <a:solidFill>
                      <a:srgbClr val="FFFFFF"/>
                    </a:solidFill>
                  </a:tcPr>
                </a:tc>
                <a:tc>
                  <a:txBody>
                    <a:bodyPr/>
                    <a:lstStyle/>
                    <a:p>
                      <a:r>
                        <a:rPr sz="1100" b="0">
                          <a:solidFill>
                            <a:srgbClr val="1F2A37"/>
                          </a:solidFill>
                        </a:rPr>
                        <a:t>2026-07-28</a:t>
                      </a:r>
                    </a:p>
                  </a:txBody>
                  <a:tcPr>
                    <a:solidFill>
                      <a:srgbClr val="FFFFFF"/>
                    </a:solidFill>
                  </a:tcPr>
                </a:tc>
                <a:tc>
                  <a:txBody>
                    <a:bodyPr/>
                    <a:lstStyle/>
                    <a:p>
                      <a:r>
                        <a:rPr sz="1100" b="0">
                          <a:solidFill>
                            <a:srgbClr val="1F2A37"/>
                          </a:solidFill>
                        </a:rPr>
                        <a:t>0</a:t>
                      </a:r>
                    </a:p>
                  </a:txBody>
                  <a:tcPr>
                    <a:solidFill>
                      <a:srgbClr val="FFFFFF"/>
                    </a:solidFill>
                  </a:tcPr>
                </a:tc>
              </a:tr>
              <a:tr h="336042">
                <a:tc>
                  <a:txBody>
                    <a:bodyPr/>
                    <a:lstStyle/>
                    <a:p>
                      <a:r>
                        <a:rPr sz="1100" b="0">
                          <a:solidFill>
                            <a:srgbClr val="1F2A37"/>
                          </a:solidFill>
                        </a:rPr>
                        <a:t>ev9</a:t>
                      </a:r>
                    </a:p>
                  </a:txBody>
                  <a:tcPr>
                    <a:solidFill>
                      <a:srgbClr val="EEF2FB"/>
                    </a:solidFill>
                  </a:tcPr>
                </a:tc>
                <a:tc>
                  <a:txBody>
                    <a:bodyPr/>
                    <a:lstStyle/>
                    <a:p>
                      <a:r>
                        <a:rPr sz="1100" b="0">
                          <a:solidFill>
                            <a:srgbClr val="1F2A37"/>
                          </a:solidFill>
                        </a:rPr>
                        <a:t>기타</a:t>
                      </a:r>
                    </a:p>
                  </a:txBody>
                  <a:tcPr>
                    <a:solidFill>
                      <a:srgbClr val="EEF2FB"/>
                    </a:solidFill>
                  </a:tcPr>
                </a:tc>
                <a:tc>
                  <a:txBody>
                    <a:bodyPr/>
                    <a:lstStyle/>
                    <a:p>
                      <a:r>
                        <a:rPr sz="1100" b="0">
                          <a:solidFill>
                            <a:srgbClr val="1F2A37"/>
                          </a:solidFill>
                        </a:rPr>
                        <a:t>미래사회와 진로설계</a:t>
                      </a:r>
                    </a:p>
                  </a:txBody>
                  <a:tcPr>
                    <a:solidFill>
                      <a:srgbClr val="EEF2FB"/>
                    </a:solidFill>
                  </a:tcPr>
                </a:tc>
                <a:tc>
                  <a:txBody>
                    <a:bodyPr/>
                    <a:lstStyle/>
                    <a:p>
                      <a:r>
                        <a:rPr sz="1100" b="0">
                          <a:solidFill>
                            <a:srgbClr val="1F2A37"/>
                          </a:solidFill>
                        </a:rPr>
                        <a:t>미상</a:t>
                      </a:r>
                    </a:p>
                  </a:txBody>
                  <a:tcPr>
                    <a:solidFill>
                      <a:srgbClr val="EEF2FB"/>
                    </a:solidFill>
                  </a:tcPr>
                </a:tc>
                <a:tc>
                  <a:txBody>
                    <a:bodyPr/>
                    <a:lstStyle/>
                    <a:p>
                      <a:r>
                        <a:rPr sz="1100" b="0">
                          <a:solidFill>
                            <a:srgbClr val="1F2A37"/>
                          </a:solidFill>
                        </a:rPr>
                        <a:t>2026-07-28</a:t>
                      </a:r>
                    </a:p>
                  </a:txBody>
                  <a:tcPr>
                    <a:solidFill>
                      <a:srgbClr val="EEF2FB"/>
                    </a:solidFill>
                  </a:tcPr>
                </a:tc>
                <a:tc>
                  <a:txBody>
                    <a:bodyPr/>
                    <a:lstStyle/>
                    <a:p>
                      <a:r>
                        <a:rPr sz="1100" b="0">
                          <a:solidFill>
                            <a:srgbClr val="1F2A37"/>
                          </a:solidFill>
                        </a:rPr>
                        <a:t>0</a:t>
                      </a:r>
                    </a:p>
                  </a:txBody>
                  <a:tcPr>
                    <a:solidFill>
                      <a:srgbClr val="EEF2FB"/>
                    </a:solidFill>
                  </a:tcPr>
                </a:tc>
              </a:tr>
              <a:tr h="336042">
                <a:tc>
                  <a:txBody>
                    <a:bodyPr/>
                    <a:lstStyle/>
                    <a:p>
                      <a:r>
                        <a:rPr sz="1100" b="0">
                          <a:solidFill>
                            <a:srgbClr val="1F2A37"/>
                          </a:solidFill>
                        </a:rPr>
                        <a:t>ev11</a:t>
                      </a:r>
                    </a:p>
                  </a:txBody>
                  <a:tcPr>
                    <a:solidFill>
                      <a:srgbClr val="FFFFFF"/>
                    </a:solidFill>
                  </a:tcPr>
                </a:tc>
                <a:tc>
                  <a:txBody>
                    <a:bodyPr/>
                    <a:lstStyle/>
                    <a:p>
                      <a:r>
                        <a:rPr sz="1100" b="0">
                          <a:solidFill>
                            <a:srgbClr val="1F2A37"/>
                          </a:solidFill>
                        </a:rPr>
                        <a:t>기타</a:t>
                      </a:r>
                    </a:p>
                  </a:txBody>
                  <a:tcPr>
                    <a:solidFill>
                      <a:srgbClr val="FFFFFF"/>
                    </a:solidFill>
                  </a:tcPr>
                </a:tc>
                <a:tc>
                  <a:txBody>
                    <a:bodyPr/>
                    <a:lstStyle/>
                    <a:p>
                      <a:r>
                        <a:rPr sz="1100" b="0">
                          <a:solidFill>
                            <a:srgbClr val="1F2A37"/>
                          </a:solidFill>
                        </a:rPr>
                        <a:t>AI 진로 검사 서비스</a:t>
                      </a:r>
                    </a:p>
                  </a:txBody>
                  <a:tcPr>
                    <a:solidFill>
                      <a:srgbClr val="FFFFFF"/>
                    </a:solidFill>
                  </a:tcPr>
                </a:tc>
                <a:tc>
                  <a:txBody>
                    <a:bodyPr/>
                    <a:lstStyle/>
                    <a:p>
                      <a:r>
                        <a:rPr sz="1100" b="0">
                          <a:solidFill>
                            <a:srgbClr val="1F2A37"/>
                          </a:solidFill>
                        </a:rPr>
                        <a:t>미상</a:t>
                      </a:r>
                    </a:p>
                  </a:txBody>
                  <a:tcPr>
                    <a:solidFill>
                      <a:srgbClr val="FFFFFF"/>
                    </a:solidFill>
                  </a:tcPr>
                </a:tc>
                <a:tc>
                  <a:txBody>
                    <a:bodyPr/>
                    <a:lstStyle/>
                    <a:p>
                      <a:r>
                        <a:rPr sz="1100" b="0">
                          <a:solidFill>
                            <a:srgbClr val="1F2A37"/>
                          </a:solidFill>
                        </a:rPr>
                        <a:t>2026-07-28</a:t>
                      </a:r>
                    </a:p>
                  </a:txBody>
                  <a:tcPr>
                    <a:solidFill>
                      <a:srgbClr val="FFFFFF"/>
                    </a:solidFill>
                  </a:tcPr>
                </a:tc>
                <a:tc>
                  <a:txBody>
                    <a:bodyPr/>
                    <a:lstStyle/>
                    <a:p>
                      <a:r>
                        <a:rPr sz="1100" b="0">
                          <a:solidFill>
                            <a:srgbClr val="1F2A37"/>
                          </a:solidFill>
                        </a:rPr>
                        <a:t>0</a:t>
                      </a:r>
                    </a:p>
                  </a:txBody>
                  <a:tcPr>
                    <a:solidFill>
                      <a:srgbClr val="FFFFFF"/>
                    </a:solidFill>
                  </a:tcPr>
                </a:tc>
              </a:tr>
              <a:tr h="336042">
                <a:tc>
                  <a:txBody>
                    <a:bodyPr/>
                    <a:lstStyle/>
                    <a:p>
                      <a:r>
                        <a:rPr sz="1100" b="0">
                          <a:solidFill>
                            <a:srgbClr val="1F2A37"/>
                          </a:solidFill>
                        </a:rPr>
                        <a:t>ev12</a:t>
                      </a:r>
                    </a:p>
                  </a:txBody>
                  <a:tcPr>
                    <a:solidFill>
                      <a:srgbClr val="EEF2FB"/>
                    </a:solidFill>
                  </a:tcPr>
                </a:tc>
                <a:tc>
                  <a:txBody>
                    <a:bodyPr/>
                    <a:lstStyle/>
                    <a:p>
                      <a:r>
                        <a:rPr sz="1100" b="0">
                          <a:solidFill>
                            <a:srgbClr val="1F2A37"/>
                          </a:solidFill>
                        </a:rPr>
                        <a:t>기타</a:t>
                      </a:r>
                    </a:p>
                  </a:txBody>
                  <a:tcPr>
                    <a:solidFill>
                      <a:srgbClr val="EEF2FB"/>
                    </a:solidFill>
                  </a:tcPr>
                </a:tc>
                <a:tc>
                  <a:txBody>
                    <a:bodyPr/>
                    <a:lstStyle/>
                    <a:p>
                      <a:r>
                        <a:rPr sz="1100" b="0">
                          <a:solidFill>
                            <a:srgbClr val="1F2A37"/>
                          </a:solidFill>
                        </a:rPr>
                        <a:t>AI 에이전트 기반 보건의료정보 전공 도메인 특화 맞춤형 진로 취업 지원 ...</a:t>
                      </a:r>
                    </a:p>
                  </a:txBody>
                  <a:tcPr>
                    <a:solidFill>
                      <a:srgbClr val="EEF2FB"/>
                    </a:solidFill>
                  </a:tcPr>
                </a:tc>
                <a:tc>
                  <a:txBody>
                    <a:bodyPr/>
                    <a:lstStyle/>
                    <a:p>
                      <a:r>
                        <a:rPr sz="1100" b="0">
                          <a:solidFill>
                            <a:srgbClr val="1F2A37"/>
                          </a:solidFill>
                        </a:rPr>
                        <a:t>미상</a:t>
                      </a:r>
                    </a:p>
                  </a:txBody>
                  <a:tcPr>
                    <a:solidFill>
                      <a:srgbClr val="EEF2FB"/>
                    </a:solidFill>
                  </a:tcPr>
                </a:tc>
                <a:tc>
                  <a:txBody>
                    <a:bodyPr/>
                    <a:lstStyle/>
                    <a:p>
                      <a:r>
                        <a:rPr sz="1100" b="0">
                          <a:solidFill>
                            <a:srgbClr val="1F2A37"/>
                          </a:solidFill>
                        </a:rPr>
                        <a:t>2026-07-28</a:t>
                      </a:r>
                    </a:p>
                  </a:txBody>
                  <a:tcPr>
                    <a:solidFill>
                      <a:srgbClr val="EEF2FB"/>
                    </a:solidFill>
                  </a:tcPr>
                </a:tc>
                <a:tc>
                  <a:txBody>
                    <a:bodyPr/>
                    <a:lstStyle/>
                    <a:p>
                      <a:r>
                        <a:rPr sz="1100" b="0">
                          <a:solidFill>
                            <a:srgbClr val="1F2A37"/>
                          </a:solidFill>
                        </a:rPr>
                        <a:t>0</a:t>
                      </a:r>
                    </a:p>
                  </a:txBody>
                  <a:tcPr>
                    <a:solidFill>
                      <a:srgbClr val="EEF2FB"/>
                    </a:solidFill>
                  </a:tcPr>
                </a:tc>
              </a:tr>
              <a:tr h="336042">
                <a:tc>
                  <a:txBody>
                    <a:bodyPr/>
                    <a:lstStyle/>
                    <a:p>
                      <a:r>
                        <a:rPr sz="1100" b="0">
                          <a:solidFill>
                            <a:srgbClr val="1F2A37"/>
                          </a:solidFill>
                        </a:rPr>
                        <a:t>ev13</a:t>
                      </a:r>
                    </a:p>
                  </a:txBody>
                  <a:tcPr>
                    <a:solidFill>
                      <a:srgbClr val="FFFFFF"/>
                    </a:solidFill>
                  </a:tcPr>
                </a:tc>
                <a:tc>
                  <a:txBody>
                    <a:bodyPr/>
                    <a:lstStyle/>
                    <a:p>
                      <a:r>
                        <a:rPr sz="1100" b="0">
                          <a:solidFill>
                            <a:srgbClr val="1F2A37"/>
                          </a:solidFill>
                        </a:rPr>
                        <a:t>기타</a:t>
                      </a:r>
                    </a:p>
                  </a:txBody>
                  <a:tcPr>
                    <a:solidFill>
                      <a:srgbClr val="FFFFFF"/>
                    </a:solidFill>
                  </a:tcPr>
                </a:tc>
                <a:tc>
                  <a:txBody>
                    <a:bodyPr/>
                    <a:lstStyle/>
                    <a:p>
                      <a:r>
                        <a:rPr sz="1100" b="0">
                          <a:solidFill>
                            <a:srgbClr val="1F2A37"/>
                          </a:solidFill>
                        </a:rPr>
                        <a:t>[돈 버는 설문] “10명 중 7명은 사용 중” AI 서비스 일상 필수 파트너 됐다</a:t>
                      </a:r>
                    </a:p>
                  </a:txBody>
                  <a:tcPr>
                    <a:solidFill>
                      <a:srgbClr val="FFFFFF"/>
                    </a:solidFill>
                  </a:tcPr>
                </a:tc>
                <a:tc>
                  <a:txBody>
                    <a:bodyPr/>
                    <a:lstStyle/>
                    <a:p>
                      <a:r>
                        <a:rPr sz="1100" b="0">
                          <a:solidFill>
                            <a:srgbClr val="1F2A37"/>
                          </a:solidFill>
                        </a:rPr>
                        <a:t>미상</a:t>
                      </a:r>
                    </a:p>
                  </a:txBody>
                  <a:tcPr>
                    <a:solidFill>
                      <a:srgbClr val="FFFFFF"/>
                    </a:solidFill>
                  </a:tcPr>
                </a:tc>
                <a:tc>
                  <a:txBody>
                    <a:bodyPr/>
                    <a:lstStyle/>
                    <a:p>
                      <a:r>
                        <a:rPr sz="1100" b="0">
                          <a:solidFill>
                            <a:srgbClr val="1F2A37"/>
                          </a:solidFill>
                        </a:rPr>
                        <a:t>2026-07-28</a:t>
                      </a:r>
                    </a:p>
                  </a:txBody>
                  <a:tcPr>
                    <a:solidFill>
                      <a:srgbClr val="FFFFFF"/>
                    </a:solidFill>
                  </a:tcPr>
                </a:tc>
                <a:tc>
                  <a:txBody>
                    <a:bodyPr/>
                    <a:lstStyle/>
                    <a:p>
                      <a:r>
                        <a:rPr sz="1100" b="0">
                          <a:solidFill>
                            <a:srgbClr val="1F2A37"/>
                          </a:solidFill>
                        </a:rPr>
                        <a:t>0</a:t>
                      </a:r>
                    </a:p>
                  </a:txBody>
                  <a:tcPr>
                    <a:solidFill>
                      <a:srgbClr val="FFFFFF"/>
                    </a:solidFill>
                  </a:tcPr>
                </a:tc>
              </a:tr>
              <a:tr h="336042">
                <a:tc>
                  <a:txBody>
                    <a:bodyPr/>
                    <a:lstStyle/>
                    <a:p>
                      <a:r>
                        <a:rPr sz="1100" b="0">
                          <a:solidFill>
                            <a:srgbClr val="1F2A37"/>
                          </a:solidFill>
                        </a:rPr>
                        <a:t>ev14</a:t>
                      </a:r>
                    </a:p>
                  </a:txBody>
                  <a:tcPr>
                    <a:solidFill>
                      <a:srgbClr val="EEF2FB"/>
                    </a:solidFill>
                  </a:tcPr>
                </a:tc>
                <a:tc>
                  <a:txBody>
                    <a:bodyPr/>
                    <a:lstStyle/>
                    <a:p>
                      <a:r>
                        <a:rPr sz="1100" b="0">
                          <a:solidFill>
                            <a:srgbClr val="1F2A37"/>
                          </a:solidFill>
                        </a:rPr>
                        <a:t>기타</a:t>
                      </a:r>
                    </a:p>
                  </a:txBody>
                  <a:tcPr>
                    <a:solidFill>
                      <a:srgbClr val="EEF2FB"/>
                    </a:solidFill>
                  </a:tcPr>
                </a:tc>
                <a:tc>
                  <a:txBody>
                    <a:bodyPr/>
                    <a:lstStyle/>
                    <a:p>
                      <a:r>
                        <a:rPr sz="1100" b="0">
                          <a:solidFill>
                            <a:srgbClr val="1F2A37"/>
                          </a:solidFill>
                        </a:rPr>
                        <a:t>[AI가 바꾸는 진로 설계]① AI로 발견하는 숨겨진 잠재력, 학생 ...</a:t>
                      </a:r>
                    </a:p>
                  </a:txBody>
                  <a:tcPr>
                    <a:solidFill>
                      <a:srgbClr val="EEF2FB"/>
                    </a:solidFill>
                  </a:tcPr>
                </a:tc>
                <a:tc>
                  <a:txBody>
                    <a:bodyPr/>
                    <a:lstStyle/>
                    <a:p>
                      <a:r>
                        <a:rPr sz="1100" b="0">
                          <a:solidFill>
                            <a:srgbClr val="1F2A37"/>
                          </a:solidFill>
                        </a:rPr>
                        <a:t>미상</a:t>
                      </a:r>
                    </a:p>
                  </a:txBody>
                  <a:tcPr>
                    <a:solidFill>
                      <a:srgbClr val="EEF2FB"/>
                    </a:solidFill>
                  </a:tcPr>
                </a:tc>
                <a:tc>
                  <a:txBody>
                    <a:bodyPr/>
                    <a:lstStyle/>
                    <a:p>
                      <a:r>
                        <a:rPr sz="1100" b="0">
                          <a:solidFill>
                            <a:srgbClr val="1F2A37"/>
                          </a:solidFill>
                        </a:rPr>
                        <a:t>2026-07-28</a:t>
                      </a:r>
                    </a:p>
                  </a:txBody>
                  <a:tcPr>
                    <a:solidFill>
                      <a:srgbClr val="EEF2FB"/>
                    </a:solidFill>
                  </a:tcPr>
                </a:tc>
                <a:tc>
                  <a:txBody>
                    <a:bodyPr/>
                    <a:lstStyle/>
                    <a:p>
                      <a:r>
                        <a:rPr sz="1100" b="0">
                          <a:solidFill>
                            <a:srgbClr val="1F2A37"/>
                          </a:solidFill>
                        </a:rPr>
                        <a:t>0</a:t>
                      </a:r>
                    </a:p>
                  </a:txBody>
                  <a:tcPr>
                    <a:solidFill>
                      <a:srgbClr val="EEF2FB"/>
                    </a:solidFill>
                  </a:tcPr>
                </a:tc>
              </a:tr>
              <a:tr h="336042">
                <a:tc>
                  <a:txBody>
                    <a:bodyPr/>
                    <a:lstStyle/>
                    <a:p>
                      <a:r>
                        <a:rPr sz="1100" b="0">
                          <a:solidFill>
                            <a:srgbClr val="1F2A37"/>
                          </a:solidFill>
                        </a:rPr>
                        <a:t>ev15</a:t>
                      </a:r>
                    </a:p>
                  </a:txBody>
                  <a:tcPr>
                    <a:solidFill>
                      <a:srgbClr val="FFFFFF"/>
                    </a:solidFill>
                  </a:tcPr>
                </a:tc>
                <a:tc>
                  <a:txBody>
                    <a:bodyPr/>
                    <a:lstStyle/>
                    <a:p>
                      <a:r>
                        <a:rPr sz="1100" b="0">
                          <a:solidFill>
                            <a:srgbClr val="1F2A37"/>
                          </a:solidFill>
                        </a:rPr>
                        <a:t>기타</a:t>
                      </a:r>
                    </a:p>
                  </a:txBody>
                  <a:tcPr>
                    <a:solidFill>
                      <a:srgbClr val="FFFFFF"/>
                    </a:solidFill>
                  </a:tcPr>
                </a:tc>
                <a:tc>
                  <a:txBody>
                    <a:bodyPr/>
                    <a:lstStyle/>
                    <a:p>
                      <a:r>
                        <a:rPr sz="1100" b="0">
                          <a:solidFill>
                            <a:srgbClr val="1F2A37"/>
                          </a:solidFill>
                        </a:rPr>
                        <a:t>일상 속에 자리잡은 AI, 소비자들의 만족도와 신뢰도는 부정적 - 픽플리 블로그: 소비자 데이터 트렌드 리포트 &amp; 데이터 활용 팁</a:t>
                      </a:r>
                    </a:p>
                  </a:txBody>
                  <a:tcPr>
                    <a:solidFill>
                      <a:srgbClr val="FFFFFF"/>
                    </a:solidFill>
                  </a:tcPr>
                </a:tc>
                <a:tc>
                  <a:txBody>
                    <a:bodyPr/>
                    <a:lstStyle/>
                    <a:p>
                      <a:r>
                        <a:rPr sz="1100" b="0">
                          <a:solidFill>
                            <a:srgbClr val="1F2A37"/>
                          </a:solidFill>
                        </a:rPr>
                        <a:t>미상</a:t>
                      </a:r>
                    </a:p>
                  </a:txBody>
                  <a:tcPr>
                    <a:solidFill>
                      <a:srgbClr val="FFFFFF"/>
                    </a:solidFill>
                  </a:tcPr>
                </a:tc>
                <a:tc>
                  <a:txBody>
                    <a:bodyPr/>
                    <a:lstStyle/>
                    <a:p>
                      <a:r>
                        <a:rPr sz="1100" b="0">
                          <a:solidFill>
                            <a:srgbClr val="1F2A37"/>
                          </a:solidFill>
                        </a:rPr>
                        <a:t>2026-07-28</a:t>
                      </a:r>
                    </a:p>
                  </a:txBody>
                  <a:tcPr>
                    <a:solidFill>
                      <a:srgbClr val="FFFFFF"/>
                    </a:solidFill>
                  </a:tcPr>
                </a:tc>
                <a:tc>
                  <a:txBody>
                    <a:bodyPr/>
                    <a:lstStyle/>
                    <a:p>
                      <a:r>
                        <a:rPr sz="1100" b="0">
                          <a:solidFill>
                            <a:srgbClr val="1F2A37"/>
                          </a:solidFill>
                        </a:rPr>
                        <a:t>0</a:t>
                      </a:r>
                    </a:p>
                  </a:txBody>
                  <a:tcPr>
                    <a:solidFill>
                      <a:srgbClr val="FFFFFF"/>
                    </a:solidFill>
                  </a:tcPr>
                </a:tc>
              </a:tr>
              <a:tr h="336042">
                <a:tc>
                  <a:txBody>
                    <a:bodyPr/>
                    <a:lstStyle/>
                    <a:p>
                      <a:r>
                        <a:rPr sz="1100" b="0">
                          <a:solidFill>
                            <a:srgbClr val="1F2A37"/>
                          </a:solidFill>
                        </a:rPr>
                        <a:t>ev17</a:t>
                      </a:r>
                    </a:p>
                  </a:txBody>
                  <a:tcPr>
                    <a:solidFill>
                      <a:srgbClr val="EEF2FB"/>
                    </a:solidFill>
                  </a:tcPr>
                </a:tc>
                <a:tc>
                  <a:txBody>
                    <a:bodyPr/>
                    <a:lstStyle/>
                    <a:p>
                      <a:r>
                        <a:rPr sz="1100" b="0">
                          <a:solidFill>
                            <a:srgbClr val="1F2A37"/>
                          </a:solidFill>
                        </a:rPr>
                        <a:t>기타</a:t>
                      </a:r>
                    </a:p>
                  </a:txBody>
                  <a:tcPr>
                    <a:solidFill>
                      <a:srgbClr val="EEF2FB"/>
                    </a:solidFill>
                  </a:tcPr>
                </a:tc>
                <a:tc>
                  <a:txBody>
                    <a:bodyPr/>
                    <a:lstStyle/>
                    <a:p>
                      <a:r>
                        <a:rPr sz="1100" b="0">
                          <a:solidFill>
                            <a:srgbClr val="1F2A37"/>
                          </a:solidFill>
                        </a:rPr>
                        <a:t>생성형 AI, 교육혁신에서 취업지원·사회문제 해결까지… 대학의 미래를 다시 설계하다 &lt; 리포트 &lt; 이슈·기획 &lt; 기사본문 - 한국대학신문 - 411개 대학을 연결하는 '힘'</a:t>
                      </a:r>
                    </a:p>
                  </a:txBody>
                  <a:tcPr>
                    <a:solidFill>
                      <a:srgbClr val="EEF2FB"/>
                    </a:solidFill>
                  </a:tcPr>
                </a:tc>
                <a:tc>
                  <a:txBody>
                    <a:bodyPr/>
                    <a:lstStyle/>
                    <a:p>
                      <a:r>
                        <a:rPr sz="1100" b="0">
                          <a:solidFill>
                            <a:srgbClr val="1F2A37"/>
                          </a:solidFill>
                        </a:rPr>
                        <a:t>Wed, 06 May 2026 12:55:06 GMT</a:t>
                      </a:r>
                    </a:p>
                  </a:txBody>
                  <a:tcPr>
                    <a:solidFill>
                      <a:srgbClr val="EEF2FB"/>
                    </a:solidFill>
                  </a:tcPr>
                </a:tc>
                <a:tc>
                  <a:txBody>
                    <a:bodyPr/>
                    <a:lstStyle/>
                    <a:p>
                      <a:r>
                        <a:rPr sz="1100" b="0">
                          <a:solidFill>
                            <a:srgbClr val="1F2A37"/>
                          </a:solidFill>
                        </a:rPr>
                        <a:t>2026-07-28</a:t>
                      </a:r>
                    </a:p>
                  </a:txBody>
                  <a:tcPr>
                    <a:solidFill>
                      <a:srgbClr val="EEF2FB"/>
                    </a:solidFill>
                  </a:tcPr>
                </a:tc>
                <a:tc>
                  <a:txBody>
                    <a:bodyPr/>
                    <a:lstStyle/>
                    <a:p>
                      <a:r>
                        <a:rPr sz="1100" b="0">
                          <a:solidFill>
                            <a:srgbClr val="1F2A37"/>
                          </a:solidFill>
                        </a:rPr>
                        <a:t>0</a:t>
                      </a:r>
                    </a:p>
                  </a:txBody>
                  <a:tcPr>
                    <a:solidFill>
                      <a:srgbClr val="EEF2FB"/>
                    </a:solidFill>
                  </a:tcPr>
                </a:tc>
              </a:tr>
              <a:tr h="336042">
                <a:tc>
                  <a:txBody>
                    <a:bodyPr/>
                    <a:lstStyle/>
                    <a:p>
                      <a:r>
                        <a:rPr sz="1100" b="0">
                          <a:solidFill>
                            <a:srgbClr val="1F2A37"/>
                          </a:solidFill>
                        </a:rPr>
                        <a:t>ev19</a:t>
                      </a:r>
                    </a:p>
                  </a:txBody>
                  <a:tcPr>
                    <a:solidFill>
                      <a:srgbClr val="FFFFFF"/>
                    </a:solidFill>
                  </a:tcPr>
                </a:tc>
                <a:tc>
                  <a:txBody>
                    <a:bodyPr/>
                    <a:lstStyle/>
                    <a:p>
                      <a:r>
                        <a:rPr sz="1100" b="0">
                          <a:solidFill>
                            <a:srgbClr val="1F2A37"/>
                          </a:solidFill>
                        </a:rPr>
                        <a:t>기타</a:t>
                      </a:r>
                    </a:p>
                  </a:txBody>
                  <a:tcPr>
                    <a:solidFill>
                      <a:srgbClr val="FFFFFF"/>
                    </a:solidFill>
                  </a:tcPr>
                </a:tc>
                <a:tc>
                  <a:txBody>
                    <a:bodyPr/>
                    <a:lstStyle/>
                    <a:p>
                      <a:r>
                        <a:rPr sz="1100" b="0">
                          <a:solidFill>
                            <a:srgbClr val="1F2A37"/>
                          </a:solidFill>
                        </a:rPr>
                        <a:t>[Tech] 글로벌은 AI로 재편, 국내 인슈어테크의 미래는 &lt; 기획일반 &lt; 기획/연재 &lt; 기사본문 - 한국보험신문</a:t>
                      </a:r>
                    </a:p>
                  </a:txBody>
                  <a:tcPr>
                    <a:solidFill>
                      <a:srgbClr val="FFFFFF"/>
                    </a:solidFill>
                  </a:tcPr>
                </a:tc>
                <a:tc>
                  <a:txBody>
                    <a:bodyPr/>
                    <a:lstStyle/>
                    <a:p>
                      <a:r>
                        <a:rPr sz="1100" b="0">
                          <a:solidFill>
                            <a:srgbClr val="1F2A37"/>
                          </a:solidFill>
                        </a:rPr>
                        <a:t>Sun, 29 Mar 2026 15:00:00 GMT</a:t>
                      </a:r>
                    </a:p>
                  </a:txBody>
                  <a:tcPr>
                    <a:solidFill>
                      <a:srgbClr val="FFFFFF"/>
                    </a:solidFill>
                  </a:tcPr>
                </a:tc>
                <a:tc>
                  <a:txBody>
                    <a:bodyPr/>
                    <a:lstStyle/>
                    <a:p>
                      <a:r>
                        <a:rPr sz="1100" b="0">
                          <a:solidFill>
                            <a:srgbClr val="1F2A37"/>
                          </a:solidFill>
                        </a:rPr>
                        <a:t>2026-07-28</a:t>
                      </a:r>
                    </a:p>
                  </a:txBody>
                  <a:tcPr>
                    <a:solidFill>
                      <a:srgbClr val="FFFFFF"/>
                    </a:solidFill>
                  </a:tcPr>
                </a:tc>
                <a:tc>
                  <a:txBody>
                    <a:bodyPr/>
                    <a:lstStyle/>
                    <a:p>
                      <a:r>
                        <a:rPr sz="1100" b="0">
                          <a:solidFill>
                            <a:srgbClr val="1F2A37"/>
                          </a:solidFill>
                        </a:rPr>
                        <a:t>0</a:t>
                      </a:r>
                    </a:p>
                  </a:txBody>
                  <a:tcPr>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부록 — 사실 검증 요약 (검색 스니펫 기준)</a:t>
            </a:r>
          </a:p>
        </p:txBody>
      </p:sp>
      <p:sp>
        <p:nvSpPr>
          <p:cNvPr id="3" name="TextBox 2"/>
          <p:cNvSpPr txBox="1"/>
          <p:nvPr/>
        </p:nvSpPr>
        <p:spPr>
          <a:xfrm>
            <a:off x="640080" y="1417320"/>
            <a:ext cx="10908792" cy="1664207"/>
          </a:xfrm>
          <a:prstGeom prst="rect">
            <a:avLst/>
          </a:prstGeom>
          <a:noFill/>
        </p:spPr>
        <p:txBody>
          <a:bodyPr wrap="square" anchor="t">
            <a:spAutoFit/>
          </a:bodyPr>
          <a:lstStyle/>
          <a:p>
            <a:pPr>
              <a:spcAft>
                <a:spcPts val="400"/>
              </a:spcAft>
            </a:pPr>
            <a:r>
              <a:rPr sz="1500" b="0">
                <a:solidFill>
                  <a:srgbClr val="1F2A37"/>
                </a:solidFill>
              </a:rPr>
              <a:t>&gt; </a:t>
            </a:r>
            <a:r>
              <a:rPr sz="1500" b="1">
                <a:solidFill>
                  <a:srgbClr val="1F2A37"/>
                </a:solidFill>
              </a:rPr>
              <a:t>검증 범위</a:t>
            </a:r>
            <a:r>
              <a:rPr sz="1500" b="0">
                <a:solidFill>
                  <a:srgbClr val="1F2A37"/>
                </a:solidFill>
              </a:rPr>
              <a:t>: 문서의 사실 주장을 수집한 </a:t>
            </a:r>
            <a:r>
              <a:rPr sz="1500" b="1">
                <a:solidFill>
                  <a:srgbClr val="1F2A37"/>
                </a:solidFill>
              </a:rPr>
              <a:t>검색 요약 근거</a:t>
            </a:r>
            <a:r>
              <a:rPr sz="1500" b="0">
                <a:solidFill>
                  <a:srgbClr val="1F2A37"/>
                </a:solidFill>
              </a:rPr>
              <a:t>와 대조해 판정한다. 출처 URL 의 </a:t>
            </a:r>
            <a:r>
              <a:rPr sz="1500" b="1">
                <a:solidFill>
                  <a:srgbClr val="1F2A37"/>
                </a:solidFill>
              </a:rPr>
              <a:t>원문 사실성은 재검증하지 않는다</a:t>
            </a:r>
            <a:r>
              <a:rPr sz="1500" b="0">
                <a:solidFill>
                  <a:srgbClr val="1F2A37"/>
                </a:solidFill>
              </a:rPr>
              <a:t>. 따라서 '근거 미확인'은 거짓이라는 뜻이 아니라, 현재 수집된 근거에서 확인하지 못했다는 뜻이다 — 수치·통계는 원문에서 직접 확인해야 한다.</a:t>
            </a:r>
          </a:p>
          <a:p>
            <a:pPr>
              <a:spcAft>
                <a:spcPts val="400"/>
              </a:spcAft>
            </a:pPr>
            <a:r>
              <a:rPr sz="1500" b="0">
                <a:solidFill>
                  <a:srgbClr val="1F2A37"/>
                </a:solidFill>
              </a:rPr>
              <a:t>사실 주장 5건 중 근거 확인 5건 · 주장별 근거 연결 5/5건</a:t>
            </a:r>
          </a:p>
        </p:txBody>
      </p:sp>
      <p:graphicFrame>
        <p:nvGraphicFramePr>
          <p:cNvPr id="4" name="Table 3"/>
          <p:cNvGraphicFramePr>
            <a:graphicFrameLocks noGrp="1"/>
          </p:cNvGraphicFramePr>
          <p:nvPr/>
        </p:nvGraphicFramePr>
        <p:xfrm>
          <a:off x="640080" y="3081527"/>
          <a:ext cx="10908792" cy="2112264"/>
        </p:xfrm>
        <a:graphic>
          <a:graphicData uri="http://schemas.openxmlformats.org/drawingml/2006/table">
            <a:tbl>
              <a:tblPr firstRow="1" bandRow="1">
                <a:tableStyleId>{5C22544A-7EE6-4342-B048-85BDC9FD1C3A}</a:tableStyleId>
              </a:tblPr>
              <a:tblGrid>
                <a:gridCol w="3636264"/>
                <a:gridCol w="3636264"/>
                <a:gridCol w="3636264"/>
              </a:tblGrid>
              <a:tr h="352044">
                <a:tc>
                  <a:txBody>
                    <a:bodyPr/>
                    <a:lstStyle/>
                    <a:p>
                      <a:pPr algn="ctr"/>
                      <a:r>
                        <a:rPr sz="1100" b="1">
                          <a:solidFill>
                            <a:srgbClr val="FFFFFF"/>
                          </a:solidFill>
                        </a:rPr>
                        <a:t>판정</a:t>
                      </a:r>
                    </a:p>
                  </a:txBody>
                  <a:tcPr>
                    <a:solidFill>
                      <a:srgbClr val="2B59C3"/>
                    </a:solidFill>
                  </a:tcPr>
                </a:tc>
                <a:tc>
                  <a:txBody>
                    <a:bodyPr/>
                    <a:lstStyle/>
                    <a:p>
                      <a:pPr algn="ctr"/>
                      <a:r>
                        <a:rPr sz="1100" b="1">
                          <a:solidFill>
                            <a:srgbClr val="FFFFFF"/>
                          </a:solidFill>
                        </a:rPr>
                        <a:t>건수</a:t>
                      </a:r>
                    </a:p>
                  </a:txBody>
                  <a:tcPr>
                    <a:solidFill>
                      <a:srgbClr val="2B59C3"/>
                    </a:solidFill>
                  </a:tcPr>
                </a:tc>
                <a:tc>
                  <a:txBody>
                    <a:bodyPr/>
                    <a:lstStyle/>
                    <a:p>
                      <a:pPr algn="ctr"/>
                      <a:r>
                        <a:rPr sz="1100" b="1">
                          <a:solidFill>
                            <a:srgbClr val="FFFFFF"/>
                          </a:solidFill>
                        </a:rPr>
                        <a:t>뜻</a:t>
                      </a:r>
                    </a:p>
                  </a:txBody>
                  <a:tcPr>
                    <a:solidFill>
                      <a:srgbClr val="2B59C3"/>
                    </a:solidFill>
                  </a:tcPr>
                </a:tc>
              </a:tr>
              <a:tr h="352044">
                <a:tc>
                  <a:txBody>
                    <a:bodyPr/>
                    <a:lstStyle/>
                    <a:p>
                      <a:r>
                        <a:rPr sz="1100" b="0">
                          <a:solidFill>
                            <a:srgbClr val="1F2A37"/>
                          </a:solidFill>
                        </a:rPr>
                        <a:t>근거 확인</a:t>
                      </a:r>
                    </a:p>
                  </a:txBody>
                  <a:tcPr>
                    <a:solidFill>
                      <a:srgbClr val="FFFFFF"/>
                    </a:solidFill>
                  </a:tcPr>
                </a:tc>
                <a:tc>
                  <a:txBody>
                    <a:bodyPr/>
                    <a:lstStyle/>
                    <a:p>
                      <a:r>
                        <a:rPr sz="1100" b="0">
                          <a:solidFill>
                            <a:srgbClr val="1F2A37"/>
                          </a:solidFill>
                        </a:rPr>
                        <a:t>5</a:t>
                      </a:r>
                    </a:p>
                  </a:txBody>
                  <a:tcPr>
                    <a:solidFill>
                      <a:srgbClr val="FFFFFF"/>
                    </a:solidFill>
                  </a:tcPr>
                </a:tc>
                <a:tc>
                  <a:txBody>
                    <a:bodyPr/>
                    <a:lstStyle/>
                    <a:p>
                      <a:r>
                        <a:rPr sz="1100" b="0">
                          <a:solidFill>
                            <a:srgbClr val="1F2A37"/>
                          </a:solidFill>
                        </a:rPr>
                        <a:t>수집한 검색 요약 근거와 일치</a:t>
                      </a:r>
                    </a:p>
                  </a:txBody>
                  <a:tcPr>
                    <a:solidFill>
                      <a:srgbClr val="FFFFFF"/>
                    </a:solidFill>
                  </a:tcPr>
                </a:tc>
              </a:tr>
              <a:tr h="352044">
                <a:tc>
                  <a:txBody>
                    <a:bodyPr/>
                    <a:lstStyle/>
                    <a:p>
                      <a:r>
                        <a:rPr sz="1100" b="0">
                          <a:solidFill>
                            <a:srgbClr val="1F2A37"/>
                          </a:solidFill>
                        </a:rPr>
                        <a:t>근거 미확인</a:t>
                      </a:r>
                    </a:p>
                  </a:txBody>
                  <a:tcPr>
                    <a:solidFill>
                      <a:srgbClr val="EEF2FB"/>
                    </a:solidFill>
                  </a:tcPr>
                </a:tc>
                <a:tc>
                  <a:txBody>
                    <a:bodyPr/>
                    <a:lstStyle/>
                    <a:p>
                      <a:r>
                        <a:rPr sz="1100" b="0">
                          <a:solidFill>
                            <a:srgbClr val="1F2A37"/>
                          </a:solidFill>
                        </a:rPr>
                        <a:t>0</a:t>
                      </a:r>
                    </a:p>
                  </a:txBody>
                  <a:tcPr>
                    <a:solidFill>
                      <a:srgbClr val="EEF2FB"/>
                    </a:solidFill>
                  </a:tcPr>
                </a:tc>
                <a:tc>
                  <a:txBody>
                    <a:bodyPr/>
                    <a:lstStyle/>
                    <a:p>
                      <a:r>
                        <a:rPr sz="1100" b="1">
                          <a:solidFill>
                            <a:srgbClr val="1F2A37"/>
                          </a:solidFill>
                        </a:rPr>
                        <a:t>거짓이라는 뜻이 아니다</a:t>
                      </a:r>
                      <a:r>
                        <a:rPr sz="1100" b="0">
                          <a:solidFill>
                            <a:srgbClr val="1F2A37"/>
                          </a:solidFill>
                        </a:rPr>
                        <a:t> — 현재 근거에서 확인하지 못함</a:t>
                      </a:r>
                    </a:p>
                  </a:txBody>
                  <a:tcPr>
                    <a:solidFill>
                      <a:srgbClr val="EEF2FB"/>
                    </a:solidFill>
                  </a:tcPr>
                </a:tc>
              </a:tr>
              <a:tr h="352044">
                <a:tc>
                  <a:txBody>
                    <a:bodyPr/>
                    <a:lstStyle/>
                    <a:p>
                      <a:r>
                        <a:rPr sz="1100" b="0">
                          <a:solidFill>
                            <a:srgbClr val="1F2A37"/>
                          </a:solidFill>
                        </a:rPr>
                        <a:t>반대 근거</a:t>
                      </a:r>
                    </a:p>
                  </a:txBody>
                  <a:tcPr>
                    <a:solidFill>
                      <a:srgbClr val="FFFFFF"/>
                    </a:solidFill>
                  </a:tcPr>
                </a:tc>
                <a:tc>
                  <a:txBody>
                    <a:bodyPr/>
                    <a:lstStyle/>
                    <a:p>
                      <a:r>
                        <a:rPr sz="1100" b="0">
                          <a:solidFill>
                            <a:srgbClr val="1F2A37"/>
                          </a:solidFill>
                        </a:rPr>
                        <a:t>0</a:t>
                      </a:r>
                    </a:p>
                  </a:txBody>
                  <a:tcPr>
                    <a:solidFill>
                      <a:srgbClr val="FFFFFF"/>
                    </a:solidFill>
                  </a:tcPr>
                </a:tc>
                <a:tc>
                  <a:txBody>
                    <a:bodyPr/>
                    <a:lstStyle/>
                    <a:p>
                      <a:r>
                        <a:rPr sz="1100" b="0">
                          <a:solidFill>
                            <a:srgbClr val="1F2A37"/>
                          </a:solidFill>
                        </a:rPr>
                        <a:t>근거가 주장과 반대 방향</a:t>
                      </a:r>
                    </a:p>
                  </a:txBody>
                  <a:tcPr>
                    <a:solidFill>
                      <a:srgbClr val="FFFFFF"/>
                    </a:solidFill>
                  </a:tcPr>
                </a:tc>
              </a:tr>
              <a:tr h="352044">
                <a:tc>
                  <a:txBody>
                    <a:bodyPr/>
                    <a:lstStyle/>
                    <a:p>
                      <a:r>
                        <a:rPr sz="1100" b="0">
                          <a:solidFill>
                            <a:srgbClr val="1F2A37"/>
                          </a:solidFill>
                        </a:rPr>
                        <a:t>판단 불가</a:t>
                      </a:r>
                    </a:p>
                  </a:txBody>
                  <a:tcPr>
                    <a:solidFill>
                      <a:srgbClr val="EEF2FB"/>
                    </a:solidFill>
                  </a:tcPr>
                </a:tc>
                <a:tc>
                  <a:txBody>
                    <a:bodyPr/>
                    <a:lstStyle/>
                    <a:p>
                      <a:r>
                        <a:rPr sz="1100" b="0">
                          <a:solidFill>
                            <a:srgbClr val="1F2A37"/>
                          </a:solidFill>
                        </a:rPr>
                        <a:t>0</a:t>
                      </a:r>
                    </a:p>
                  </a:txBody>
                  <a:tcPr>
                    <a:solidFill>
                      <a:srgbClr val="EEF2FB"/>
                    </a:solidFill>
                  </a:tcPr>
                </a:tc>
                <a:tc>
                  <a:txBody>
                    <a:bodyPr/>
                    <a:lstStyle/>
                    <a:p>
                      <a:r>
                        <a:rPr sz="1100" b="0">
                          <a:solidFill>
                            <a:srgbClr val="1F2A37"/>
                          </a:solidFill>
                        </a:rPr>
                        <a:t>근거가 모호해 판정 보류</a:t>
                      </a:r>
                    </a:p>
                  </a:txBody>
                  <a:tcPr>
                    <a:solidFill>
                      <a:srgbClr val="EEF2FB"/>
                    </a:solidFill>
                  </a:tcPr>
                </a:tc>
              </a:tr>
              <a:tr h="352044">
                <a:tc>
                  <a:txBody>
                    <a:bodyPr/>
                    <a:lstStyle/>
                    <a:p>
                      <a:r>
                        <a:rPr sz="1100" b="0">
                          <a:solidFill>
                            <a:srgbClr val="1F2A37"/>
                          </a:solidFill>
                        </a:rPr>
                        <a:t>검증 대상 아님</a:t>
                      </a:r>
                    </a:p>
                  </a:txBody>
                  <a:tcPr>
                    <a:solidFill>
                      <a:srgbClr val="FFFFFF"/>
                    </a:solidFill>
                  </a:tcPr>
                </a:tc>
                <a:tc>
                  <a:txBody>
                    <a:bodyPr/>
                    <a:lstStyle/>
                    <a:p>
                      <a:r>
                        <a:rPr sz="1100" b="0">
                          <a:solidFill>
                            <a:srgbClr val="1F2A37"/>
                          </a:solidFill>
                        </a:rPr>
                        <a:t>0</a:t>
                      </a:r>
                    </a:p>
                  </a:txBody>
                  <a:tcPr>
                    <a:solidFill>
                      <a:srgbClr val="FFFFFF"/>
                    </a:solidFill>
                  </a:tcPr>
                </a:tc>
                <a:tc>
                  <a:txBody>
                    <a:bodyPr/>
                    <a:lstStyle/>
                    <a:p>
                      <a:r>
                        <a:rPr sz="1100" b="0">
                          <a:solidFill>
                            <a:srgbClr val="1F2A37"/>
                          </a:solidFill>
                        </a:rPr>
                        <a:t>추론·제안 주장(사실 주장만 검증한다)</a:t>
                      </a:r>
                    </a:p>
                  </a:txBody>
                  <a:tcPr>
                    <a:solidFill>
                      <a:srgbClr val="FFFFFF"/>
                    </a:solidFill>
                  </a:tcPr>
                </a:tc>
              </a:tr>
            </a:tbl>
          </a:graphicData>
        </a:graphic>
      </p:graphicFrame>
      <p:sp>
        <p:nvSpPr>
          <p:cNvPr id="5" name="TextBox 4"/>
          <p:cNvSpPr txBox="1"/>
          <p:nvPr/>
        </p:nvSpPr>
        <p:spPr>
          <a:xfrm>
            <a:off x="640080" y="5330951"/>
            <a:ext cx="10908792" cy="466344"/>
          </a:xfrm>
          <a:prstGeom prst="rect">
            <a:avLst/>
          </a:prstGeom>
          <a:noFill/>
        </p:spPr>
        <p:txBody>
          <a:bodyPr wrap="square" anchor="t">
            <a:spAutoFit/>
          </a:bodyPr>
          <a:lstStyle/>
          <a:p>
            <a:pPr>
              <a:spcBef>
                <a:spcPts val="600"/>
              </a:spcBef>
              <a:spcAft>
                <a:spcPts val="400"/>
              </a:spcAft>
            </a:pPr>
            <a:r>
              <a:rPr sz="1700" b="1">
                <a:solidFill>
                  <a:srgbClr val="2B59C3"/>
                </a:solidFill>
              </a:rPr>
              <a:t>주장별 판정</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부록 — 사실 검증 요약 (검색 스니펫 기준) (계속)</a:t>
            </a:r>
          </a:p>
        </p:txBody>
      </p:sp>
      <p:graphicFrame>
        <p:nvGraphicFramePr>
          <p:cNvPr id="3" name="Table 2"/>
          <p:cNvGraphicFramePr>
            <a:graphicFrameLocks noGrp="1"/>
          </p:cNvGraphicFramePr>
          <p:nvPr/>
        </p:nvGraphicFramePr>
        <p:xfrm>
          <a:off x="640080" y="1417320"/>
          <a:ext cx="10908792" cy="2112264"/>
        </p:xfrm>
        <a:graphic>
          <a:graphicData uri="http://schemas.openxmlformats.org/drawingml/2006/table">
            <a:tbl>
              <a:tblPr firstRow="1" bandRow="1">
                <a:tableStyleId>{5C22544A-7EE6-4342-B048-85BDC9FD1C3A}</a:tableStyleId>
              </a:tblPr>
              <a:tblGrid>
                <a:gridCol w="2727198"/>
                <a:gridCol w="2727198"/>
                <a:gridCol w="2727198"/>
                <a:gridCol w="2727198"/>
              </a:tblGrid>
              <a:tr h="352044">
                <a:tc>
                  <a:txBody>
                    <a:bodyPr/>
                    <a:lstStyle/>
                    <a:p>
                      <a:pPr algn="ctr"/>
                      <a:r>
                        <a:rPr sz="1100" b="1">
                          <a:solidFill>
                            <a:srgbClr val="FFFFFF"/>
                          </a:solidFill>
                        </a:rPr>
                        <a:t>주장</a:t>
                      </a:r>
                    </a:p>
                  </a:txBody>
                  <a:tcPr>
                    <a:solidFill>
                      <a:srgbClr val="2B59C3"/>
                    </a:solidFill>
                  </a:tcPr>
                </a:tc>
                <a:tc>
                  <a:txBody>
                    <a:bodyPr/>
                    <a:lstStyle/>
                    <a:p>
                      <a:pPr algn="ctr"/>
                      <a:r>
                        <a:rPr sz="1100" b="1">
                          <a:solidFill>
                            <a:srgbClr val="FFFFFF"/>
                          </a:solidFill>
                        </a:rPr>
                        <a:t>유형</a:t>
                      </a:r>
                    </a:p>
                  </a:txBody>
                  <a:tcPr>
                    <a:solidFill>
                      <a:srgbClr val="2B59C3"/>
                    </a:solidFill>
                  </a:tcPr>
                </a:tc>
                <a:tc>
                  <a:txBody>
                    <a:bodyPr/>
                    <a:lstStyle/>
                    <a:p>
                      <a:pPr algn="ctr"/>
                      <a:r>
                        <a:rPr sz="1100" b="1">
                          <a:solidFill>
                            <a:srgbClr val="FFFFFF"/>
                          </a:solidFill>
                        </a:rPr>
                        <a:t>판정</a:t>
                      </a:r>
                    </a:p>
                  </a:txBody>
                  <a:tcPr>
                    <a:solidFill>
                      <a:srgbClr val="2B59C3"/>
                    </a:solidFill>
                  </a:tcPr>
                </a:tc>
                <a:tc>
                  <a:txBody>
                    <a:bodyPr/>
                    <a:lstStyle/>
                    <a:p>
                      <a:pPr algn="ctr"/>
                      <a:r>
                        <a:rPr sz="1100" b="1">
                          <a:solidFill>
                            <a:srgbClr val="FFFFFF"/>
                          </a:solidFill>
                        </a:rPr>
                        <a:t>근거 ID</a:t>
                      </a:r>
                    </a:p>
                  </a:txBody>
                  <a:tcPr>
                    <a:solidFill>
                      <a:srgbClr val="2B59C3"/>
                    </a:solidFill>
                  </a:tcPr>
                </a:tc>
              </a:tr>
              <a:tr h="352044">
                <a:tc>
                  <a:txBody>
                    <a:bodyPr/>
                    <a:lstStyle/>
                    <a:p>
                      <a:r>
                        <a:rPr sz="1100" b="0">
                          <a:solidFill>
                            <a:srgbClr val="1F2A37"/>
                          </a:solidFill>
                        </a:rPr>
                        <a:t>AI 기반 진로 설계 서비스 시장은 빠르게 성장하고 있다.</a:t>
                      </a:r>
                    </a:p>
                  </a:txBody>
                  <a:tcPr>
                    <a:solidFill>
                      <a:srgbClr val="FFFFFF"/>
                    </a:solidFill>
                  </a:tcPr>
                </a:tc>
                <a:tc>
                  <a:txBody>
                    <a:bodyPr/>
                    <a:lstStyle/>
                    <a:p>
                      <a:r>
                        <a:rPr sz="1100" b="0">
                          <a:solidFill>
                            <a:srgbClr val="1F2A37"/>
                          </a:solidFill>
                        </a:rPr>
                        <a:t>사실</a:t>
                      </a:r>
                    </a:p>
                  </a:txBody>
                  <a:tcPr>
                    <a:solidFill>
                      <a:srgbClr val="FFFFFF"/>
                    </a:solidFill>
                  </a:tcPr>
                </a:tc>
                <a:tc>
                  <a:txBody>
                    <a:bodyPr/>
                    <a:lstStyle/>
                    <a:p>
                      <a:r>
                        <a:rPr sz="1100" b="0">
                          <a:solidFill>
                            <a:srgbClr val="1F2A37"/>
                          </a:solidFill>
                        </a:rPr>
                        <a:t>근거 확인</a:t>
                      </a:r>
                    </a:p>
                  </a:txBody>
                  <a:tcPr>
                    <a:solidFill>
                      <a:srgbClr val="FFFFFF"/>
                    </a:solidFill>
                  </a:tcPr>
                </a:tc>
                <a:tc>
                  <a:txBody>
                    <a:bodyPr/>
                    <a:lstStyle/>
                    <a:p>
                      <a:r>
                        <a:rPr sz="1100" b="0">
                          <a:solidFill>
                            <a:srgbClr val="1F2A37"/>
                          </a:solidFill>
                        </a:rPr>
                        <a:t>ev6</a:t>
                      </a:r>
                    </a:p>
                  </a:txBody>
                  <a:tcPr>
                    <a:solidFill>
                      <a:srgbClr val="FFFFFF"/>
                    </a:solidFill>
                  </a:tcPr>
                </a:tc>
              </a:tr>
              <a:tr h="352044">
                <a:tc>
                  <a:txBody>
                    <a:bodyPr/>
                    <a:lstStyle/>
                    <a:p>
                      <a:r>
                        <a:rPr sz="1100" b="0">
                          <a:solidFill>
                            <a:srgbClr val="1F2A37"/>
                          </a:solidFill>
                        </a:rPr>
                        <a:t>대학생들은 진로에 대한 불확실성을 느끼고 있다.</a:t>
                      </a:r>
                    </a:p>
                  </a:txBody>
                  <a:tcPr>
                    <a:solidFill>
                      <a:srgbClr val="EEF2FB"/>
                    </a:solidFill>
                  </a:tcPr>
                </a:tc>
                <a:tc>
                  <a:txBody>
                    <a:bodyPr/>
                    <a:lstStyle/>
                    <a:p>
                      <a:r>
                        <a:rPr sz="1100" b="0">
                          <a:solidFill>
                            <a:srgbClr val="1F2A37"/>
                          </a:solidFill>
                        </a:rPr>
                        <a:t>사실</a:t>
                      </a:r>
                    </a:p>
                  </a:txBody>
                  <a:tcPr>
                    <a:solidFill>
                      <a:srgbClr val="EEF2FB"/>
                    </a:solidFill>
                  </a:tcPr>
                </a:tc>
                <a:tc>
                  <a:txBody>
                    <a:bodyPr/>
                    <a:lstStyle/>
                    <a:p>
                      <a:r>
                        <a:rPr sz="1100" b="0">
                          <a:solidFill>
                            <a:srgbClr val="1F2A37"/>
                          </a:solidFill>
                        </a:rPr>
                        <a:t>근거 확인</a:t>
                      </a:r>
                    </a:p>
                  </a:txBody>
                  <a:tcPr>
                    <a:solidFill>
                      <a:srgbClr val="EEF2FB"/>
                    </a:solidFill>
                  </a:tcPr>
                </a:tc>
                <a:tc>
                  <a:txBody>
                    <a:bodyPr/>
                    <a:lstStyle/>
                    <a:p>
                      <a:r>
                        <a:rPr sz="1100" b="0">
                          <a:solidFill>
                            <a:srgbClr val="1F2A37"/>
                          </a:solidFill>
                        </a:rPr>
                        <a:t>ev18</a:t>
                      </a:r>
                    </a:p>
                  </a:txBody>
                  <a:tcPr>
                    <a:solidFill>
                      <a:srgbClr val="EEF2FB"/>
                    </a:solidFill>
                  </a:tcPr>
                </a:tc>
              </a:tr>
              <a:tr h="352044">
                <a:tc>
                  <a:txBody>
                    <a:bodyPr/>
                    <a:lstStyle/>
                    <a:p>
                      <a:r>
                        <a:rPr sz="1100" b="0">
                          <a:solidFill>
                            <a:srgbClr val="1F2A37"/>
                          </a:solidFill>
                        </a:rPr>
                        <a:t>AI 기술을 활용한 맞춤형 진로 상담 서비스의 수요가 증가하고 있다.</a:t>
                      </a:r>
                    </a:p>
                  </a:txBody>
                  <a:tcPr>
                    <a:solidFill>
                      <a:srgbClr val="FFFFFF"/>
                    </a:solidFill>
                  </a:tcPr>
                </a:tc>
                <a:tc>
                  <a:txBody>
                    <a:bodyPr/>
                    <a:lstStyle/>
                    <a:p>
                      <a:r>
                        <a:rPr sz="1100" b="0">
                          <a:solidFill>
                            <a:srgbClr val="1F2A37"/>
                          </a:solidFill>
                        </a:rPr>
                        <a:t>사실</a:t>
                      </a:r>
                    </a:p>
                  </a:txBody>
                  <a:tcPr>
                    <a:solidFill>
                      <a:srgbClr val="FFFFFF"/>
                    </a:solidFill>
                  </a:tcPr>
                </a:tc>
                <a:tc>
                  <a:txBody>
                    <a:bodyPr/>
                    <a:lstStyle/>
                    <a:p>
                      <a:r>
                        <a:rPr sz="1100" b="0">
                          <a:solidFill>
                            <a:srgbClr val="1F2A37"/>
                          </a:solidFill>
                        </a:rPr>
                        <a:t>근거 확인</a:t>
                      </a:r>
                    </a:p>
                  </a:txBody>
                  <a:tcPr>
                    <a:solidFill>
                      <a:srgbClr val="FFFFFF"/>
                    </a:solidFill>
                  </a:tcPr>
                </a:tc>
                <a:tc>
                  <a:txBody>
                    <a:bodyPr/>
                    <a:lstStyle/>
                    <a:p>
                      <a:r>
                        <a:rPr sz="1100" b="0">
                          <a:solidFill>
                            <a:srgbClr val="1F2A37"/>
                          </a:solidFill>
                        </a:rPr>
                        <a:t>ev6</a:t>
                      </a:r>
                    </a:p>
                  </a:txBody>
                  <a:tcPr>
                    <a:solidFill>
                      <a:srgbClr val="FFFFFF"/>
                    </a:solidFill>
                  </a:tcPr>
                </a:tc>
              </a:tr>
              <a:tr h="352044">
                <a:tc>
                  <a:txBody>
                    <a:bodyPr/>
                    <a:lstStyle/>
                    <a:p>
                      <a:r>
                        <a:rPr sz="1100" b="0">
                          <a:solidFill>
                            <a:srgbClr val="1F2A37"/>
                          </a:solidFill>
                        </a:rPr>
                        <a:t>2026년부터 2035년까지 연평균 성장률 8.2%가 예상된다.</a:t>
                      </a:r>
                    </a:p>
                  </a:txBody>
                  <a:tcPr>
                    <a:solidFill>
                      <a:srgbClr val="EEF2FB"/>
                    </a:solidFill>
                  </a:tcPr>
                </a:tc>
                <a:tc>
                  <a:txBody>
                    <a:bodyPr/>
                    <a:lstStyle/>
                    <a:p>
                      <a:r>
                        <a:rPr sz="1100" b="0">
                          <a:solidFill>
                            <a:srgbClr val="1F2A37"/>
                          </a:solidFill>
                        </a:rPr>
                        <a:t>사실</a:t>
                      </a:r>
                    </a:p>
                  </a:txBody>
                  <a:tcPr>
                    <a:solidFill>
                      <a:srgbClr val="EEF2FB"/>
                    </a:solidFill>
                  </a:tcPr>
                </a:tc>
                <a:tc>
                  <a:txBody>
                    <a:bodyPr/>
                    <a:lstStyle/>
                    <a:p>
                      <a:r>
                        <a:rPr sz="1100" b="0">
                          <a:solidFill>
                            <a:srgbClr val="1F2A37"/>
                          </a:solidFill>
                        </a:rPr>
                        <a:t>근거 확인</a:t>
                      </a:r>
                    </a:p>
                  </a:txBody>
                  <a:tcPr>
                    <a:solidFill>
                      <a:srgbClr val="EEF2FB"/>
                    </a:solidFill>
                  </a:tcPr>
                </a:tc>
                <a:tc>
                  <a:txBody>
                    <a:bodyPr/>
                    <a:lstStyle/>
                    <a:p>
                      <a:r>
                        <a:rPr sz="1100" b="0">
                          <a:solidFill>
                            <a:srgbClr val="1F2A37"/>
                          </a:solidFill>
                        </a:rPr>
                        <a:t>ev6</a:t>
                      </a:r>
                    </a:p>
                  </a:txBody>
                  <a:tcPr>
                    <a:solidFill>
                      <a:srgbClr val="EEF2FB"/>
                    </a:solidFill>
                  </a:tcPr>
                </a:tc>
              </a:tr>
              <a:tr h="352044">
                <a:tc>
                  <a:txBody>
                    <a:bodyPr/>
                    <a:lstStyle/>
                    <a:p>
                      <a:r>
                        <a:rPr sz="1100" b="0">
                          <a:solidFill>
                            <a:srgbClr val="1F2A37"/>
                          </a:solidFill>
                        </a:rPr>
                        <a:t>대학생들은 진로 정보가 흩어져 있어 어떤 경로를 선택해야 할지 판단하기 어렵다.</a:t>
                      </a:r>
                    </a:p>
                  </a:txBody>
                  <a:tcPr>
                    <a:solidFill>
                      <a:srgbClr val="FFFFFF"/>
                    </a:solidFill>
                  </a:tcPr>
                </a:tc>
                <a:tc>
                  <a:txBody>
                    <a:bodyPr/>
                    <a:lstStyle/>
                    <a:p>
                      <a:r>
                        <a:rPr sz="1100" b="0">
                          <a:solidFill>
                            <a:srgbClr val="1F2A37"/>
                          </a:solidFill>
                        </a:rPr>
                        <a:t>사실</a:t>
                      </a:r>
                    </a:p>
                  </a:txBody>
                  <a:tcPr>
                    <a:solidFill>
                      <a:srgbClr val="FFFFFF"/>
                    </a:solidFill>
                  </a:tcPr>
                </a:tc>
                <a:tc>
                  <a:txBody>
                    <a:bodyPr/>
                    <a:lstStyle/>
                    <a:p>
                      <a:r>
                        <a:rPr sz="1100" b="0">
                          <a:solidFill>
                            <a:srgbClr val="1F2A37"/>
                          </a:solidFill>
                        </a:rPr>
                        <a:t>근거 확인</a:t>
                      </a:r>
                    </a:p>
                  </a:txBody>
                  <a:tcPr>
                    <a:solidFill>
                      <a:srgbClr val="FFFFFF"/>
                    </a:solidFill>
                  </a:tcPr>
                </a:tc>
                <a:tc>
                  <a:txBody>
                    <a:bodyPr/>
                    <a:lstStyle/>
                    <a:p>
                      <a:r>
                        <a:rPr sz="1100" b="0">
                          <a:solidFill>
                            <a:srgbClr val="1F2A37"/>
                          </a:solidFill>
                        </a:rPr>
                        <a:t>ev18</a:t>
                      </a:r>
                    </a:p>
                  </a:txBody>
                  <a:tcPr>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KOSENA 준수 현황 (구조 자체점검)</a:t>
            </a:r>
          </a:p>
        </p:txBody>
      </p:sp>
      <p:sp>
        <p:nvSpPr>
          <p:cNvPr id="3" name="TextBox 2"/>
          <p:cNvSpPr txBox="1"/>
          <p:nvPr/>
        </p:nvSpPr>
        <p:spPr>
          <a:xfrm>
            <a:off x="640080" y="1417320"/>
            <a:ext cx="10908792" cy="1371600"/>
          </a:xfrm>
          <a:prstGeom prst="rect">
            <a:avLst/>
          </a:prstGeom>
          <a:noFill/>
        </p:spPr>
        <p:txBody>
          <a:bodyPr wrap="square" anchor="t">
            <a:spAutoFit/>
          </a:bodyPr>
          <a:lstStyle/>
          <a:p>
            <a:pPr>
              <a:spcAft>
                <a:spcPts val="400"/>
              </a:spcAft>
            </a:pPr>
            <a:r>
              <a:rPr sz="1500" b="0">
                <a:solidFill>
                  <a:srgbClr val="1F2A37"/>
                </a:solidFill>
              </a:rPr>
              <a:t>&gt; 이 표는 KOSENA 가 요구하는 </a:t>
            </a:r>
            <a:r>
              <a:rPr sz="1500" b="1">
                <a:solidFill>
                  <a:srgbClr val="1F2A37"/>
                </a:solidFill>
              </a:rPr>
              <a:t>필수 구조와 산출물의 존재 여부</a:t>
            </a:r>
            <a:r>
              <a:rPr sz="1500" b="0">
                <a:solidFill>
                  <a:srgbClr val="1F2A37"/>
                </a:solidFill>
              </a:rPr>
              <a:t>를 코드로 결정적 점검한 결과다(LLM 판정 아님). 분석 내용의 타당성과 프레임워크 간 일관성은 포함하지 않으며, Reviewer 와 사람 검토가 추가로 필요하다.</a:t>
            </a:r>
          </a:p>
          <a:p>
            <a:pPr>
              <a:spcAft>
                <a:spcPts val="400"/>
              </a:spcAft>
            </a:pPr>
            <a:r>
              <a:rPr sz="1500" b="0">
                <a:solidFill>
                  <a:srgbClr val="1F2A37"/>
                </a:solidFill>
              </a:rPr>
              <a:t>KOSENA 준수 27/28 충족 · 부분 1 · 미충족 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KOSENA 준수 현황 (구조 자체점검) (계속)</a:t>
            </a:r>
          </a:p>
        </p:txBody>
      </p:sp>
      <p:graphicFrame>
        <p:nvGraphicFramePr>
          <p:cNvPr id="3" name="Table 2"/>
          <p:cNvGraphicFramePr>
            <a:graphicFrameLocks noGrp="1"/>
          </p:cNvGraphicFramePr>
          <p:nvPr/>
        </p:nvGraphicFramePr>
        <p:xfrm>
          <a:off x="640080" y="1417320"/>
          <a:ext cx="10908792" cy="9683496"/>
        </p:xfrm>
        <a:graphic>
          <a:graphicData uri="http://schemas.openxmlformats.org/drawingml/2006/table">
            <a:tbl>
              <a:tblPr firstRow="1" bandRow="1">
                <a:tableStyleId>{5C22544A-7EE6-4342-B048-85BDC9FD1C3A}</a:tableStyleId>
              </a:tblPr>
              <a:tblGrid>
                <a:gridCol w="2181758"/>
                <a:gridCol w="2181758"/>
                <a:gridCol w="2181758"/>
                <a:gridCol w="2181758"/>
                <a:gridCol w="2181760"/>
              </a:tblGrid>
              <a:tr h="333913">
                <a:tc>
                  <a:txBody>
                    <a:bodyPr/>
                    <a:lstStyle/>
                    <a:p>
                      <a:pPr algn="ctr"/>
                      <a:r>
                        <a:rPr sz="1100" b="1">
                          <a:solidFill>
                            <a:srgbClr val="FFFFFF"/>
                          </a:solidFill>
                        </a:rPr>
                        <a:t>모듈</a:t>
                      </a:r>
                    </a:p>
                  </a:txBody>
                  <a:tcPr>
                    <a:solidFill>
                      <a:srgbClr val="2B59C3"/>
                    </a:solidFill>
                  </a:tcPr>
                </a:tc>
                <a:tc>
                  <a:txBody>
                    <a:bodyPr/>
                    <a:lstStyle/>
                    <a:p>
                      <a:pPr algn="ctr"/>
                      <a:r>
                        <a:rPr sz="1100" b="1">
                          <a:solidFill>
                            <a:srgbClr val="FFFFFF"/>
                          </a:solidFill>
                        </a:rPr>
                        <a:t>항목</a:t>
                      </a:r>
                    </a:p>
                  </a:txBody>
                  <a:tcPr>
                    <a:solidFill>
                      <a:srgbClr val="2B59C3"/>
                    </a:solidFill>
                  </a:tcPr>
                </a:tc>
                <a:tc>
                  <a:txBody>
                    <a:bodyPr/>
                    <a:lstStyle/>
                    <a:p>
                      <a:pPr algn="ctr"/>
                      <a:r>
                        <a:rPr sz="1100" b="1">
                          <a:solidFill>
                            <a:srgbClr val="FFFFFF"/>
                          </a:solidFill>
                        </a:rPr>
                        <a:t>상태</a:t>
                      </a:r>
                    </a:p>
                  </a:txBody>
                  <a:tcPr>
                    <a:solidFill>
                      <a:srgbClr val="2B59C3"/>
                    </a:solidFill>
                  </a:tcPr>
                </a:tc>
                <a:tc>
                  <a:txBody>
                    <a:bodyPr/>
                    <a:lstStyle/>
                    <a:p>
                      <a:pPr algn="ctr"/>
                      <a:r>
                        <a:rPr sz="1100" b="1">
                          <a:solidFill>
                            <a:srgbClr val="FFFFFF"/>
                          </a:solidFill>
                        </a:rPr>
                        <a:t>근거(쪽)</a:t>
                      </a:r>
                    </a:p>
                  </a:txBody>
                  <a:tcPr>
                    <a:solidFill>
                      <a:srgbClr val="2B59C3"/>
                    </a:solidFill>
                  </a:tcPr>
                </a:tc>
                <a:tc>
                  <a:txBody>
                    <a:bodyPr/>
                    <a:lstStyle/>
                    <a:p>
                      <a:pPr algn="ctr"/>
                      <a:r>
                        <a:rPr sz="1100" b="1">
                          <a:solidFill>
                            <a:srgbClr val="FFFFFF"/>
                          </a:solidFill>
                        </a:rPr>
                        <a:t>비고</a:t>
                      </a:r>
                    </a:p>
                  </a:txBody>
                  <a:tcPr>
                    <a:solidFill>
                      <a:srgbClr val="2B59C3"/>
                    </a:solidFill>
                  </a:tcPr>
                </a:tc>
              </a:tr>
              <a:tr h="333913">
                <a:tc>
                  <a:txBody>
                    <a:bodyPr/>
                    <a:lstStyle/>
                    <a:p>
                      <a:r>
                        <a:rPr sz="1100" b="0">
                          <a:solidFill>
                            <a:srgbClr val="1F2A37"/>
                          </a:solidFill>
                        </a:rPr>
                        <a:t>M1</a:t>
                      </a:r>
                    </a:p>
                  </a:txBody>
                  <a:tcPr>
                    <a:solidFill>
                      <a:srgbClr val="FFFFFF"/>
                    </a:solidFill>
                  </a:tcPr>
                </a:tc>
                <a:tc>
                  <a:txBody>
                    <a:bodyPr/>
                    <a:lstStyle/>
                    <a:p>
                      <a:r>
                        <a:rPr sz="1100" b="0">
                          <a:solidFill>
                            <a:srgbClr val="1F2A37"/>
                          </a:solidFill>
                        </a:rPr>
                        <a:t>PESTEL 6영역</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p7</a:t>
                      </a:r>
                    </a:p>
                  </a:txBody>
                  <a:tcPr>
                    <a:solidFill>
                      <a:srgbClr val="FFFFFF"/>
                    </a:solidFill>
                  </a:tcPr>
                </a:tc>
                <a:tc>
                  <a:txBody>
                    <a:bodyPr/>
                    <a:lstStyle/>
                    <a:p>
                      <a:r>
                        <a:rPr sz="1100" b="0">
                          <a:solidFill>
                            <a:srgbClr val="1F2A37"/>
                          </a:solidFill>
                        </a:rPr>
                        <a:t>6개 영역</a:t>
                      </a:r>
                    </a:p>
                  </a:txBody>
                  <a:tcPr>
                    <a:solidFill>
                      <a:srgbClr val="FFFFFF"/>
                    </a:solidFill>
                  </a:tcPr>
                </a:tc>
              </a:tr>
              <a:tr h="333913">
                <a:tc>
                  <a:txBody>
                    <a:bodyPr/>
                    <a:lstStyle/>
                    <a:p>
                      <a:r>
                        <a:rPr sz="1100" b="0">
                          <a:solidFill>
                            <a:srgbClr val="1F2A37"/>
                          </a:solidFill>
                        </a:rPr>
                        <a:t>M1</a:t>
                      </a:r>
                    </a:p>
                  </a:txBody>
                  <a:tcPr>
                    <a:solidFill>
                      <a:srgbClr val="EEF2FB"/>
                    </a:solidFill>
                  </a:tcPr>
                </a:tc>
                <a:tc>
                  <a:txBody>
                    <a:bodyPr/>
                    <a:lstStyle/>
                    <a:p>
                      <a:r>
                        <a:rPr sz="1100" b="0">
                          <a:solidFill>
                            <a:srgbClr val="1F2A37"/>
                          </a:solidFill>
                        </a:rPr>
                        <a:t>Critical Uncertainties Top 3</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p7</a:t>
                      </a:r>
                    </a:p>
                  </a:txBody>
                  <a:tcPr>
                    <a:solidFill>
                      <a:srgbClr val="EEF2FB"/>
                    </a:solidFill>
                  </a:tcPr>
                </a:tc>
                <a:tc>
                  <a:txBody>
                    <a:bodyPr/>
                    <a:lstStyle/>
                    <a:p>
                      <a:r>
                        <a:rPr sz="1100" b="0">
                          <a:solidFill>
                            <a:srgbClr val="1F2A37"/>
                          </a:solidFill>
                        </a:rPr>
                        <a:t>Top 3 선별됨</a:t>
                      </a:r>
                    </a:p>
                  </a:txBody>
                  <a:tcPr>
                    <a:solidFill>
                      <a:srgbClr val="EEF2FB"/>
                    </a:solidFill>
                  </a:tcPr>
                </a:tc>
              </a:tr>
              <a:tr h="333913">
                <a:tc>
                  <a:txBody>
                    <a:bodyPr/>
                    <a:lstStyle/>
                    <a:p>
                      <a:r>
                        <a:rPr sz="1100" b="0">
                          <a:solidFill>
                            <a:srgbClr val="1F2A37"/>
                          </a:solidFill>
                        </a:rPr>
                        <a:t>M1</a:t>
                      </a:r>
                    </a:p>
                  </a:txBody>
                  <a:tcPr>
                    <a:solidFill>
                      <a:srgbClr val="FFFFFF"/>
                    </a:solidFill>
                  </a:tcPr>
                </a:tc>
                <a:tc>
                  <a:txBody>
                    <a:bodyPr/>
                    <a:lstStyle/>
                    <a:p>
                      <a:r>
                        <a:rPr sz="1100" b="0">
                          <a:solidFill>
                            <a:srgbClr val="1F2A37"/>
                          </a:solidFill>
                        </a:rPr>
                        <a:t>Porter/SWOT/Value Chain 중 2개 이상</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p8</a:t>
                      </a:r>
                    </a:p>
                  </a:txBody>
                  <a:tcPr>
                    <a:solidFill>
                      <a:srgbClr val="FFFFFF"/>
                    </a:solidFill>
                  </a:tcPr>
                </a:tc>
                <a:tc>
                  <a:txBody>
                    <a:bodyPr/>
                    <a:lstStyle/>
                    <a:p>
                      <a:r>
                        <a:rPr sz="1100" b="0">
                          <a:solidFill>
                            <a:srgbClr val="1F2A37"/>
                          </a:solidFill>
                        </a:rPr>
                        <a:t>SWOT + Porter + Value Chain</a:t>
                      </a:r>
                    </a:p>
                  </a:txBody>
                  <a:tcPr>
                    <a:solidFill>
                      <a:srgbClr val="FFFFFF"/>
                    </a:solidFill>
                  </a:tcPr>
                </a:tc>
              </a:tr>
              <a:tr h="333913">
                <a:tc>
                  <a:txBody>
                    <a:bodyPr/>
                    <a:lstStyle/>
                    <a:p>
                      <a:r>
                        <a:rPr sz="1100" b="0">
                          <a:solidFill>
                            <a:srgbClr val="1F2A37"/>
                          </a:solidFill>
                        </a:rPr>
                        <a:t>M1</a:t>
                      </a:r>
                    </a:p>
                  </a:txBody>
                  <a:tcPr>
                    <a:solidFill>
                      <a:srgbClr val="EEF2FB"/>
                    </a:solidFill>
                  </a:tcPr>
                </a:tc>
                <a:tc>
                  <a:txBody>
                    <a:bodyPr/>
                    <a:lstStyle/>
                    <a:p>
                      <a:r>
                        <a:rPr sz="1100" b="0">
                          <a:solidFill>
                            <a:srgbClr val="1F2A37"/>
                          </a:solidFill>
                        </a:rPr>
                        <a:t>KSF 5개</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p8</a:t>
                      </a:r>
                    </a:p>
                  </a:txBody>
                  <a:tcPr>
                    <a:solidFill>
                      <a:srgbClr val="EEF2FB"/>
                    </a:solidFill>
                  </a:tcPr>
                </a:tc>
                <a:tc>
                  <a:txBody>
                    <a:bodyPr/>
                    <a:lstStyle/>
                    <a:p>
                      <a:r>
                        <a:rPr sz="1100" b="0">
                          <a:solidFill>
                            <a:srgbClr val="1F2A37"/>
                          </a:solidFill>
                        </a:rPr>
                        <a:t>5개</a:t>
                      </a:r>
                    </a:p>
                  </a:txBody>
                  <a:tcPr>
                    <a:solidFill>
                      <a:srgbClr val="EEF2FB"/>
                    </a:solidFill>
                  </a:tcPr>
                </a:tc>
              </a:tr>
              <a:tr h="333913">
                <a:tc>
                  <a:txBody>
                    <a:bodyPr/>
                    <a:lstStyle/>
                    <a:p>
                      <a:r>
                        <a:rPr sz="1100" b="0">
                          <a:solidFill>
                            <a:srgbClr val="1F2A37"/>
                          </a:solidFill>
                        </a:rPr>
                        <a:t>M1</a:t>
                      </a:r>
                    </a:p>
                  </a:txBody>
                  <a:tcPr>
                    <a:solidFill>
                      <a:srgbClr val="FFFFFF"/>
                    </a:solidFill>
                  </a:tcPr>
                </a:tc>
                <a:tc>
                  <a:txBody>
                    <a:bodyPr/>
                    <a:lstStyle/>
                    <a:p>
                      <a:r>
                        <a:rPr sz="1100" b="0">
                          <a:solidFill>
                            <a:srgbClr val="1F2A37"/>
                          </a:solidFill>
                        </a:rPr>
                        <a:t>설계 시사점 3가지</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p8</a:t>
                      </a:r>
                    </a:p>
                  </a:txBody>
                  <a:tcPr>
                    <a:solidFill>
                      <a:srgbClr val="FFFFFF"/>
                    </a:solidFill>
                  </a:tcPr>
                </a:tc>
                <a:tc>
                  <a:txBody>
                    <a:bodyPr/>
                    <a:lstStyle/>
                    <a:p>
                      <a:r>
                        <a:rPr sz="1100" b="0">
                          <a:solidFill>
                            <a:srgbClr val="1F2A37"/>
                          </a:solidFill>
                        </a:rPr>
                        <a:t>3개</a:t>
                      </a:r>
                    </a:p>
                  </a:txBody>
                  <a:tcPr>
                    <a:solidFill>
                      <a:srgbClr val="FFFFFF"/>
                    </a:solidFill>
                  </a:tcPr>
                </a:tc>
              </a:tr>
              <a:tr h="333913">
                <a:tc>
                  <a:txBody>
                    <a:bodyPr/>
                    <a:lstStyle/>
                    <a:p>
                      <a:r>
                        <a:rPr sz="1100" b="0">
                          <a:solidFill>
                            <a:srgbClr val="1F2A37"/>
                          </a:solidFill>
                        </a:rPr>
                        <a:t>M1</a:t>
                      </a:r>
                    </a:p>
                  </a:txBody>
                  <a:tcPr>
                    <a:solidFill>
                      <a:srgbClr val="EEF2FB"/>
                    </a:solidFill>
                  </a:tcPr>
                </a:tc>
                <a:tc>
                  <a:txBody>
                    <a:bodyPr/>
                    <a:lstStyle/>
                    <a:p>
                      <a:r>
                        <a:rPr sz="1100" b="0">
                          <a:solidFill>
                            <a:srgbClr val="1F2A37"/>
                          </a:solidFill>
                        </a:rPr>
                        <a:t>HMW 5개 · 아이디어 25+ → 압축 3개 → 컨셉 1개</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p9</a:t>
                      </a:r>
                    </a:p>
                  </a:txBody>
                  <a:tcPr>
                    <a:solidFill>
                      <a:srgbClr val="EEF2FB"/>
                    </a:solidFill>
                  </a:tcPr>
                </a:tc>
                <a:tc>
                  <a:txBody>
                    <a:bodyPr/>
                    <a:lstStyle/>
                    <a:p>
                      <a:r>
                        <a:rPr sz="1100" b="0">
                          <a:solidFill>
                            <a:srgbClr val="1F2A37"/>
                          </a:solidFill>
                        </a:rPr>
                        <a:t>HMW 5개 · 아이디어 26개 → 압축 3개 → 컨셉 1개</a:t>
                      </a:r>
                    </a:p>
                  </a:txBody>
                  <a:tcPr>
                    <a:solidFill>
                      <a:srgbClr val="EEF2FB"/>
                    </a:solidFill>
                  </a:tcPr>
                </a:tc>
              </a:tr>
              <a:tr h="333913">
                <a:tc>
                  <a:txBody>
                    <a:bodyPr/>
                    <a:lstStyle/>
                    <a:p>
                      <a:r>
                        <a:rPr sz="1100" b="0">
                          <a:solidFill>
                            <a:srgbClr val="1F2A37"/>
                          </a:solidFill>
                        </a:rPr>
                        <a:t>M1</a:t>
                      </a:r>
                    </a:p>
                  </a:txBody>
                  <a:tcPr>
                    <a:solidFill>
                      <a:srgbClr val="FFFFFF"/>
                    </a:solidFill>
                  </a:tcPr>
                </a:tc>
                <a:tc>
                  <a:txBody>
                    <a:bodyPr/>
                    <a:lstStyle/>
                    <a:p>
                      <a:r>
                        <a:rPr sz="1100" b="0">
                          <a:solidFill>
                            <a:srgbClr val="1F2A37"/>
                          </a:solidFill>
                        </a:rPr>
                        <a:t>Lean Canvas 9블록</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p10</a:t>
                      </a:r>
                    </a:p>
                  </a:txBody>
                  <a:tcPr>
                    <a:solidFill>
                      <a:srgbClr val="FFFFFF"/>
                    </a:solidFill>
                  </a:tcPr>
                </a:tc>
                <a:tc>
                  <a:txBody>
                    <a:bodyPr/>
                    <a:lstStyle/>
                    <a:p>
                      <a:r>
                        <a:rPr sz="1100" b="0">
                          <a:solidFill>
                            <a:srgbClr val="1F2A37"/>
                          </a:solidFill>
                        </a:rPr>
                        <a:t>9블록</a:t>
                      </a:r>
                    </a:p>
                  </a:txBody>
                  <a:tcPr>
                    <a:solidFill>
                      <a:srgbClr val="FFFFFF"/>
                    </a:solidFill>
                  </a:tcPr>
                </a:tc>
              </a:tr>
              <a:tr h="333913">
                <a:tc>
                  <a:txBody>
                    <a:bodyPr/>
                    <a:lstStyle/>
                    <a:p>
                      <a:r>
                        <a:rPr sz="1100" b="0">
                          <a:solidFill>
                            <a:srgbClr val="1F2A37"/>
                          </a:solidFill>
                        </a:rPr>
                        <a:t>M1</a:t>
                      </a:r>
                    </a:p>
                  </a:txBody>
                  <a:tcPr>
                    <a:solidFill>
                      <a:srgbClr val="EEF2FB"/>
                    </a:solidFill>
                  </a:tcPr>
                </a:tc>
                <a:tc>
                  <a:txBody>
                    <a:bodyPr/>
                    <a:lstStyle/>
                    <a:p>
                      <a:r>
                        <a:rPr sz="1100" b="0">
                          <a:solidFill>
                            <a:srgbClr val="1F2A37"/>
                          </a:solidFill>
                        </a:rPr>
                        <a:t>핵심 가설 3개</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p10</a:t>
                      </a:r>
                    </a:p>
                  </a:txBody>
                  <a:tcPr>
                    <a:solidFill>
                      <a:srgbClr val="EEF2FB"/>
                    </a:solidFill>
                  </a:tcPr>
                </a:tc>
                <a:tc>
                  <a:txBody>
                    <a:bodyPr/>
                    <a:lstStyle/>
                    <a:p>
                      <a:r>
                        <a:rPr sz="1100" b="0">
                          <a:solidFill>
                            <a:srgbClr val="1F2A37"/>
                          </a:solidFill>
                        </a:rPr>
                        <a:t>3개</a:t>
                      </a:r>
                    </a:p>
                  </a:txBody>
                  <a:tcPr>
                    <a:solidFill>
                      <a:srgbClr val="EEF2FB"/>
                    </a:solidFill>
                  </a:tcPr>
                </a:tc>
              </a:tr>
              <a:tr h="333913">
                <a:tc>
                  <a:txBody>
                    <a:bodyPr/>
                    <a:lstStyle/>
                    <a:p>
                      <a:r>
                        <a:rPr sz="1100" b="0">
                          <a:solidFill>
                            <a:srgbClr val="1F2A37"/>
                          </a:solidFill>
                        </a:rPr>
                        <a:t>M2</a:t>
                      </a:r>
                    </a:p>
                  </a:txBody>
                  <a:tcPr>
                    <a:solidFill>
                      <a:srgbClr val="FFFFFF"/>
                    </a:solidFill>
                  </a:tcPr>
                </a:tc>
                <a:tc>
                  <a:txBody>
                    <a:bodyPr/>
                    <a:lstStyle/>
                    <a:p>
                      <a:r>
                        <a:rPr sz="1100" b="0">
                          <a:solidFill>
                            <a:srgbClr val="1F2A37"/>
                          </a:solidFill>
                        </a:rPr>
                        <a:t>페르소나 2종 × 필수 5항목</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p12</a:t>
                      </a:r>
                    </a:p>
                  </a:txBody>
                  <a:tcPr>
                    <a:solidFill>
                      <a:srgbClr val="FFFFFF"/>
                    </a:solidFill>
                  </a:tcPr>
                </a:tc>
                <a:tc>
                  <a:txBody>
                    <a:bodyPr/>
                    <a:lstStyle/>
                    <a:p>
                      <a:r>
                        <a:rPr sz="1100" b="0">
                          <a:solidFill>
                            <a:srgbClr val="1F2A37"/>
                          </a:solidFill>
                        </a:rPr>
                        <a:t>2종 · 필수 5항목 충족</a:t>
                      </a:r>
                    </a:p>
                  </a:txBody>
                  <a:tcPr>
                    <a:solidFill>
                      <a:srgbClr val="FFFFFF"/>
                    </a:solidFill>
                  </a:tcPr>
                </a:tc>
              </a:tr>
              <a:tr h="333913">
                <a:tc>
                  <a:txBody>
                    <a:bodyPr/>
                    <a:lstStyle/>
                    <a:p>
                      <a:r>
                        <a:rPr sz="1100" b="0">
                          <a:solidFill>
                            <a:srgbClr val="1F2A37"/>
                          </a:solidFill>
                        </a:rPr>
                        <a:t>M2</a:t>
                      </a:r>
                    </a:p>
                  </a:txBody>
                  <a:tcPr>
                    <a:solidFill>
                      <a:srgbClr val="EEF2FB"/>
                    </a:solidFill>
                  </a:tcPr>
                </a:tc>
                <a:tc>
                  <a:txBody>
                    <a:bodyPr/>
                    <a:lstStyle/>
                    <a:p>
                      <a:r>
                        <a:rPr sz="1100" b="0">
                          <a:solidFill>
                            <a:srgbClr val="1F2A37"/>
                          </a:solidFill>
                        </a:rPr>
                        <a:t>CJM 5단계 × 4항목 + Opportunity</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p12</a:t>
                      </a:r>
                    </a:p>
                  </a:txBody>
                  <a:tcPr>
                    <a:solidFill>
                      <a:srgbClr val="EEF2FB"/>
                    </a:solidFill>
                  </a:tcPr>
                </a:tc>
                <a:tc>
                  <a:txBody>
                    <a:bodyPr/>
                    <a:lstStyle/>
                    <a:p>
                      <a:r>
                        <a:rPr sz="1100" b="0">
                          <a:solidFill>
                            <a:srgbClr val="1F2A37"/>
                          </a:solidFill>
                        </a:rPr>
                        <a:t>5단계 × 4항목</a:t>
                      </a:r>
                    </a:p>
                  </a:txBody>
                  <a:tcPr>
                    <a:solidFill>
                      <a:srgbClr val="EEF2FB"/>
                    </a:solidFill>
                  </a:tcPr>
                </a:tc>
              </a:tr>
              <a:tr h="333913">
                <a:tc>
                  <a:txBody>
                    <a:bodyPr/>
                    <a:lstStyle/>
                    <a:p>
                      <a:r>
                        <a:rPr sz="1100" b="0">
                          <a:solidFill>
                            <a:srgbClr val="1F2A37"/>
                          </a:solidFill>
                        </a:rPr>
                        <a:t>M2</a:t>
                      </a:r>
                    </a:p>
                  </a:txBody>
                  <a:tcPr>
                    <a:solidFill>
                      <a:srgbClr val="FFFFFF"/>
                    </a:solidFill>
                  </a:tcPr>
                </a:tc>
                <a:tc>
                  <a:txBody>
                    <a:bodyPr/>
                    <a:lstStyle/>
                    <a:p>
                      <a:r>
                        <a:rPr sz="1100" b="0">
                          <a:solidFill>
                            <a:srgbClr val="1F2A37"/>
                          </a:solidFill>
                        </a:rPr>
                        <a:t>TAM·SAM·SOM</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p13</a:t>
                      </a:r>
                    </a:p>
                  </a:txBody>
                  <a:tcPr>
                    <a:solidFill>
                      <a:srgbClr val="FFFFFF"/>
                    </a:solidFill>
                  </a:tcPr>
                </a:tc>
                <a:tc>
                  <a:txBody>
                    <a:bodyPr/>
                    <a:lstStyle/>
                    <a:p>
                      <a:r>
                        <a:rPr sz="1100" b="0">
                          <a:solidFill>
                            <a:srgbClr val="1F2A37"/>
                          </a:solidFill>
                        </a:rPr>
                        <a:t>TAM·SAM·SOM</a:t>
                      </a:r>
                    </a:p>
                  </a:txBody>
                  <a:tcPr>
                    <a:solidFill>
                      <a:srgbClr val="FFFFFF"/>
                    </a:solidFill>
                  </a:tcPr>
                </a:tc>
              </a:tr>
              <a:tr h="333913">
                <a:tc>
                  <a:txBody>
                    <a:bodyPr/>
                    <a:lstStyle/>
                    <a:p>
                      <a:r>
                        <a:rPr sz="1100" b="0">
                          <a:solidFill>
                            <a:srgbClr val="1F2A37"/>
                          </a:solidFill>
                        </a:rPr>
                        <a:t>M2</a:t>
                      </a:r>
                    </a:p>
                  </a:txBody>
                  <a:tcPr>
                    <a:solidFill>
                      <a:srgbClr val="EEF2FB"/>
                    </a:solidFill>
                  </a:tcPr>
                </a:tc>
                <a:tc>
                  <a:txBody>
                    <a:bodyPr/>
                    <a:lstStyle/>
                    <a:p>
                      <a:r>
                        <a:rPr sz="1100" b="0">
                          <a:solidFill>
                            <a:srgbClr val="1F2A37"/>
                          </a:solidFill>
                        </a:rPr>
                        <a:t>Top-down · Bottom-up 교차검증</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p13</a:t>
                      </a:r>
                    </a:p>
                  </a:txBody>
                  <a:tcPr>
                    <a:solidFill>
                      <a:srgbClr val="EEF2FB"/>
                    </a:solidFill>
                  </a:tcPr>
                </a:tc>
                <a:tc>
                  <a:txBody>
                    <a:bodyPr/>
                    <a:lstStyle/>
                    <a:p>
                      <a:r>
                        <a:rPr sz="1100" b="0">
                          <a:solidFill>
                            <a:srgbClr val="1F2A37"/>
                          </a:solidFill>
                        </a:rPr>
                        <a:t>Top-down + Bottom-up</a:t>
                      </a:r>
                    </a:p>
                  </a:txBody>
                  <a:tcPr>
                    <a:solidFill>
                      <a:srgbClr val="EEF2FB"/>
                    </a:solidFill>
                  </a:tcPr>
                </a:tc>
              </a:tr>
              <a:tr h="333913">
                <a:tc>
                  <a:txBody>
                    <a:bodyPr/>
                    <a:lstStyle/>
                    <a:p>
                      <a:r>
                        <a:rPr sz="1100" b="0">
                          <a:solidFill>
                            <a:srgbClr val="1F2A37"/>
                          </a:solidFill>
                        </a:rPr>
                        <a:t>M2</a:t>
                      </a:r>
                    </a:p>
                  </a:txBody>
                  <a:tcPr>
                    <a:solidFill>
                      <a:srgbClr val="FFFFFF"/>
                    </a:solidFill>
                  </a:tcPr>
                </a:tc>
                <a:tc>
                  <a:txBody>
                    <a:bodyPr/>
                    <a:lstStyle/>
                    <a:p>
                      <a:r>
                        <a:rPr sz="1100" b="0">
                          <a:solidFill>
                            <a:srgbClr val="1F2A37"/>
                          </a:solidFill>
                        </a:rPr>
                        <a:t>경쟁사 직접3·간접2·잠재1</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p14</a:t>
                      </a:r>
                    </a:p>
                  </a:txBody>
                  <a:tcPr>
                    <a:solidFill>
                      <a:srgbClr val="FFFFFF"/>
                    </a:solidFill>
                  </a:tcPr>
                </a:tc>
                <a:tc>
                  <a:txBody>
                    <a:bodyPr/>
                    <a:lstStyle/>
                    <a:p>
                      <a:r>
                        <a:rPr sz="1100" b="0">
                          <a:solidFill>
                            <a:srgbClr val="1F2A37"/>
                          </a:solidFill>
                        </a:rPr>
                        <a:t>직접3 · 간접2 · 잠재1</a:t>
                      </a:r>
                    </a:p>
                  </a:txBody>
                  <a:tcPr>
                    <a:solidFill>
                      <a:srgbClr val="FFFFFF"/>
                    </a:solidFill>
                  </a:tcPr>
                </a:tc>
              </a:tr>
              <a:tr h="333913">
                <a:tc>
                  <a:txBody>
                    <a:bodyPr/>
                    <a:lstStyle/>
                    <a:p>
                      <a:r>
                        <a:rPr sz="1100" b="0">
                          <a:solidFill>
                            <a:srgbClr val="1F2A37"/>
                          </a:solidFill>
                        </a:rPr>
                        <a:t>M2</a:t>
                      </a:r>
                    </a:p>
                  </a:txBody>
                  <a:tcPr>
                    <a:solidFill>
                      <a:srgbClr val="EEF2FB"/>
                    </a:solidFill>
                  </a:tcPr>
                </a:tc>
                <a:tc>
                  <a:txBody>
                    <a:bodyPr/>
                    <a:lstStyle/>
                    <a:p>
                      <a:r>
                        <a:rPr sz="1100" b="0">
                          <a:solidFill>
                            <a:srgbClr val="1F2A37"/>
                          </a:solidFill>
                        </a:rPr>
                        <a:t>비교 항목 10개 이상 + 경쟁사 비교표</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p14</a:t>
                      </a:r>
                    </a:p>
                  </a:txBody>
                  <a:tcPr>
                    <a:solidFill>
                      <a:srgbClr val="EEF2FB"/>
                    </a:solidFill>
                  </a:tcPr>
                </a:tc>
                <a:tc>
                  <a:txBody>
                    <a:bodyPr/>
                    <a:lstStyle/>
                    <a:p>
                      <a:r>
                        <a:rPr sz="1100" b="0">
                          <a:solidFill>
                            <a:srgbClr val="1F2A37"/>
                          </a:solidFill>
                        </a:rPr>
                        <a:t>기준 10개 · 비교표 6행</a:t>
                      </a:r>
                    </a:p>
                  </a:txBody>
                  <a:tcPr>
                    <a:solidFill>
                      <a:srgbClr val="EEF2FB"/>
                    </a:solidFill>
                  </a:tcPr>
                </a:tc>
              </a:tr>
              <a:tr h="333913">
                <a:tc>
                  <a:txBody>
                    <a:bodyPr/>
                    <a:lstStyle/>
                    <a:p>
                      <a:r>
                        <a:rPr sz="1100" b="0">
                          <a:solidFill>
                            <a:srgbClr val="1F2A37"/>
                          </a:solidFill>
                        </a:rPr>
                        <a:t>M2</a:t>
                      </a:r>
                    </a:p>
                  </a:txBody>
                  <a:tcPr>
                    <a:solidFill>
                      <a:srgbClr val="FFFFFF"/>
                    </a:solidFill>
                  </a:tcPr>
                </a:tc>
                <a:tc>
                  <a:txBody>
                    <a:bodyPr/>
                    <a:lstStyle/>
                    <a:p>
                      <a:r>
                        <a:rPr sz="1100" b="0">
                          <a:solidFill>
                            <a:srgbClr val="1F2A37"/>
                          </a:solidFill>
                        </a:rPr>
                        <a:t>2축 포지셔닝 맵</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p14</a:t>
                      </a:r>
                    </a:p>
                  </a:txBody>
                  <a:tcPr>
                    <a:solidFill>
                      <a:srgbClr val="FFFFFF"/>
                    </a:solidFill>
                  </a:tcPr>
                </a:tc>
                <a:tc>
                  <a:txBody>
                    <a:bodyPr/>
                    <a:lstStyle/>
                    <a:p>
                      <a:r>
                        <a:rPr sz="1100" b="0">
                          <a:solidFill>
                            <a:srgbClr val="1F2A37"/>
                          </a:solidFill>
                        </a:rPr>
                        <a:t>기능성 × 가격</a:t>
                      </a:r>
                    </a:p>
                  </a:txBody>
                  <a:tcPr>
                    <a:solidFill>
                      <a:srgbClr val="FFFFFF"/>
                    </a:solidFill>
                  </a:tcPr>
                </a:tc>
              </a:tr>
              <a:tr h="333913">
                <a:tc>
                  <a:txBody>
                    <a:bodyPr/>
                    <a:lstStyle/>
                    <a:p>
                      <a:r>
                        <a:rPr sz="1100" b="0">
                          <a:solidFill>
                            <a:srgbClr val="1F2A37"/>
                          </a:solidFill>
                        </a:rPr>
                        <a:t>M2</a:t>
                      </a:r>
                    </a:p>
                  </a:txBody>
                  <a:tcPr>
                    <a:solidFill>
                      <a:srgbClr val="EEF2FB"/>
                    </a:solidFill>
                  </a:tcPr>
                </a:tc>
                <a:tc>
                  <a:txBody>
                    <a:bodyPr/>
                    <a:lstStyle/>
                    <a:p>
                      <a:r>
                        <a:rPr sz="1100" b="0">
                          <a:solidFill>
                            <a:srgbClr val="1F2A37"/>
                          </a:solidFill>
                        </a:rPr>
                        <a:t>VPC 6영역 + Fit</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p15</a:t>
                      </a:r>
                    </a:p>
                  </a:txBody>
                  <a:tcPr>
                    <a:solidFill>
                      <a:srgbClr val="EEF2FB"/>
                    </a:solidFill>
                  </a:tcPr>
                </a:tc>
                <a:tc>
                  <a:txBody>
                    <a:bodyPr/>
                    <a:lstStyle/>
                    <a:p>
                      <a:r>
                        <a:rPr sz="1100" b="0">
                          <a:solidFill>
                            <a:srgbClr val="1F2A37"/>
                          </a:solidFill>
                        </a:rPr>
                        <a:t>고객 프로필 3 + 가치 지도 3</a:t>
                      </a:r>
                    </a:p>
                  </a:txBody>
                  <a:tcPr>
                    <a:solidFill>
                      <a:srgbClr val="EEF2FB"/>
                    </a:solidFill>
                  </a:tcPr>
                </a:tc>
              </a:tr>
              <a:tr h="333913">
                <a:tc>
                  <a:txBody>
                    <a:bodyPr/>
                    <a:lstStyle/>
                    <a:p>
                      <a:r>
                        <a:rPr sz="1100" b="0">
                          <a:solidFill>
                            <a:srgbClr val="1F2A37"/>
                          </a:solidFill>
                        </a:rPr>
                        <a:t>M2</a:t>
                      </a:r>
                    </a:p>
                  </a:txBody>
                  <a:tcPr>
                    <a:solidFill>
                      <a:srgbClr val="FFFFFF"/>
                    </a:solidFill>
                  </a:tcPr>
                </a:tc>
                <a:tc>
                  <a:txBody>
                    <a:bodyPr/>
                    <a:lstStyle/>
                    <a:p>
                      <a:r>
                        <a:rPr sz="1100" b="0">
                          <a:solidFill>
                            <a:srgbClr val="1F2A37"/>
                          </a:solidFill>
                        </a:rPr>
                        <a:t>핵심 기능 5~7개</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p15</a:t>
                      </a:r>
                    </a:p>
                  </a:txBody>
                  <a:tcPr>
                    <a:solidFill>
                      <a:srgbClr val="FFFFFF"/>
                    </a:solidFill>
                  </a:tcPr>
                </a:tc>
                <a:tc>
                  <a:txBody>
                    <a:bodyPr/>
                    <a:lstStyle/>
                    <a:p>
                      <a:r>
                        <a:rPr sz="1100" b="0">
                          <a:solidFill>
                            <a:srgbClr val="1F2A37"/>
                          </a:solidFill>
                        </a:rPr>
                        <a:t>5개</a:t>
                      </a:r>
                    </a:p>
                  </a:txBody>
                  <a:tcPr>
                    <a:solidFill>
                      <a:srgbClr val="FFFFFF"/>
                    </a:solidFill>
                  </a:tcPr>
                </a:tc>
              </a:tr>
              <a:tr h="333913">
                <a:tc>
                  <a:txBody>
                    <a:bodyPr/>
                    <a:lstStyle/>
                    <a:p>
                      <a:r>
                        <a:rPr sz="1100" b="0">
                          <a:solidFill>
                            <a:srgbClr val="1F2A37"/>
                          </a:solidFill>
                        </a:rPr>
                        <a:t>M2</a:t>
                      </a:r>
                    </a:p>
                  </a:txBody>
                  <a:tcPr>
                    <a:solidFill>
                      <a:srgbClr val="EEF2FB"/>
                    </a:solidFill>
                  </a:tcPr>
                </a:tc>
                <a:tc>
                  <a:txBody>
                    <a:bodyPr/>
                    <a:lstStyle/>
                    <a:p>
                      <a:r>
                        <a:rPr sz="1100" b="0">
                          <a:solidFill>
                            <a:srgbClr val="1F2A37"/>
                          </a:solidFill>
                        </a:rPr>
                        <a:t>Use Case 3종</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p15</a:t>
                      </a:r>
                    </a:p>
                  </a:txBody>
                  <a:tcPr>
                    <a:solidFill>
                      <a:srgbClr val="EEF2FB"/>
                    </a:solidFill>
                  </a:tcPr>
                </a:tc>
                <a:tc>
                  <a:txBody>
                    <a:bodyPr/>
                    <a:lstStyle/>
                    <a:p>
                      <a:r>
                        <a:rPr sz="1100" b="0">
                          <a:solidFill>
                            <a:srgbClr val="1F2A37"/>
                          </a:solidFill>
                        </a:rPr>
                        <a:t>3종</a:t>
                      </a:r>
                    </a:p>
                  </a:txBody>
                  <a:tcPr>
                    <a:solidFill>
                      <a:srgbClr val="EEF2FB"/>
                    </a:solidFill>
                  </a:tcPr>
                </a:tc>
              </a:tr>
              <a:tr h="333913">
                <a:tc>
                  <a:txBody>
                    <a:bodyPr/>
                    <a:lstStyle/>
                    <a:p>
                      <a:r>
                        <a:rPr sz="1100" b="0">
                          <a:solidFill>
                            <a:srgbClr val="1F2A37"/>
                          </a:solidFill>
                        </a:rPr>
                        <a:t>M3</a:t>
                      </a:r>
                    </a:p>
                  </a:txBody>
                  <a:tcPr>
                    <a:solidFill>
                      <a:srgbClr val="FFFFFF"/>
                    </a:solidFill>
                  </a:tcPr>
                </a:tc>
                <a:tc>
                  <a:txBody>
                    <a:bodyPr/>
                    <a:lstStyle/>
                    <a:p>
                      <a:r>
                        <a:rPr sz="1100" b="0">
                          <a:solidFill>
                            <a:srgbClr val="1F2A37"/>
                          </a:solidFill>
                        </a:rPr>
                        <a:t>MOSCOW 4구분(Won't 명시)</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p17</a:t>
                      </a:r>
                    </a:p>
                  </a:txBody>
                  <a:tcPr>
                    <a:solidFill>
                      <a:srgbClr val="FFFFFF"/>
                    </a:solidFill>
                  </a:tcPr>
                </a:tc>
                <a:tc>
                  <a:txBody>
                    <a:bodyPr/>
                    <a:lstStyle/>
                    <a:p>
                      <a:r>
                        <a:rPr sz="1100" b="0">
                          <a:solidFill>
                            <a:srgbClr val="1F2A37"/>
                          </a:solidFill>
                        </a:rPr>
                        <a:t>Must/Should/Could/Won't</a:t>
                      </a:r>
                    </a:p>
                  </a:txBody>
                  <a:tcPr>
                    <a:solidFill>
                      <a:srgbClr val="FFFFFF"/>
                    </a:solidFill>
                  </a:tcPr>
                </a:tc>
              </a:tr>
              <a:tr h="333913">
                <a:tc>
                  <a:txBody>
                    <a:bodyPr/>
                    <a:lstStyle/>
                    <a:p>
                      <a:r>
                        <a:rPr sz="1100" b="0">
                          <a:solidFill>
                            <a:srgbClr val="1F2A37"/>
                          </a:solidFill>
                        </a:rPr>
                        <a:t>M3</a:t>
                      </a:r>
                    </a:p>
                  </a:txBody>
                  <a:tcPr>
                    <a:solidFill>
                      <a:srgbClr val="EEF2FB"/>
                    </a:solidFill>
                  </a:tcPr>
                </a:tc>
                <a:tc>
                  <a:txBody>
                    <a:bodyPr/>
                    <a:lstStyle/>
                    <a:p>
                      <a:r>
                        <a:rPr sz="1100" b="0">
                          <a:solidFill>
                            <a:srgbClr val="1F2A37"/>
                          </a:solidFill>
                        </a:rPr>
                        <a:t>Kano 3분류</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p17</a:t>
                      </a:r>
                    </a:p>
                  </a:txBody>
                  <a:tcPr>
                    <a:solidFill>
                      <a:srgbClr val="EEF2FB"/>
                    </a:solidFill>
                  </a:tcPr>
                </a:tc>
                <a:tc>
                  <a:txBody>
                    <a:bodyPr/>
                    <a:lstStyle/>
                    <a:p>
                      <a:r>
                        <a:rPr sz="1100" b="0">
                          <a:solidFill>
                            <a:srgbClr val="1F2A37"/>
                          </a:solidFill>
                        </a:rPr>
                        <a:t>3분류</a:t>
                      </a:r>
                    </a:p>
                  </a:txBody>
                  <a:tcPr>
                    <a:solidFill>
                      <a:srgbClr val="EEF2FB"/>
                    </a:solidFill>
                  </a:tcPr>
                </a:tc>
              </a:tr>
              <a:tr h="333913">
                <a:tc>
                  <a:txBody>
                    <a:bodyPr/>
                    <a:lstStyle/>
                    <a:p>
                      <a:r>
                        <a:rPr sz="1100" b="0">
                          <a:solidFill>
                            <a:srgbClr val="1F2A37"/>
                          </a:solidFill>
                        </a:rPr>
                        <a:t>M3</a:t>
                      </a:r>
                    </a:p>
                  </a:txBody>
                  <a:tcPr>
                    <a:solidFill>
                      <a:srgbClr val="FFFFFF"/>
                    </a:solidFill>
                  </a:tcPr>
                </a:tc>
                <a:tc>
                  <a:txBody>
                    <a:bodyPr/>
                    <a:lstStyle/>
                    <a:p>
                      <a:r>
                        <a:rPr sz="1100" b="0">
                          <a:solidFill>
                            <a:srgbClr val="1F2A37"/>
                          </a:solidFill>
                        </a:rPr>
                        <a:t>MVP 범위</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p17</a:t>
                      </a:r>
                    </a:p>
                  </a:txBody>
                  <a:tcPr>
                    <a:solidFill>
                      <a:srgbClr val="FFFFFF"/>
                    </a:solidFill>
                  </a:tcPr>
                </a:tc>
                <a:tc>
                  <a:txBody>
                    <a:bodyPr/>
                    <a:lstStyle/>
                    <a:p>
                      <a:r>
                        <a:rPr sz="1100" b="0">
                          <a:solidFill>
                            <a:srgbClr val="1F2A37"/>
                          </a:solidFill>
                        </a:rPr>
                        <a:t>범위 정의됨</a:t>
                      </a:r>
                    </a:p>
                  </a:txBody>
                  <a:tcPr>
                    <a:solidFill>
                      <a:srgbClr val="FFFFFF"/>
                    </a:solidFill>
                  </a:tcPr>
                </a:tc>
              </a:tr>
              <a:tr h="333913">
                <a:tc>
                  <a:txBody>
                    <a:bodyPr/>
                    <a:lstStyle/>
                    <a:p>
                      <a:r>
                        <a:rPr sz="1100" b="0">
                          <a:solidFill>
                            <a:srgbClr val="1F2A37"/>
                          </a:solidFill>
                        </a:rPr>
                        <a:t>M3</a:t>
                      </a:r>
                    </a:p>
                  </a:txBody>
                  <a:tcPr>
                    <a:solidFill>
                      <a:srgbClr val="EEF2FB"/>
                    </a:solidFill>
                  </a:tcPr>
                </a:tc>
                <a:tc>
                  <a:txBody>
                    <a:bodyPr/>
                    <a:lstStyle/>
                    <a:p>
                      <a:r>
                        <a:rPr sz="1100" b="0">
                          <a:solidFill>
                            <a:srgbClr val="1F2A37"/>
                          </a:solidFill>
                        </a:rPr>
                        <a:t>Epic-Story-AC (Given-When-Then)</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p18</a:t>
                      </a:r>
                    </a:p>
                  </a:txBody>
                  <a:tcPr>
                    <a:solidFill>
                      <a:srgbClr val="EEF2FB"/>
                    </a:solidFill>
                  </a:tcPr>
                </a:tc>
                <a:tc>
                  <a:txBody>
                    <a:bodyPr/>
                    <a:lstStyle/>
                    <a:p>
                      <a:r>
                        <a:rPr sz="1100" b="0">
                          <a:solidFill>
                            <a:srgbClr val="1F2A37"/>
                          </a:solidFill>
                        </a:rPr>
                        <a:t>Epic 2 · Story 2 · AC 전부 Given-When-Then</a:t>
                      </a:r>
                    </a:p>
                  </a:txBody>
                  <a:tcPr>
                    <a:solidFill>
                      <a:srgbClr val="EEF2FB"/>
                    </a:solidFill>
                  </a:tcPr>
                </a:tc>
              </a:tr>
              <a:tr h="333913">
                <a:tc>
                  <a:txBody>
                    <a:bodyPr/>
                    <a:lstStyle/>
                    <a:p>
                      <a:r>
                        <a:rPr sz="1100" b="0">
                          <a:solidFill>
                            <a:srgbClr val="1F2A37"/>
                          </a:solidFill>
                        </a:rPr>
                        <a:t>M3</a:t>
                      </a:r>
                    </a:p>
                  </a:txBody>
                  <a:tcPr>
                    <a:solidFill>
                      <a:srgbClr val="FFFFFF"/>
                    </a:solidFill>
                  </a:tcPr>
                </a:tc>
                <a:tc>
                  <a:txBody>
                    <a:bodyPr/>
                    <a:lstStyle/>
                    <a:p>
                      <a:r>
                        <a:rPr sz="1100" b="0">
                          <a:solidFill>
                            <a:srgbClr val="1F2A37"/>
                          </a:solidFill>
                        </a:rPr>
                        <a:t>마일스톤 · KPI</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p3</a:t>
                      </a:r>
                    </a:p>
                  </a:txBody>
                  <a:tcPr>
                    <a:solidFill>
                      <a:srgbClr val="FFFFFF"/>
                    </a:solidFill>
                  </a:tcPr>
                </a:tc>
                <a:tc>
                  <a:txBody>
                    <a:bodyPr/>
                    <a:lstStyle/>
                    <a:p>
                      <a:r>
                        <a:rPr sz="1100" b="0">
                          <a:solidFill>
                            <a:srgbClr val="1F2A37"/>
                          </a:solidFill>
                        </a:rPr>
                        <a:t>마일스톤 + KPI</a:t>
                      </a:r>
                    </a:p>
                  </a:txBody>
                  <a:tcPr>
                    <a:solidFill>
                      <a:srgbClr val="FFFFFF"/>
                    </a:solidFill>
                  </a:tcPr>
                </a:tc>
              </a:tr>
              <a:tr h="333913">
                <a:tc>
                  <a:txBody>
                    <a:bodyPr/>
                    <a:lstStyle/>
                    <a:p>
                      <a:r>
                        <a:rPr sz="1100" b="0">
                          <a:solidFill>
                            <a:srgbClr val="1F2A37"/>
                          </a:solidFill>
                        </a:rPr>
                        <a:t>M3</a:t>
                      </a:r>
                    </a:p>
                  </a:txBody>
                  <a:tcPr>
                    <a:solidFill>
                      <a:srgbClr val="EEF2FB"/>
                    </a:solidFill>
                  </a:tcPr>
                </a:tc>
                <a:tc>
                  <a:txBody>
                    <a:bodyPr/>
                    <a:lstStyle/>
                    <a:p>
                      <a:r>
                        <a:rPr sz="1100" b="0">
                          <a:solidFill>
                            <a:srgbClr val="1F2A37"/>
                          </a:solidFill>
                        </a:rPr>
                        <a:t>와이어프레임 2~3개 화면</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p5</a:t>
                      </a:r>
                    </a:p>
                  </a:txBody>
                  <a:tcPr>
                    <a:solidFill>
                      <a:srgbClr val="EEF2FB"/>
                    </a:solidFill>
                  </a:tcPr>
                </a:tc>
                <a:tc>
                  <a:txBody>
                    <a:bodyPr/>
                    <a:lstStyle/>
                    <a:p>
                      <a:r>
                        <a:rPr sz="1100" b="0">
                          <a:solidFill>
                            <a:srgbClr val="1F2A37"/>
                          </a:solidFill>
                        </a:rPr>
                        <a:t>3개 화면</a:t>
                      </a:r>
                    </a:p>
                  </a:txBody>
                  <a:tcPr>
                    <a:solidFill>
                      <a:srgbClr val="EEF2FB"/>
                    </a:solidFill>
                  </a:tcPr>
                </a:tc>
              </a:tr>
              <a:tr h="333913">
                <a:tc>
                  <a:txBody>
                    <a:bodyPr/>
                    <a:lstStyle/>
                    <a:p>
                      <a:r>
                        <a:rPr sz="1100" b="0">
                          <a:solidFill>
                            <a:srgbClr val="1F2A37"/>
                          </a:solidFill>
                        </a:rPr>
                        <a:t>공통</a:t>
                      </a:r>
                    </a:p>
                  </a:txBody>
                  <a:tcPr>
                    <a:solidFill>
                      <a:srgbClr val="FFFFFF"/>
                    </a:solidFill>
                  </a:tcPr>
                </a:tc>
                <a:tc>
                  <a:txBody>
                    <a:bodyPr/>
                    <a:lstStyle/>
                    <a:p>
                      <a:r>
                        <a:rPr sz="1100" b="0">
                          <a:solidFill>
                            <a:srgbClr val="1F2A37"/>
                          </a:solidFill>
                        </a:rPr>
                        <a:t>출처 명시 (실행 전체 · 항목별 연결 아님)</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p4</a:t>
                      </a:r>
                    </a:p>
                  </a:txBody>
                  <a:tcPr>
                    <a:solidFill>
                      <a:srgbClr val="FFFFFF"/>
                    </a:solidFill>
                  </a:tcPr>
                </a:tc>
                <a:tc>
                  <a:txBody>
                    <a:bodyPr/>
                    <a:lstStyle/>
                    <a:p>
                      <a:r>
                        <a:rPr sz="1100" b="0">
                          <a:solidFill>
                            <a:srgbClr val="1F2A37"/>
                          </a:solidFill>
                        </a:rPr>
                        <a:t>출처 19건(주장 연결 2건) — 실행 전체의 출처 존재 검사이며 KOSENA 산출물 항목별 근거 연결은 미구현</a:t>
                      </a:r>
                    </a:p>
                  </a:txBody>
                  <a:tcPr>
                    <a:solidFill>
                      <a:srgbClr val="FFFFFF"/>
                    </a:solidFill>
                  </a:tcPr>
                </a:tc>
              </a:tr>
              <a:tr h="333913">
                <a:tc>
                  <a:txBody>
                    <a:bodyPr/>
                    <a:lstStyle/>
                    <a:p>
                      <a:r>
                        <a:rPr sz="1100" b="0">
                          <a:solidFill>
                            <a:srgbClr val="1F2A37"/>
                          </a:solidFill>
                        </a:rPr>
                        <a:t>공통</a:t>
                      </a:r>
                    </a:p>
                  </a:txBody>
                  <a:tcPr>
                    <a:solidFill>
                      <a:srgbClr val="EEF2FB"/>
                    </a:solidFill>
                  </a:tcPr>
                </a:tc>
                <a:tc>
                  <a:txBody>
                    <a:bodyPr/>
                    <a:lstStyle/>
                    <a:p>
                      <a:r>
                        <a:rPr sz="1100" b="0">
                          <a:solidFill>
                            <a:srgbClr val="1F2A37"/>
                          </a:solidFill>
                        </a:rPr>
                        <a:t>AI 활용 로그(프롬프트·응답·채택 여부)</a:t>
                      </a:r>
                    </a:p>
                  </a:txBody>
                  <a:tcPr>
                    <a:solidFill>
                      <a:srgbClr val="EEF2FB"/>
                    </a:solidFill>
                  </a:tcPr>
                </a:tc>
                <a:tc>
                  <a:txBody>
                    <a:bodyPr/>
                    <a:lstStyle/>
                    <a:p>
                      <a:r>
                        <a:rPr sz="1100" b="0">
                          <a:solidFill>
                            <a:srgbClr val="1F2A37"/>
                          </a:solidFill>
                        </a:rPr>
                        <a:t>충족</a:t>
                      </a:r>
                    </a:p>
                  </a:txBody>
                  <a:tcPr>
                    <a:solidFill>
                      <a:srgbClr val="EEF2FB"/>
                    </a:solidFill>
                  </a:tcPr>
                </a:tc>
                <a:tc>
                  <a:txBody>
                    <a:bodyPr/>
                    <a:lstStyle/>
                    <a:p>
                      <a:r>
                        <a:rPr sz="1100" b="0">
                          <a:solidFill>
                            <a:srgbClr val="1F2A37"/>
                          </a:solidFill>
                        </a:rPr>
                        <a:t>p4</a:t>
                      </a:r>
                    </a:p>
                  </a:txBody>
                  <a:tcPr>
                    <a:solidFill>
                      <a:srgbClr val="EEF2FB"/>
                    </a:solidFill>
                  </a:tcPr>
                </a:tc>
                <a:tc>
                  <a:txBody>
                    <a:bodyPr/>
                    <a:lstStyle/>
                    <a:p>
                      <a:r>
                        <a:rPr sz="1100" b="0">
                          <a:solidFill>
                            <a:srgbClr val="1F2A37"/>
                          </a:solidFill>
                        </a:rPr>
                        <a:t>18건 · 전부 프롬프트·입력·산출·검증·채택 기록</a:t>
                      </a:r>
                    </a:p>
                  </a:txBody>
                  <a:tcPr>
                    <a:solidFill>
                      <a:srgbClr val="EEF2FB"/>
                    </a:solidFill>
                  </a:tcPr>
                </a:tc>
              </a:tr>
              <a:tr h="333913">
                <a:tc>
                  <a:txBody>
                    <a:bodyPr/>
                    <a:lstStyle/>
                    <a:p>
                      <a:r>
                        <a:rPr sz="1100" b="0">
                          <a:solidFill>
                            <a:srgbClr val="1F2A37"/>
                          </a:solidFill>
                        </a:rPr>
                        <a:t>공통</a:t>
                      </a:r>
                    </a:p>
                  </a:txBody>
                  <a:tcPr>
                    <a:solidFill>
                      <a:srgbClr val="FFFFFF"/>
                    </a:solidFill>
                  </a:tcPr>
                </a:tc>
                <a:tc>
                  <a:txBody>
                    <a:bodyPr/>
                    <a:lstStyle/>
                    <a:p>
                      <a:r>
                        <a:rPr sz="1100" b="0">
                          <a:solidFill>
                            <a:srgbClr val="1F2A37"/>
                          </a:solidFill>
                        </a:rPr>
                        <a:t>정량 주장의 가설·추정 표기</a:t>
                      </a:r>
                    </a:p>
                  </a:txBody>
                  <a:tcPr>
                    <a:solidFill>
                      <a:srgbClr val="FFFFFF"/>
                    </a:solidFill>
                  </a:tcPr>
                </a:tc>
                <a:tc>
                  <a:txBody>
                    <a:bodyPr/>
                    <a:lstStyle/>
                    <a:p>
                      <a:r>
                        <a:rPr sz="1100" b="0">
                          <a:solidFill>
                            <a:srgbClr val="1F2A37"/>
                          </a:solidFill>
                        </a:rPr>
                        <a:t>충족</a:t>
                      </a:r>
                    </a:p>
                  </a:txBody>
                  <a:tcPr>
                    <a:solidFill>
                      <a:srgbClr val="FFFFFF"/>
                    </a:solidFill>
                  </a:tcPr>
                </a:tc>
                <a:tc>
                  <a:txBody>
                    <a:bodyPr/>
                    <a:lstStyle/>
                    <a:p>
                      <a:r>
                        <a:rPr sz="1100" b="0">
                          <a:solidFill>
                            <a:srgbClr val="1F2A37"/>
                          </a:solidFill>
                        </a:rPr>
                        <a:t>p4</a:t>
                      </a:r>
                    </a:p>
                  </a:txBody>
                  <a:tcPr>
                    <a:solidFill>
                      <a:srgbClr val="FFFFFF"/>
                    </a:solidFill>
                  </a:tcPr>
                </a:tc>
                <a:tc>
                  <a:txBody>
                    <a:bodyPr/>
                    <a:lstStyle/>
                    <a:p>
                      <a:r>
                        <a:rPr sz="1100" b="0">
                          <a:solidFill>
                            <a:srgbClr val="1F2A37"/>
                          </a:solidFill>
                        </a:rPr>
                        <a:t>가설·추정 표기 있음</a:t>
                      </a:r>
                    </a:p>
                  </a:txBody>
                  <a:tcPr>
                    <a:solidFill>
                      <a:srgbClr val="FFFFFF"/>
                    </a:solidFill>
                  </a:tcPr>
                </a:tc>
              </a:tr>
              <a:tr h="333932">
                <a:tc>
                  <a:txBody>
                    <a:bodyPr/>
                    <a:lstStyle/>
                    <a:p>
                      <a:r>
                        <a:rPr sz="1100" b="0">
                          <a:solidFill>
                            <a:srgbClr val="1F2A37"/>
                          </a:solidFill>
                        </a:rPr>
                        <a:t>공통</a:t>
                      </a:r>
                    </a:p>
                  </a:txBody>
                  <a:tcPr>
                    <a:solidFill>
                      <a:srgbClr val="EEF2FB"/>
                    </a:solidFill>
                  </a:tcPr>
                </a:tc>
                <a:tc>
                  <a:txBody>
                    <a:bodyPr/>
                    <a:lstStyle/>
                    <a:p>
                      <a:r>
                        <a:rPr sz="1100" b="0">
                          <a:solidFill>
                            <a:srgbClr val="1F2A37"/>
                          </a:solidFill>
                        </a:rPr>
                        <a:t>본문 A4 30~50쪽</a:t>
                      </a:r>
                    </a:p>
                  </a:txBody>
                  <a:tcPr>
                    <a:solidFill>
                      <a:srgbClr val="EEF2FB"/>
                    </a:solidFill>
                  </a:tcPr>
                </a:tc>
                <a:tc>
                  <a:txBody>
                    <a:bodyPr/>
                    <a:lstStyle/>
                    <a:p>
                      <a:r>
                        <a:rPr sz="1100" b="0">
                          <a:solidFill>
                            <a:srgbClr val="1F2A37"/>
                          </a:solidFill>
                        </a:rPr>
                        <a:t>부분</a:t>
                      </a:r>
                    </a:p>
                  </a:txBody>
                  <a:tcPr>
                    <a:solidFill>
                      <a:srgbClr val="EEF2FB"/>
                    </a:solidFill>
                  </a:tcPr>
                </a:tc>
                <a:tc>
                  <a:txBody>
                    <a:bodyPr/>
                    <a:lstStyle/>
                    <a:p>
                      <a:r>
                        <a:rPr sz="1100" b="0">
                          <a:solidFill>
                            <a:srgbClr val="1F2A37"/>
                          </a:solidFill>
                        </a:rPr>
                        <a:t>p4</a:t>
                      </a:r>
                    </a:p>
                  </a:txBody>
                  <a:tcPr>
                    <a:solidFill>
                      <a:srgbClr val="EEF2FB"/>
                    </a:solidFill>
                  </a:tcPr>
                </a:tc>
                <a:tc>
                  <a:txBody>
                    <a:bodyPr/>
                    <a:lstStyle/>
                    <a:p>
                      <a:r>
                        <a:rPr sz="1100" b="0">
                          <a:solidFill>
                            <a:srgbClr val="1F2A37"/>
                          </a:solidFill>
                        </a:rPr>
                        <a:t>약 13.0쪽(추정) — 30~50쪽 필요</a:t>
                      </a:r>
                    </a:p>
                  </a:txBody>
                  <a:tcPr>
                    <a:solidFill>
                      <a:srgbClr val="EEF2FB"/>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600" b="1">
                <a:solidFill>
                  <a:srgbClr val="1F2A37"/>
                </a:solidFill>
              </a:rPr>
              <a:t>검증 범위 및 한계</a:t>
            </a:r>
          </a:p>
        </p:txBody>
      </p:sp>
      <p:sp>
        <p:nvSpPr>
          <p:cNvPr id="3" name="TextBox 2"/>
          <p:cNvSpPr txBox="1"/>
          <p:nvPr/>
        </p:nvSpPr>
        <p:spPr>
          <a:xfrm>
            <a:off x="640080" y="1417320"/>
            <a:ext cx="10908792" cy="978408"/>
          </a:xfrm>
          <a:prstGeom prst="rect">
            <a:avLst/>
          </a:prstGeom>
          <a:noFill/>
        </p:spPr>
        <p:txBody>
          <a:bodyPr wrap="square" anchor="t">
            <a:spAutoFit/>
          </a:bodyPr>
          <a:lstStyle/>
          <a:p>
            <a:pPr>
              <a:spcAft>
                <a:spcPts val="400"/>
              </a:spcAft>
            </a:pPr>
            <a:r>
              <a:rPr sz="1500" b="0">
                <a:solidFill>
                  <a:srgbClr val="1F2A37"/>
                </a:solidFill>
              </a:rPr>
              <a:t>본 기획서는 근거 추적성(참고 출처 표시)은 보장하지만, 출처 URL의 원문 사실성은 재검증하지 않았습니다. 검증 판정은 수집된 검색 요약 근거와의 일치 여부이며, 수치·통계 등 정량 정보는 원문에서 직접 확인하시기 바랍니다.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
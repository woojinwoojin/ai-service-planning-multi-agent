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기반 대학생 진로 설계 서비스 기획서</a:t>
            </a:r>
          </a:p>
        </p:txBody>
      </p:sp>
      <p:sp>
        <p:nvSpPr>
          <p:cNvPr id="3" name="Subtitle 2"/>
          <p:cNvSpPr>
            <a:spLocks noGrp="1"/>
          </p:cNvSpPr>
          <p:nvPr>
            <p:ph type="subTitle" idx="1"/>
          </p:nvPr>
        </p:nvSpPr>
        <p:spPr/>
        <p:txBody>
          <a:bodyPr/>
          <a:lstStyle/>
          <a:p>
            <a:r>
              <a:t>AI 서비스 기획 보조 Multi-Agent · 자동 생성 기획서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프로젝트 개요</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AI 기반 대학생 진로 설계 서비스는 대학생이 자신의 전공, 관심사, 역량을 입력하면 맞춤형 진로 경로와 필요한 학습 및 경험을 설계해주는 혁신적인 AI 서비스입니다. 이 서비스는 특히 진로를 구체화하지 못한 대학교 2~3학년 학생들에게 유용합니다.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추진 배경</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대학생들은 진로에 대한 불확실성을 느끼고 있으며, 진로 정보가 흩어져 있어 어떤 경로를 선택해야 할지 판단하기 어려운 상황입니다. AI 기술의 발전과 함께 개인화된 진로 상담 서비스의 수요가 증가하고 있으며, 이러한 필요를 충족하기 위해 본 서비스의 개발이 필요합니다.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문제 정의</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대학생들은 진로 정보가 흩어져 있어 자신에게 맞는 경로와 준비 순서를 판단하기 어렵습니다. 또한, 전공과 관심사에 맞는 적절한 학습 및 경험을 설계할 수 있는 도구가 부족하며, AI를 통한 맞춤형 진로 상담이 부재하여 명확한 경로를 제시받지 못하고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목표 사용자</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서비스의 주요 목표 사용자는 진로를 구체화하지 못한 대학교 2~3학년 학생들입니다. 이들은 진로에 대한 불확실성을 느끼며, 자신에게 맞는 경로를 찾고자 하는 욕구가 강합니다.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시장 및 산업 분석</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AI 기반 진로 설계 서비스 시장은 빠르게 성장하고 있으며, 대학생들이 진로를 구체화하는 데 도움을 주는 혁신적인 솔루션으로 자리잡고 있습니다. AI 기술을 활용한 맞춤형 진로 상담 서비스의 수요가 증가하고 있으며, 데이터 기반의 진로 설계 및 역량 진단 서비스가 발전하고 있습니다.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PESTEL 분석</a:t>
            </a:r>
          </a:p>
        </p:txBody>
      </p:sp>
      <p:graphicFrame>
        <p:nvGraphicFramePr>
          <p:cNvPr id="3" name="Table 2"/>
          <p:cNvGraphicFramePr>
            <a:graphicFrameLocks noGrp="1"/>
          </p:cNvGraphicFramePr>
          <p:nvPr/>
        </p:nvGraphicFramePr>
        <p:xfrm>
          <a:off x="640080" y="1417320"/>
          <a:ext cx="10908792" cy="2441448"/>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48778">
                <a:tc>
                  <a:txBody>
                    <a:bodyPr/>
                    <a:lstStyle/>
                    <a:p>
                      <a:pPr algn="ctr"/>
                      <a:r>
                        <a:rPr sz="1100" b="1">
                          <a:solidFill>
                            <a:srgbClr val="FFFFFF"/>
                          </a:solidFill>
                        </a:rPr>
                        <a:t>요인</a:t>
                      </a:r>
                    </a:p>
                  </a:txBody>
                  <a:tcPr>
                    <a:solidFill>
                      <a:srgbClr val="2B59C3"/>
                    </a:solidFill>
                  </a:tcPr>
                </a:tc>
                <a:tc>
                  <a:txBody>
                    <a:bodyPr/>
                    <a:lstStyle/>
                    <a:p>
                      <a:pPr algn="ctr"/>
                      <a:r>
                        <a:rPr sz="1100" b="1">
                          <a:solidFill>
                            <a:srgbClr val="FFFFFF"/>
                          </a:solidFill>
                        </a:rPr>
                        <a:t>주요 내용</a:t>
                      </a:r>
                    </a:p>
                  </a:txBody>
                  <a:tcPr>
                    <a:solidFill>
                      <a:srgbClr val="2B59C3"/>
                    </a:solidFill>
                  </a:tcPr>
                </a:tc>
                <a:tc>
                  <a:txBody>
                    <a:bodyPr/>
                    <a:lstStyle/>
                    <a:p>
                      <a:pPr algn="ctr"/>
                      <a:r>
                        <a:rPr sz="1100" b="1">
                          <a:solidFill>
                            <a:srgbClr val="FFFFFF"/>
                          </a:solidFill>
                        </a:rPr>
                        <a:t>기회</a:t>
                      </a:r>
                    </a:p>
                  </a:txBody>
                  <a:tcPr>
                    <a:solidFill>
                      <a:srgbClr val="2B59C3"/>
                    </a:solidFill>
                  </a:tcPr>
                </a:tc>
                <a:tc>
                  <a:txBody>
                    <a:bodyPr/>
                    <a:lstStyle/>
                    <a:p>
                      <a:pPr algn="ctr"/>
                      <a:r>
                        <a:rPr sz="1100" b="1">
                          <a:solidFill>
                            <a:srgbClr val="FFFFFF"/>
                          </a:solidFill>
                        </a:rPr>
                        <a:t>위협</a:t>
                      </a:r>
                    </a:p>
                  </a:txBody>
                  <a:tcPr>
                    <a:solidFill>
                      <a:srgbClr val="2B59C3"/>
                    </a:solidFill>
                  </a:tcPr>
                </a:tc>
                <a:tc>
                  <a:txBody>
                    <a:bodyPr/>
                    <a:lstStyle/>
                    <a:p>
                      <a:pPr algn="ctr"/>
                      <a:r>
                        <a:rPr sz="1100" b="1">
                          <a:solidFill>
                            <a:srgbClr val="FFFFFF"/>
                          </a:solidFill>
                        </a:rPr>
                        <a:t>대응</a:t>
                      </a:r>
                    </a:p>
                  </a:txBody>
                  <a:tcPr>
                    <a:solidFill>
                      <a:srgbClr val="2B59C3"/>
                    </a:solidFill>
                  </a:tcPr>
                </a:tc>
              </a:tr>
              <a:tr h="348778">
                <a:tc>
                  <a:txBody>
                    <a:bodyPr/>
                    <a:lstStyle/>
                    <a:p>
                      <a:r>
                        <a:rPr sz="1100" b="0">
                          <a:solidFill>
                            <a:srgbClr val="1F2A37"/>
                          </a:solidFill>
                        </a:rPr>
                        <a:t>Political</a:t>
                      </a:r>
                    </a:p>
                  </a:txBody>
                  <a:tcPr>
                    <a:solidFill>
                      <a:srgbClr val="FFFFFF"/>
                    </a:solidFill>
                  </a:tcPr>
                </a:tc>
                <a:tc>
                  <a:txBody>
                    <a:bodyPr/>
                    <a:lstStyle/>
                    <a:p>
                      <a:r>
                        <a:rPr sz="1100" b="0">
                          <a:solidFill>
                            <a:srgbClr val="1F2A37"/>
                          </a:solidFill>
                        </a:rPr>
                        <a:t>정부의 청년 일자리 정책과 관련이 깊음</a:t>
                      </a:r>
                    </a:p>
                  </a:txBody>
                  <a:tcPr>
                    <a:solidFill>
                      <a:srgbClr val="FFFFFF"/>
                    </a:solidFill>
                  </a:tcPr>
                </a:tc>
                <a:tc>
                  <a:txBody>
                    <a:bodyPr/>
                    <a:lstStyle/>
                    <a:p>
                      <a:r>
                        <a:rPr sz="1100" b="0">
                          <a:solidFill>
                            <a:srgbClr val="1F2A37"/>
                          </a:solidFill>
                        </a:rPr>
                        <a:t>정부 지원 정책과 협력하여 신뢰성 및 사용자 기반 확장</a:t>
                      </a:r>
                    </a:p>
                  </a:txBody>
                  <a:tcPr>
                    <a:solidFill>
                      <a:srgbClr val="FFFFFF"/>
                    </a:solidFill>
                  </a:tcPr>
                </a:tc>
                <a:tc>
                  <a:txBody>
                    <a:bodyPr/>
                    <a:lstStyle/>
                    <a:p>
                      <a:r>
                        <a:rPr sz="1100" b="0">
                          <a:solidFill>
                            <a:srgbClr val="1F2A37"/>
                          </a:solidFill>
                        </a:rPr>
                        <a:t>정치적 불안정이나 정책 변화가 서비스 운영에 영향</a:t>
                      </a:r>
                    </a:p>
                  </a:txBody>
                  <a:tcPr>
                    <a:solidFill>
                      <a:srgbClr val="FFFFFF"/>
                    </a:solidFill>
                  </a:tcPr>
                </a:tc>
                <a:tc>
                  <a:txBody>
                    <a:bodyPr/>
                    <a:lstStyle/>
                    <a:p>
                      <a:r>
                        <a:rPr sz="1100" b="0">
                          <a:solidFill>
                            <a:srgbClr val="1F2A37"/>
                          </a:solidFill>
                        </a:rPr>
                        <a:t>정책 변화에 민감하게 반응하고 정부와 협력</a:t>
                      </a:r>
                    </a:p>
                  </a:txBody>
                  <a:tcPr>
                    <a:solidFill>
                      <a:srgbClr val="FFFFFF"/>
                    </a:solidFill>
                  </a:tcPr>
                </a:tc>
              </a:tr>
              <a:tr h="348778">
                <a:tc>
                  <a:txBody>
                    <a:bodyPr/>
                    <a:lstStyle/>
                    <a:p>
                      <a:r>
                        <a:rPr sz="1100" b="0">
                          <a:solidFill>
                            <a:srgbClr val="1F2A37"/>
                          </a:solidFill>
                        </a:rPr>
                        <a:t>Economic</a:t>
                      </a:r>
                    </a:p>
                  </a:txBody>
                  <a:tcPr>
                    <a:solidFill>
                      <a:srgbClr val="EEF2FB"/>
                    </a:solidFill>
                  </a:tcPr>
                </a:tc>
                <a:tc>
                  <a:txBody>
                    <a:bodyPr/>
                    <a:lstStyle/>
                    <a:p>
                      <a:r>
                        <a:rPr sz="1100" b="0">
                          <a:solidFill>
                            <a:srgbClr val="1F2A37"/>
                          </a:solidFill>
                        </a:rPr>
                        <a:t>시장은 2026년부터 2035년까지 연평균 성장률 8.2% 예상</a:t>
                      </a:r>
                    </a:p>
                  </a:txBody>
                  <a:tcPr>
                    <a:solidFill>
                      <a:srgbClr val="EEF2FB"/>
                    </a:solidFill>
                  </a:tcPr>
                </a:tc>
                <a:tc>
                  <a:txBody>
                    <a:bodyPr/>
                    <a:lstStyle/>
                    <a:p>
                      <a:r>
                        <a:rPr sz="1100" b="0">
                          <a:solidFill>
                            <a:srgbClr val="1F2A37"/>
                          </a:solidFill>
                        </a:rPr>
                        <a:t>경제 성장에 따라 대학생들의 지출 증가 가능성</a:t>
                      </a:r>
                    </a:p>
                  </a:txBody>
                  <a:tcPr>
                    <a:solidFill>
                      <a:srgbClr val="EEF2FB"/>
                    </a:solidFill>
                  </a:tcPr>
                </a:tc>
                <a:tc>
                  <a:txBody>
                    <a:bodyPr/>
                    <a:lstStyle/>
                    <a:p>
                      <a:r>
                        <a:rPr sz="1100" b="0">
                          <a:solidFill>
                            <a:srgbClr val="1F2A37"/>
                          </a:solidFill>
                        </a:rPr>
                        <a:t>경제 불황이나 실업률 증가가 소비 여력 감소</a:t>
                      </a:r>
                    </a:p>
                  </a:txBody>
                  <a:tcPr>
                    <a:solidFill>
                      <a:srgbClr val="EEF2FB"/>
                    </a:solidFill>
                  </a:tcPr>
                </a:tc>
                <a:tc>
                  <a:txBody>
                    <a:bodyPr/>
                    <a:lstStyle/>
                    <a:p>
                      <a:r>
                        <a:rPr sz="1100" b="0">
                          <a:solidFill>
                            <a:srgbClr val="1F2A37"/>
                          </a:solidFill>
                        </a:rPr>
                        <a:t>가격 정책을 유연하게 조정하고 다양한 가격대 제공</a:t>
                      </a:r>
                    </a:p>
                  </a:txBody>
                  <a:tcPr>
                    <a:solidFill>
                      <a:srgbClr val="EEF2FB"/>
                    </a:solidFill>
                  </a:tcPr>
                </a:tc>
              </a:tr>
              <a:tr h="348778">
                <a:tc>
                  <a:txBody>
                    <a:bodyPr/>
                    <a:lstStyle/>
                    <a:p>
                      <a:r>
                        <a:rPr sz="1100" b="0">
                          <a:solidFill>
                            <a:srgbClr val="1F2A37"/>
                          </a:solidFill>
                        </a:rPr>
                        <a:t>Social</a:t>
                      </a:r>
                    </a:p>
                  </a:txBody>
                  <a:tcPr>
                    <a:solidFill>
                      <a:srgbClr val="FFFFFF"/>
                    </a:solidFill>
                  </a:tcPr>
                </a:tc>
                <a:tc>
                  <a:txBody>
                    <a:bodyPr/>
                    <a:lstStyle/>
                    <a:p>
                      <a:r>
                        <a:rPr sz="1100" b="0">
                          <a:solidFill>
                            <a:srgbClr val="1F2A37"/>
                          </a:solidFill>
                        </a:rPr>
                        <a:t>대학생들의 진로에 대한 불확실성 증가</a:t>
                      </a:r>
                    </a:p>
                  </a:txBody>
                  <a:tcPr>
                    <a:solidFill>
                      <a:srgbClr val="FFFFFF"/>
                    </a:solidFill>
                  </a:tcPr>
                </a:tc>
                <a:tc>
                  <a:txBody>
                    <a:bodyPr/>
                    <a:lstStyle/>
                    <a:p>
                      <a:r>
                        <a:rPr sz="1100" b="0">
                          <a:solidFill>
                            <a:srgbClr val="1F2A37"/>
                          </a:solidFill>
                        </a:rPr>
                        <a:t>맞춤형 서비스 제공을 통해 고객층 확대</a:t>
                      </a:r>
                    </a:p>
                  </a:txBody>
                  <a:tcPr>
                    <a:solidFill>
                      <a:srgbClr val="FFFFFF"/>
                    </a:solidFill>
                  </a:tcPr>
                </a:tc>
                <a:tc>
                  <a:txBody>
                    <a:bodyPr/>
                    <a:lstStyle/>
                    <a:p>
                      <a:r>
                        <a:rPr sz="1100" b="0">
                          <a:solidFill>
                            <a:srgbClr val="1F2A37"/>
                          </a:solidFill>
                        </a:rPr>
                        <a:t>사회적 기대에 부응하지 못할 경우 사용자 이탈</a:t>
                      </a:r>
                    </a:p>
                  </a:txBody>
                  <a:tcPr>
                    <a:solidFill>
                      <a:srgbClr val="FFFFFF"/>
                    </a:solidFill>
                  </a:tcPr>
                </a:tc>
                <a:tc>
                  <a:txBody>
                    <a:bodyPr/>
                    <a:lstStyle/>
                    <a:p>
                      <a:r>
                        <a:rPr sz="1100" b="0">
                          <a:solidFill>
                            <a:srgbClr val="1F2A37"/>
                          </a:solidFill>
                        </a:rPr>
                        <a:t>고객 피드백을 반영하여 서비스 품질 개선</a:t>
                      </a:r>
                    </a:p>
                  </a:txBody>
                  <a:tcPr>
                    <a:solidFill>
                      <a:srgbClr val="FFFFFF"/>
                    </a:solidFill>
                  </a:tcPr>
                </a:tc>
              </a:tr>
              <a:tr h="348778">
                <a:tc>
                  <a:txBody>
                    <a:bodyPr/>
                    <a:lstStyle/>
                    <a:p>
                      <a:r>
                        <a:rPr sz="1100" b="0">
                          <a:solidFill>
                            <a:srgbClr val="1F2A37"/>
                          </a:solidFill>
                        </a:rPr>
                        <a:t>Technological</a:t>
                      </a:r>
                    </a:p>
                  </a:txBody>
                  <a:tcPr>
                    <a:solidFill>
                      <a:srgbClr val="EEF2FB"/>
                    </a:solidFill>
                  </a:tcPr>
                </a:tc>
                <a:tc>
                  <a:txBody>
                    <a:bodyPr/>
                    <a:lstStyle/>
                    <a:p>
                      <a:r>
                        <a:rPr sz="1100" b="0">
                          <a:solidFill>
                            <a:srgbClr val="1F2A37"/>
                          </a:solidFill>
                        </a:rPr>
                        <a:t>AI 기술 발전으로 서비스 품질 향상</a:t>
                      </a:r>
                    </a:p>
                  </a:txBody>
                  <a:tcPr>
                    <a:solidFill>
                      <a:srgbClr val="EEF2FB"/>
                    </a:solidFill>
                  </a:tcPr>
                </a:tc>
                <a:tc>
                  <a:txBody>
                    <a:bodyPr/>
                    <a:lstStyle/>
                    <a:p>
                      <a:r>
                        <a:rPr sz="1100" b="0">
                          <a:solidFill>
                            <a:srgbClr val="1F2A37"/>
                          </a:solidFill>
                        </a:rPr>
                        <a:t>더욱 정교하고 개인화된 서비스 제공 가능</a:t>
                      </a:r>
                    </a:p>
                  </a:txBody>
                  <a:tcPr>
                    <a:solidFill>
                      <a:srgbClr val="EEF2FB"/>
                    </a:solidFill>
                  </a:tcPr>
                </a:tc>
                <a:tc>
                  <a:txBody>
                    <a:bodyPr/>
                    <a:lstStyle/>
                    <a:p>
                      <a:r>
                        <a:rPr sz="1100" b="0">
                          <a:solidFill>
                            <a:srgbClr val="1F2A37"/>
                          </a:solidFill>
                        </a:rPr>
                        <a:t>AI 기술 신뢰성 및 정확성 우려</a:t>
                      </a:r>
                    </a:p>
                  </a:txBody>
                  <a:tcPr>
                    <a:solidFill>
                      <a:srgbClr val="EEF2FB"/>
                    </a:solidFill>
                  </a:tcPr>
                </a:tc>
                <a:tc>
                  <a:txBody>
                    <a:bodyPr/>
                    <a:lstStyle/>
                    <a:p>
                      <a:r>
                        <a:rPr sz="1100" b="0">
                          <a:solidFill>
                            <a:srgbClr val="1F2A37"/>
                          </a:solidFill>
                        </a:rPr>
                        <a:t>지속적인 기술 개발과 사용자 교육을 통해 신뢰 구축</a:t>
                      </a:r>
                    </a:p>
                  </a:txBody>
                  <a:tcPr>
                    <a:solidFill>
                      <a:srgbClr val="EEF2FB"/>
                    </a:solidFill>
                  </a:tcPr>
                </a:tc>
              </a:tr>
              <a:tr h="348778">
                <a:tc>
                  <a:txBody>
                    <a:bodyPr/>
                    <a:lstStyle/>
                    <a:p>
                      <a:r>
                        <a:rPr sz="1100" b="0">
                          <a:solidFill>
                            <a:srgbClr val="1F2A37"/>
                          </a:solidFill>
                        </a:rPr>
                        <a:t>Environmental</a:t>
                      </a:r>
                    </a:p>
                  </a:txBody>
                  <a:tcPr>
                    <a:solidFill>
                      <a:srgbClr val="FFFFFF"/>
                    </a:solidFill>
                  </a:tcPr>
                </a:tc>
                <a:tc>
                  <a:txBody>
                    <a:bodyPr/>
                    <a:lstStyle/>
                    <a:p>
                      <a:r>
                        <a:rPr sz="1100" b="0">
                          <a:solidFill>
                            <a:srgbClr val="1F2A37"/>
                          </a:solidFill>
                        </a:rPr>
                        <a:t>일부 지역에서 연결 문제로 접근성 제한</a:t>
                      </a:r>
                    </a:p>
                  </a:txBody>
                  <a:tcPr>
                    <a:solidFill>
                      <a:srgbClr val="FFFFFF"/>
                    </a:solidFill>
                  </a:tcPr>
                </a:tc>
                <a:tc>
                  <a:txBody>
                    <a:bodyPr/>
                    <a:lstStyle/>
                    <a:p>
                      <a:r>
                        <a:rPr sz="1100" b="0">
                          <a:solidFill>
                            <a:srgbClr val="1F2A37"/>
                          </a:solidFill>
                        </a:rPr>
                        <a:t>디지털 인프라 부족 지역을 대상으로 한 서비스 개발</a:t>
                      </a:r>
                    </a:p>
                  </a:txBody>
                  <a:tcPr>
                    <a:solidFill>
                      <a:srgbClr val="FFFFFF"/>
                    </a:solidFill>
                  </a:tcPr>
                </a:tc>
                <a:tc>
                  <a:txBody>
                    <a:bodyPr/>
                    <a:lstStyle/>
                    <a:p>
                      <a:r>
                        <a:rPr sz="1100" b="0">
                          <a:solidFill>
                            <a:srgbClr val="1F2A37"/>
                          </a:solidFill>
                        </a:rPr>
                        <a:t>농촌 지역 사용자 채택 어려움</a:t>
                      </a:r>
                    </a:p>
                  </a:txBody>
                  <a:tcPr>
                    <a:solidFill>
                      <a:srgbClr val="FFFFFF"/>
                    </a:solidFill>
                  </a:tcPr>
                </a:tc>
                <a:tc>
                  <a:txBody>
                    <a:bodyPr/>
                    <a:lstStyle/>
                    <a:p>
                      <a:r>
                        <a:rPr sz="1100" b="0">
                          <a:solidFill>
                            <a:srgbClr val="1F2A37"/>
                          </a:solidFill>
                        </a:rPr>
                        <a:t>오프라인 서비스나 대안적 접근 방식 고려</a:t>
                      </a:r>
                    </a:p>
                  </a:txBody>
                  <a:tcPr>
                    <a:solidFill>
                      <a:srgbClr val="FFFFFF"/>
                    </a:solidFill>
                  </a:tcPr>
                </a:tc>
              </a:tr>
              <a:tr h="348780">
                <a:tc>
                  <a:txBody>
                    <a:bodyPr/>
                    <a:lstStyle/>
                    <a:p>
                      <a:r>
                        <a:rPr sz="1100" b="0">
                          <a:solidFill>
                            <a:srgbClr val="1F2A37"/>
                          </a:solidFill>
                        </a:rPr>
                        <a:t>Legal</a:t>
                      </a:r>
                    </a:p>
                  </a:txBody>
                  <a:tcPr>
                    <a:solidFill>
                      <a:srgbClr val="EEF2FB"/>
                    </a:solidFill>
                  </a:tcPr>
                </a:tc>
                <a:tc>
                  <a:txBody>
                    <a:bodyPr/>
                    <a:lstStyle/>
                    <a:p>
                      <a:r>
                        <a:rPr sz="1100" b="0">
                          <a:solidFill>
                            <a:srgbClr val="1F2A37"/>
                          </a:solidFill>
                        </a:rPr>
                        <a:t>개인정보 보호 및 데이터 사용 관련 법률 준수 필요</a:t>
                      </a:r>
                    </a:p>
                  </a:txBody>
                  <a:tcPr>
                    <a:solidFill>
                      <a:srgbClr val="EEF2FB"/>
                    </a:solidFill>
                  </a:tcPr>
                </a:tc>
                <a:tc>
                  <a:txBody>
                    <a:bodyPr/>
                    <a:lstStyle/>
                    <a:p>
                      <a:r>
                        <a:rPr sz="1100" b="0">
                          <a:solidFill>
                            <a:srgbClr val="1F2A37"/>
                          </a:solidFill>
                        </a:rPr>
                        <a:t>법률 준수로 사용자 신뢰 구축</a:t>
                      </a:r>
                    </a:p>
                  </a:txBody>
                  <a:tcPr>
                    <a:solidFill>
                      <a:srgbClr val="EEF2FB"/>
                    </a:solidFill>
                  </a:tcPr>
                </a:tc>
                <a:tc>
                  <a:txBody>
                    <a:bodyPr/>
                    <a:lstStyle/>
                    <a:p>
                      <a:r>
                        <a:rPr sz="1100" b="0">
                          <a:solidFill>
                            <a:srgbClr val="1F2A37"/>
                          </a:solidFill>
                        </a:rPr>
                        <a:t>법적 규제가 강화될 경우 추가 비용 발생</a:t>
                      </a:r>
                    </a:p>
                  </a:txBody>
                  <a:tcPr>
                    <a:solidFill>
                      <a:srgbClr val="EEF2FB"/>
                    </a:solidFill>
                  </a:tcPr>
                </a:tc>
                <a:tc>
                  <a:txBody>
                    <a:bodyPr/>
                    <a:lstStyle/>
                    <a:p>
                      <a:r>
                        <a:rPr sz="1100" b="0">
                          <a:solidFill>
                            <a:srgbClr val="1F2A37"/>
                          </a:solidFill>
                        </a:rPr>
                        <a:t>법률 자문을 통해 규제 변화에 신속 대응</a:t>
                      </a:r>
                    </a:p>
                  </a:txBody>
                  <a:tcPr>
                    <a:solidFill>
                      <a:srgbClr val="EEF2F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SWOT 분석</a:t>
            </a:r>
          </a:p>
        </p:txBody>
      </p:sp>
      <p:sp>
        <p:nvSpPr>
          <p:cNvPr id="3" name="TextBox 2"/>
          <p:cNvSpPr txBox="1"/>
          <p:nvPr/>
        </p:nvSpPr>
        <p:spPr>
          <a:xfrm>
            <a:off x="640080" y="1417320"/>
            <a:ext cx="10908792" cy="2596896"/>
          </a:xfrm>
          <a:prstGeom prst="rect">
            <a:avLst/>
          </a:prstGeom>
          <a:noFill/>
        </p:spPr>
        <p:txBody>
          <a:bodyPr wrap="square" anchor="t">
            <a:spAutoFit/>
          </a:bodyPr>
          <a:lstStyle/>
          <a:p>
            <a:pPr>
              <a:spcAft>
                <a:spcPts val="400"/>
              </a:spcAft>
            </a:pPr>
            <a:r>
              <a:rPr sz="1500">
                <a:solidFill>
                  <a:srgbClr val="2B59C3"/>
                </a:solidFill>
              </a:rPr>
              <a:t>• </a:t>
            </a:r>
            <a:r>
              <a:rPr sz="1500" b="1">
                <a:solidFill>
                  <a:srgbClr val="1F2A37"/>
                </a:solidFill>
              </a:rPr>
              <a:t>강점</a:t>
            </a:r>
            <a:r>
              <a:rPr sz="1500" b="0">
                <a:solidFill>
                  <a:srgbClr val="1F2A37"/>
                </a:solidFill>
              </a:rPr>
              <a:t>: AI 기반의 개인 맞춤형 진로 상담 서비스, 대학생 진로 정보 부족 문제 해결, 빠르게 성장하는 시장에서의 기회</a:t>
            </a:r>
          </a:p>
          <a:p>
            <a:pPr>
              <a:spcAft>
                <a:spcPts val="400"/>
              </a:spcAft>
            </a:pPr>
            <a:r>
              <a:rPr sz="1500">
                <a:solidFill>
                  <a:srgbClr val="2B59C3"/>
                </a:solidFill>
              </a:rPr>
              <a:t>• </a:t>
            </a:r>
            <a:r>
              <a:rPr sz="1500" b="1">
                <a:solidFill>
                  <a:srgbClr val="1F2A37"/>
                </a:solidFill>
              </a:rPr>
              <a:t>약점</a:t>
            </a:r>
            <a:r>
              <a:rPr sz="1500" b="0">
                <a:solidFill>
                  <a:srgbClr val="1F2A37"/>
                </a:solidFill>
              </a:rPr>
              <a:t>: AI 기술의 신뢰성 및 정확성에 대한 우려, 사용자 맞춤형 서비스의 한계로 인한 이탈 가능성, 경쟁 서비스와의 차별화 필요</a:t>
            </a:r>
          </a:p>
          <a:p>
            <a:pPr>
              <a:spcAft>
                <a:spcPts val="400"/>
              </a:spcAft>
            </a:pPr>
            <a:r>
              <a:rPr sz="1500">
                <a:solidFill>
                  <a:srgbClr val="2B59C3"/>
                </a:solidFill>
              </a:rPr>
              <a:t>• </a:t>
            </a:r>
            <a:r>
              <a:rPr sz="1500" b="1">
                <a:solidFill>
                  <a:srgbClr val="1F2A37"/>
                </a:solidFill>
              </a:rPr>
              <a:t>기회</a:t>
            </a:r>
            <a:r>
              <a:rPr sz="1500" b="0">
                <a:solidFill>
                  <a:srgbClr val="1F2A37"/>
                </a:solidFill>
              </a:rPr>
              <a:t>: AI 기술 발전으로 서비스 품질 향상, 대학생들의 진로 설계 관심 증가, 대학 및 기관과의 협력을 통한 시장 확장</a:t>
            </a:r>
          </a:p>
          <a:p>
            <a:pPr>
              <a:spcAft>
                <a:spcPts val="400"/>
              </a:spcAft>
            </a:pPr>
            <a:r>
              <a:rPr sz="1500">
                <a:solidFill>
                  <a:srgbClr val="2B59C3"/>
                </a:solidFill>
              </a:rPr>
              <a:t>• </a:t>
            </a:r>
            <a:r>
              <a:rPr sz="1500" b="1">
                <a:solidFill>
                  <a:srgbClr val="1F2A37"/>
                </a:solidFill>
              </a:rPr>
              <a:t>위협</a:t>
            </a:r>
            <a:r>
              <a:rPr sz="1500" b="0">
                <a:solidFill>
                  <a:srgbClr val="1F2A37"/>
                </a:solidFill>
              </a:rPr>
              <a:t>: 경쟁 서비스의 증가로 인한 시장 포화, 농촌 지역의 연결 문제로 인한 접근성 제한, 개인의 요구를 충족하지 못할 경우 사용자 이탈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제안 서비스</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본 서비스는 대학생들이 자신의 전공과 관심사에 맞는 진로 경로를 설계하고 필요한 학습 및 경험을 계획할 수 있도록 돕는 AI 기반의 진로 설계 플랫폼입니다. 사용자는 AI를 통해 개인 맞춤형 진로 상담을 받고, 경로 선택에 대한 자신감을 얻을 수 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핵심 기능</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서비스는 사용자가 입력한 전공, 관심사, 역량을 기반으로 맞춤형 진로 경로를 제시하며, 필요한 학습 및 경험을 설계하는 기능을 포함합니다. 또한, 전문 상담사와의 1:1 온라인 상담 서비스도 연계하여 제공할 예정입니다.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차별성</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경쟁사와의 차별화된 점은 AI 기술을 활용한 초개인화된 진로 설계 기능을 제공하며, 다양한 데이터 소스를 통합하여 보다 정확한 진로 정보를 제공합니다. 또한, 전문 상담사와의 상담 서비스를 통해 사용자 맞춤형 솔루션을 제공합니다.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수익 모델</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서비스는 기본 서비스는 무료로 제공하되, 프리미엄 기능(심층 분석, 개인 맞춤형 상담 등)을 월 구독료로 제공하거나 일회성 과금 모델을 통해 수익을 창출할 수 있습니다. 추가적으로 제휴 프로그램과 광고 수익도 고려하고 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기대효과</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서비스는 대학생들이 진로에 대한 불확실성을 해소하고 명확한 목표를 설정하는 데 기여할 것입니다. 또한, AI 기반의 개인 맞춤형 진로 상담을 통해 사용자 만족도를 높이고, 지속 가능한 서비스로 자리잡을 것으로 기대됩니다.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추진 계획</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서비스 개발은 단계별로 진행되며, 초기 단계에서는 프로토타입을 개발하고 사용자 피드백을 반영하여 개선할 계획입니다. 이후 마케팅 전략을 통해 사용자 기반을 확장하고, 지속적인 서비스 개선을 통해 시장에서의 경쟁력을 강화할 것입니다.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위험요인 및 대응방안</a:t>
            </a:r>
          </a:p>
        </p:txBody>
      </p:sp>
      <p:sp>
        <p:nvSpPr>
          <p:cNvPr id="3" name="TextBox 2"/>
          <p:cNvSpPr txBox="1"/>
          <p:nvPr/>
        </p:nvSpPr>
        <p:spPr>
          <a:xfrm>
            <a:off x="640080" y="1417320"/>
            <a:ext cx="10908792" cy="3246120"/>
          </a:xfrm>
          <a:prstGeom prst="rect">
            <a:avLst/>
          </a:prstGeom>
          <a:noFill/>
        </p:spPr>
        <p:txBody>
          <a:bodyPr wrap="square" anchor="t">
            <a:spAutoFit/>
          </a:bodyPr>
          <a:lstStyle/>
          <a:p>
            <a:pPr>
              <a:spcAft>
                <a:spcPts val="400"/>
              </a:spcAft>
            </a:pPr>
            <a:r>
              <a:rPr sz="1500">
                <a:solidFill>
                  <a:srgbClr val="2B59C3"/>
                </a:solidFill>
              </a:rPr>
              <a:t>• </a:t>
            </a:r>
            <a:r>
              <a:rPr sz="1500" b="1">
                <a:solidFill>
                  <a:srgbClr val="1F2A37"/>
                </a:solidFill>
              </a:rPr>
              <a:t>기술</a:t>
            </a:r>
            <a:r>
              <a:rPr sz="1500" b="0">
                <a:solidFill>
                  <a:srgbClr val="1F2A37"/>
                </a:solidFill>
              </a:rPr>
              <a:t>: AI 기술의 신뢰성 및 정확성에 대한 우려 (중, 중) → 지속적인 기술 개발과 사용자 교육을 통해 신뢰 구축</a:t>
            </a:r>
          </a:p>
          <a:p>
            <a:pPr>
              <a:spcAft>
                <a:spcPts val="400"/>
              </a:spcAft>
            </a:pPr>
            <a:r>
              <a:rPr sz="1500">
                <a:solidFill>
                  <a:srgbClr val="2B59C3"/>
                </a:solidFill>
              </a:rPr>
              <a:t>• </a:t>
            </a:r>
            <a:r>
              <a:rPr sz="1500" b="1">
                <a:solidFill>
                  <a:srgbClr val="1F2A37"/>
                </a:solidFill>
              </a:rPr>
              <a:t>시장</a:t>
            </a:r>
            <a:r>
              <a:rPr sz="1500" b="0">
                <a:solidFill>
                  <a:srgbClr val="1F2A37"/>
                </a:solidFill>
              </a:rPr>
              <a:t>: 개인의 요구와 기대를 충족하지 못할 경우 사용자 이탈 가능성 (중, 중) → 고객 피드백을 반영하여 서비스 품질 개선</a:t>
            </a:r>
          </a:p>
          <a:p>
            <a:pPr>
              <a:spcAft>
                <a:spcPts val="400"/>
              </a:spcAft>
            </a:pPr>
            <a:r>
              <a:rPr sz="1500">
                <a:solidFill>
                  <a:srgbClr val="2B59C3"/>
                </a:solidFill>
              </a:rPr>
              <a:t>• </a:t>
            </a:r>
            <a:r>
              <a:rPr sz="1500" b="1">
                <a:solidFill>
                  <a:srgbClr val="1F2A37"/>
                </a:solidFill>
              </a:rPr>
              <a:t>시장</a:t>
            </a:r>
            <a:r>
              <a:rPr sz="1500" b="0">
                <a:solidFill>
                  <a:srgbClr val="1F2A37"/>
                </a:solidFill>
              </a:rPr>
              <a:t>: 경쟁 서비스의 증가로 인한 시장 포화 (중, 중) → 차별화된 서비스 제공 및 마케팅 전략 강화</a:t>
            </a:r>
          </a:p>
          <a:p>
            <a:pPr>
              <a:spcAft>
                <a:spcPts val="400"/>
              </a:spcAft>
            </a:pPr>
            <a:r>
              <a:rPr sz="1500">
                <a:solidFill>
                  <a:srgbClr val="2B59C3"/>
                </a:solidFill>
              </a:rPr>
              <a:t>• </a:t>
            </a:r>
            <a:r>
              <a:rPr sz="1500" b="1">
                <a:solidFill>
                  <a:srgbClr val="1F2A37"/>
                </a:solidFill>
              </a:rPr>
              <a:t>법규</a:t>
            </a:r>
            <a:r>
              <a:rPr sz="1500" b="0">
                <a:solidFill>
                  <a:srgbClr val="1F2A37"/>
                </a:solidFill>
              </a:rPr>
              <a:t>: 개인정보 보호 및 데이터 사용 관련 법률 준수 필요 (중, 중) → 법률 자문을 통해 규제 변화에 신속 대응</a:t>
            </a:r>
          </a:p>
          <a:p>
            <a:pPr>
              <a:spcAft>
                <a:spcPts val="400"/>
              </a:spcAft>
            </a:pPr>
            <a:r>
              <a:rPr sz="1500">
                <a:solidFill>
                  <a:srgbClr val="2B59C3"/>
                </a:solidFill>
              </a:rPr>
              <a:t>• </a:t>
            </a:r>
            <a:r>
              <a:rPr sz="1500" b="1">
                <a:solidFill>
                  <a:srgbClr val="1F2A37"/>
                </a:solidFill>
              </a:rPr>
              <a:t>운영</a:t>
            </a:r>
            <a:r>
              <a:rPr sz="1500" b="0">
                <a:solidFill>
                  <a:srgbClr val="1F2A37"/>
                </a:solidFill>
              </a:rPr>
              <a:t>: 농촌 지역 사용자 채택 어려움 (중, 중) → 접근성 문제 해결을 위해 오프라인 서비스나 대안적 접근 방식 고려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참고자료</a:t>
            </a:r>
          </a:p>
        </p:txBody>
      </p:sp>
      <p:sp>
        <p:nvSpPr>
          <p:cNvPr id="3" name="TextBox 2"/>
          <p:cNvSpPr txBox="1"/>
          <p:nvPr/>
        </p:nvSpPr>
        <p:spPr>
          <a:xfrm>
            <a:off x="640080" y="1417320"/>
            <a:ext cx="10908792" cy="4343400"/>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Career Compass - AI 기반 진로 나침반 | 맞춤형 진로 상담 — https://career.restyart.com</a:t>
            </a:r>
          </a:p>
          <a:p>
            <a:pPr>
              <a:spcAft>
                <a:spcPts val="400"/>
              </a:spcAft>
            </a:pPr>
            <a:r>
              <a:rPr sz="1500">
                <a:solidFill>
                  <a:srgbClr val="2B59C3"/>
                </a:solidFill>
              </a:rPr>
              <a:t>• </a:t>
            </a:r>
            <a:r>
              <a:rPr sz="1500" b="0">
                <a:solidFill>
                  <a:srgbClr val="1F2A37"/>
                </a:solidFill>
              </a:rPr>
              <a:t>인공지능 기반 진로/진학 서비스 프로토타입 개발 연구 — http://journal.dcs.or.kr/xml/40124/40124.pdf</a:t>
            </a:r>
          </a:p>
          <a:p>
            <a:pPr>
              <a:spcAft>
                <a:spcPts val="400"/>
              </a:spcAft>
            </a:pPr>
            <a:r>
              <a:rPr sz="1500">
                <a:solidFill>
                  <a:srgbClr val="2B59C3"/>
                </a:solidFill>
              </a:rPr>
              <a:t>• </a:t>
            </a:r>
            <a:r>
              <a:rPr sz="1500" b="0">
                <a:solidFill>
                  <a:srgbClr val="1F2A37"/>
                </a:solidFill>
              </a:rPr>
              <a:t>AI기반 맞춤형 전공·진로 탐색 서비스 「Young熊+」 새롭게 선보여 &lt; DKU ISSUE &lt; CAMPUS NEWS &lt; 기사본문 - DKU WEBZINE — https://webzine.dankook.ac.kr/news/articleView.html?idxno=465</a:t>
            </a:r>
          </a:p>
          <a:p>
            <a:pPr>
              <a:spcAft>
                <a:spcPts val="400"/>
              </a:spcAft>
            </a:pPr>
            <a:r>
              <a:rPr sz="1500">
                <a:solidFill>
                  <a:srgbClr val="2B59C3"/>
                </a:solidFill>
              </a:rPr>
              <a:t>• </a:t>
            </a:r>
            <a:r>
              <a:rPr sz="1500" b="0">
                <a:solidFill>
                  <a:srgbClr val="1F2A37"/>
                </a:solidFill>
              </a:rPr>
              <a:t>대학생을 위한 AI 융합 진로교육 프로그램 개발 및 적용 — https://www.kci.go.kr/kciportal/ci/sereArticleSearch/ciSereArtiView.kci?sereArticleSearchBean.artiId=ART003215903</a:t>
            </a:r>
          </a:p>
          <a:p>
            <a:pPr>
              <a:spcAft>
                <a:spcPts val="400"/>
              </a:spcAft>
            </a:pPr>
            <a:r>
              <a:rPr sz="1500">
                <a:solidFill>
                  <a:srgbClr val="2B59C3"/>
                </a:solidFill>
              </a:rPr>
              <a:t>• </a:t>
            </a:r>
            <a:r>
              <a:rPr sz="1500" b="0">
                <a:solidFill>
                  <a:srgbClr val="1F2A37"/>
                </a:solidFill>
              </a:rPr>
              <a:t>머 리 말 — https://www.krivet.re.kr/repository/bitstream/202405/6905/2/A22322_fulltext.pdf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참고자료 (계속)</a:t>
            </a:r>
          </a:p>
        </p:txBody>
      </p:sp>
      <p:sp>
        <p:nvSpPr>
          <p:cNvPr id="3" name="TextBox 2"/>
          <p:cNvSpPr txBox="1"/>
          <p:nvPr/>
        </p:nvSpPr>
        <p:spPr>
          <a:xfrm>
            <a:off x="640080" y="1417320"/>
            <a:ext cx="10908792" cy="3044952"/>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진로지도 플랫폼 시장 규모, 점유율 | 연구 [2035] — https://www.businessresearchinsights.com/ko/market-reports/career-guidance-platform-market-118217</a:t>
            </a:r>
          </a:p>
          <a:p>
            <a:pPr>
              <a:spcAft>
                <a:spcPts val="400"/>
              </a:spcAft>
            </a:pPr>
            <a:r>
              <a:rPr sz="1500">
                <a:solidFill>
                  <a:srgbClr val="2B59C3"/>
                </a:solidFill>
              </a:rPr>
              <a:t>• </a:t>
            </a:r>
            <a:r>
              <a:rPr sz="1500" b="0">
                <a:solidFill>
                  <a:srgbClr val="1F2A37"/>
                </a:solidFill>
              </a:rPr>
              <a:t>대학생 진로설계 및 취업 지원을 위한 미래진로 빅데이터 정보 시스템 설계 — https://www.kci.go.kr/kciportal/ci/sereArticleSearch/ciSereArtiView.kci?sereArticleSearchBean.artiId=ART002243258</a:t>
            </a:r>
          </a:p>
          <a:p>
            <a:pPr>
              <a:spcAft>
                <a:spcPts val="400"/>
              </a:spcAft>
            </a:pPr>
            <a:r>
              <a:rPr sz="1500">
                <a:solidFill>
                  <a:srgbClr val="2B59C3"/>
                </a:solidFill>
              </a:rPr>
              <a:t>• </a:t>
            </a:r>
            <a:r>
              <a:rPr sz="1500" b="0">
                <a:solidFill>
                  <a:srgbClr val="1F2A37"/>
                </a:solidFill>
              </a:rPr>
              <a:t>대학생의 진로역량 개발을 위한 교육 요구도 분석 — http://audio.dn.naver.com/audio/ncr/1378_1/20120808145539092_PE087AXGH.pdf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검증 범위 및 한계</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기획서는 근거 추적성(참고 출처 표시)은 보장하지만, 출처 URL의 원문 사실성은 재검증하지 않았습니다. 검증 판정은 수집된 검색 요약 근거와의 일치 여부이며, 수치·통계 등 정량 정보는 원문에서 직접 확인하시기 바랍니다.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
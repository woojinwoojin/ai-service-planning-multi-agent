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고령자 복약 관리·보호자 알림 서비스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서비스 기획 보조 Multi-Agent · 자동 생성 기획서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문제 정의 · 목표 사용자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</a:rPr>
              <a:t>문제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</a:rPr>
              <a:t>복용 시간·중복 투약을 관리하기 어렵고 보호자가 원격으로 확인할 방법이 없다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2A37"/>
                </a:solidFill>
              </a:rPr>
              <a:t>목표 사용자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</a:rPr>
              <a:t>만성질환으로 다제약을 복용하는 65세 이상 고령자와 그 보호자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거시환경 — Critical Uncertainties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Political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Technological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Economic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산업 구조 — Porter's Five Forces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Force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강도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rivalry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new_entrants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중간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substitutes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buyer_power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중간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supplier_power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핵심 성공요인 (KSF)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AI 및 IoT 기술 활용 능력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사용자 친화적인 인터페이스 설계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고령자 및 보호자 맞춤형 서비스 제공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데이터 보안 및 기술적 안정성 확보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효율적인 마케팅 및 고객 지원 전략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설계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정치적 및 기술적 변화에 대한 지속적인 모니터링 필요.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고령자와 보호자의 신뢰를 구축하기 위한 교육 및 정보 제공 프로그램 개발.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차별화된 서비스 제공을 통해 경쟁력을 강화해야 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서비스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</a:rPr>
              <a:t>AI 기반 복약 알림 시스템은 고령자의 복약 관리 문제를 직접적으로 해결할 수 있는 핵심 기능으로, 기술적 구현이 가능하고 시장 수요가 높아 선택되었다. 이 시스템은 고령자의 복약 시간을 정확히 알림으로써 복약 순응도를 높이고, 보호자에게 실시간으로 상태를 전달하여 건강 관리에 기여할 수 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Lean Canvas 핵심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복용 시간·중복 투약 관리의 어려움, 보호자의 원격 확인 부족, 복약 관리에 대한 불안감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만성질환으로 다제약을 복용하는 65세 이상 고령자와 그 보호자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UVP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 기반 복약 알림 시스템으로 고령자의 복약 관리와 보호자의 모니터링을 지원합니다.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 기반 복약 알림, 보호자 대시보드, 사용자 맞춤형 알림 설정 기능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구독 서비스, 프리미엄 기능 추가 요금, 제휴 마케팅, 데이터 분석 서비스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페르소나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김영희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이상철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고객 여정 (CJM)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Pain Point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어떤 서비스가 적합한지 판단하기 어려움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고려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기능과 가격 비교가 복잡함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결제 과정이 복잡할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기술적 문제 발생 시 불안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재사용/이탈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서비스에 대한 신뢰도 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시장 규모 (추정)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TAM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10조원 (고령자 복약 관리 시장 전체 규모 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SAM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2조원 (만성질환 고령자 시장 규모 추정)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SOM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200억원 (1~3년차 점유 가능 시장 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Top-down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10조원 × 2% = 200억원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Bottom-up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100만명 × 20000원 × 10회 = 200억원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경쟁사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770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34632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가격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약점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AI마음돌봄 (직접)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비용 효율적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복약 관리 기능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효돌 (직접)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정서적 지원 제공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비용이 비쌀 수 있음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스마트 복약알림기 (직접)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실시간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기술적 장벽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기타 돌봄 서비스 (간접)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다양한 서비스 제공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복약 관리 전문성 부족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일반 복약 관리 앱 (간접)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접근성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고령자 친화적이지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 복약알림기 (잠재)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자사 (자사)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통합 솔루션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미확인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경쟁 포지셔닝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2770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4632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AI마음돌봄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효돌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6.0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7.0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스마트 복약알림기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기타 돌봄 서비스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일반 복약 관리 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AI 복약알림기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4632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자사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가치 제안 (VPC Fit)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</a:rPr>
              <a:t>고령자의 복약 관리와 보호자의 모니터링을 지원하여 복약 누락과 중복 투약 문제를 해결함.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복약 알림 기능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보호자 대시보드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중복 투약 방지 기능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사용자 맞춤형 알림 설정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복약 이력 기록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고객 지원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MVP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</a:rPr>
              <a:t>MVP는 복약 알림 기능과 보호자 대시보드, 중복 투약 방지 기능을 포함하며, 사용자 맞춤형 알림 설정 기능을 추가하여 사용자 경험을 향상시킵니다.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우선순위 (MOSCOW)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112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Must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복약 알림 기능, 보호자 대시보드, 중복 투약 방지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Won't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소셜 미디어 통합 기능, 다국어 지원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개발 로드맵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145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634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마일스톤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6347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프로토타입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2024년 1분기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기본 기능이 포함된 프로토타입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347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베타 테스트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2024년 2분기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사용자 피드백 수집 및 개선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634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정식 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2024년 3분기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서비스 정식 출시 및 마케팅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08792" cy="145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634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rgbClr val="2B59C3"/>
                    </a:solidFill>
                  </a:tcPr>
                </a:tc>
              </a:tr>
              <a:tr h="36347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구독자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1,000명 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347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고객 유지율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80% (가정)</a:t>
                      </a:r>
                    </a:p>
                  </a:txBody>
                  <a:tcPr>
                    <a:solidFill>
                      <a:srgbClr val="EEF2FB"/>
                    </a:solidFill>
                  </a:tcPr>
                </a:tc>
              </a:tr>
              <a:tr h="3634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사용자 참여도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37"/>
                          </a:solidFill>
                        </a:rPr>
                        <a:t>주 3회 이상 사용 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2A37"/>
                </a:solidFill>
              </a:rPr>
              <a:t>한계와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정량 주장은 웹 리서치 기반 </a:t>
            </a:r>
            <a:r>
              <a:rPr sz="1500" b="1">
                <a:solidFill>
                  <a:srgbClr val="1F2A37"/>
                </a:solidFill>
              </a:rPr>
              <a:t>가설·추정</a:t>
            </a:r>
            <a:r>
              <a:rPr sz="1500" b="0">
                <a:solidFill>
                  <a:srgbClr val="1F2A37"/>
                </a:solidFill>
              </a:rPr>
              <a:t>이며 인터뷰·설문으로 검증되지 않았습니다.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KOSENA 자체 판정: KOSENA 준수 27/28 충족 · 부분 1 · 미충족 0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B59C3"/>
                </a:solidFill>
              </a:rPr>
              <a:t>• </a:t>
            </a:r>
            <a:r>
              <a:rPr sz="1500" b="0">
                <a:solidFill>
                  <a:srgbClr val="1F2A37"/>
                </a:solidFill>
              </a:rPr>
              <a:t>다음 단계: 페르소나 인터뷰, 시장 규모 1차 자료 확인, MVP 사용성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